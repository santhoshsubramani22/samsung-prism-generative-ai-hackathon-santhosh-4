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gbwS5A+wDrz3LjRNQm/DWuoKuR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6A7297-AFFE-4123-929A-EA93B868DDA5}">
  <a:tblStyle styleId="{686A7297-AFFE-4123-929A-EA93B868DDA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346F8DB-2967-4E04-9A6A-E7796BA0A4F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63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5990440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Opening slide for the 3rd edition of the PRISM Generative AI Hackathon. Replace the SAMSUNG PRISM pill with the official PRISM logo image if you have the asset. Confirm the academic year label (2026-27) before circulating.</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2821755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6173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hc3857839a27095_0_1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hc3857839a27095_0_1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1907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hc3857839a27095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hc3857839a27095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448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0512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5856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hc3857839a27095_0_1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hc3857839a27095_0_1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8895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3090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h3ec38cbf6a3e40f2_0_1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h3ec38cbf6a3e40f2_0_1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70292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h3ec38cbf6a3e40f2_0_1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h3ec38cbf6a3e40f2_0_1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9888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hc3857839a27095_0_9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hc3857839a27095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3000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7114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6780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h3ec38cbf6a3e40f2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h3ec38cbf6a3e40f2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749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h3ec38cbf6a3e40f2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h3ec38cbf6a3e40f2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769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h3ec38cbf6a3e40f2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h3ec38cbf6a3e40f2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41974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73438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h3ec38cbf6a3e40f2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h3ec38cbf6a3e40f2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2380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h3ec38cbf6a3e40f2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h3ec38cbf6a3e40f2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0374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1869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h3ec38cbf6a3e40f2_0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h3ec38cbf6a3e40f2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2757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7665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85151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h3ec38cbf6a3e40f2_0_1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h3ec38cbf6a3e40f2_0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50094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h3ec38cbf6a3e40f2_0_1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h3ec38cbf6a3e40f2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39056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h3ec38cbf6a3e40f2_0_1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h3ec38cbf6a3e40f2_0_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41111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h3ec38cbf6a3e40f2_0_1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h3ec38cbf6a3e40f2_0_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91109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h3ec38cbf6a3e40f2_0_1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h3ec38cbf6a3e40f2_0_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42190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h3ec38cbf6a3e40f2_0_1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h3ec38cbf6a3e40f2_0_1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08531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h3ec38cbf6a3e40f2_0_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h3ec38cbf6a3e40f2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74397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296" name="Google Shape;29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4261369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anthoshsubramani22/Samsung-Prism-Generative-AI-Hackathon-Santhosh-4"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rive.google.com/file/d/1wRqeWR_73OF0UlTsOlgp88pMK-UJ6dD7/view?usp=drivesdk"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s://github.com/Santhoshsubramani22/Samsung-Prism-Generative-AI-Hackathon-Santhosh-4"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a:solidFill>
                  <a:srgbClr val="14142B"/>
                </a:solidFill>
                <a:latin typeface="Arial"/>
                <a:ea typeface="Arial"/>
                <a:cs typeface="Arial"/>
                <a:sym typeface="Arial"/>
              </a:rPr>
              <a:t>3rd Edition</a:t>
            </a:r>
            <a:r>
              <a:rPr lang="en-US" sz="2000" b="0" i="0" u="none" strike="noStrike" cap="none">
                <a:solidFill>
                  <a:srgbClr val="63637E"/>
                </a:solidFill>
                <a:latin typeface="Calibri"/>
                <a:ea typeface="Calibri"/>
                <a:cs typeface="Calibri"/>
                <a:sym typeface="Calibri"/>
              </a:rPr>
              <a:t>   2026 – 27</a:t>
            </a:r>
            <a:endParaRPr sz="25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63637E"/>
              </a:buClr>
              <a:buSzPts val="1600"/>
              <a:buFont typeface="Calibri"/>
              <a:buChar char="•"/>
            </a:pPr>
            <a:r>
              <a:rPr lang="en-US" sz="1600" b="0" i="0" u="none" strike="noStrike" cap="none">
                <a:solidFill>
                  <a:srgbClr val="63637E"/>
                </a:solidFill>
                <a:latin typeface="Calibri"/>
                <a:ea typeface="Calibri"/>
                <a:cs typeface="Calibri"/>
                <a:sym typeface="Calibri"/>
              </a:rPr>
              <a:t>Theme ID - 4</a:t>
            </a:r>
            <a:endParaRPr/>
          </a:p>
          <a:p>
            <a:pPr marL="177800" marR="0" lvl="0" indent="-177800" algn="l" rtl="0">
              <a:spcBef>
                <a:spcPts val="500"/>
              </a:spcBef>
              <a:spcAft>
                <a:spcPts val="0"/>
              </a:spcAft>
              <a:buClr>
                <a:srgbClr val="63637E"/>
              </a:buClr>
              <a:buSzPts val="1600"/>
              <a:buFont typeface="Calibri"/>
              <a:buChar char="•"/>
            </a:pPr>
            <a:r>
              <a:rPr lang="en-US" sz="1600" b="0" i="0" u="none" strike="noStrike" cap="none">
                <a:solidFill>
                  <a:srgbClr val="63637E"/>
                </a:solidFill>
                <a:latin typeface="Calibri"/>
                <a:ea typeface="Calibri"/>
                <a:cs typeface="Calibri"/>
                <a:sym typeface="Calibri"/>
              </a:rPr>
              <a:t>Team Name - G</a:t>
            </a:r>
            <a:r>
              <a:rPr lang="en-US" sz="1600">
                <a:solidFill>
                  <a:srgbClr val="63637E"/>
                </a:solidFill>
                <a:latin typeface="Calibri"/>
                <a:ea typeface="Calibri"/>
                <a:cs typeface="Calibri"/>
                <a:sym typeface="Calibri"/>
              </a:rPr>
              <a:t>S CodeStorm</a:t>
            </a:r>
            <a:endParaRPr/>
          </a:p>
          <a:p>
            <a:pPr marL="177800" marR="0" lvl="0" indent="-177800" algn="l" rtl="0">
              <a:spcBef>
                <a:spcPts val="500"/>
              </a:spcBef>
              <a:spcAft>
                <a:spcPts val="0"/>
              </a:spcAft>
              <a:buClr>
                <a:srgbClr val="63637E"/>
              </a:buClr>
              <a:buSzPts val="1600"/>
              <a:buFont typeface="Calibri"/>
              <a:buChar char="•"/>
            </a:pPr>
            <a:r>
              <a:rPr lang="en-US" sz="1600" b="0" i="0" u="none" strike="noStrike" cap="none">
                <a:solidFill>
                  <a:srgbClr val="63637E"/>
                </a:solidFill>
                <a:latin typeface="Calibri"/>
                <a:ea typeface="Calibri"/>
                <a:cs typeface="Calibri"/>
                <a:sym typeface="Calibri"/>
              </a:rPr>
              <a:t>College Name -VIT University ,Vellore</a:t>
            </a:r>
            <a:endParaRPr/>
          </a:p>
          <a:p>
            <a:pPr marL="177800" marR="0" lvl="0" indent="-177800" algn="l" rtl="0">
              <a:spcBef>
                <a:spcPts val="500"/>
              </a:spcBef>
              <a:spcAft>
                <a:spcPts val="0"/>
              </a:spcAft>
              <a:buClr>
                <a:srgbClr val="63637E"/>
              </a:buClr>
              <a:buSzPts val="1600"/>
              <a:buFont typeface="Calibri"/>
              <a:buChar char="•"/>
            </a:pPr>
            <a:r>
              <a:rPr lang="en-US" sz="1600" b="0" i="0" u="none" strike="noStrike" cap="none">
                <a:solidFill>
                  <a:srgbClr val="63637E"/>
                </a:solidFill>
                <a:latin typeface="Calibri"/>
                <a:ea typeface="Calibri"/>
                <a:cs typeface="Calibri"/>
                <a:sym typeface="Calibri"/>
              </a:rPr>
              <a:t>Member Name &amp; Email - Santhosh S . sa</a:t>
            </a:r>
            <a:r>
              <a:rPr lang="en-US" sz="1600">
                <a:solidFill>
                  <a:srgbClr val="63637E"/>
                </a:solidFill>
                <a:latin typeface="Calibri"/>
                <a:ea typeface="Calibri"/>
                <a:cs typeface="Calibri"/>
                <a:sym typeface="Calibri"/>
              </a:rPr>
              <a:t>nthoshsanthoshkavi18@gmail.com</a:t>
            </a:r>
            <a:endParaRPr/>
          </a:p>
          <a:p>
            <a:pPr marL="177800" marR="0" lvl="0" indent="-177800" algn="l" rtl="0">
              <a:spcBef>
                <a:spcPts val="500"/>
              </a:spcBef>
              <a:spcAft>
                <a:spcPts val="0"/>
              </a:spcAft>
              <a:buClr>
                <a:srgbClr val="63637E"/>
              </a:buClr>
              <a:buSzPts val="1600"/>
              <a:buFont typeface="Calibri"/>
              <a:buChar char="•"/>
            </a:pPr>
            <a:r>
              <a:rPr lang="en-US" sz="1600" b="0" i="0" u="none" strike="noStrike" cap="none">
                <a:solidFill>
                  <a:srgbClr val="63637E"/>
                </a:solidFill>
                <a:latin typeface="Calibri"/>
                <a:ea typeface="Calibri"/>
                <a:cs typeface="Calibri"/>
                <a:sym typeface="Calibri"/>
              </a:rPr>
              <a:t>Submission Github link - </a:t>
            </a:r>
            <a:r>
              <a:rPr lang="en-US" sz="1600" b="0" i="0" u="sng" strike="noStrike" cap="none">
                <a:solidFill>
                  <a:schemeClr val="hlink"/>
                </a:solidFill>
                <a:latin typeface="Calibri"/>
                <a:ea typeface="Calibri"/>
                <a:cs typeface="Calibri"/>
                <a:sym typeface="Calibri"/>
                <a:hlinkClick r:id="rId3"/>
              </a:rPr>
              <a:t>https://github.com/Santhoshsubramani22/Samsung-Prism-Generative-AI-Hackathon-Santhosh-4</a:t>
            </a:r>
            <a:endParaRPr/>
          </a:p>
          <a:p>
            <a:pPr marL="177800" marR="0" lvl="0" indent="-76200" algn="l" rtl="0">
              <a:spcBef>
                <a:spcPts val="500"/>
              </a:spcBef>
              <a:spcAft>
                <a:spcPts val="0"/>
              </a:spcAft>
              <a:buClr>
                <a:schemeClr val="dk1"/>
              </a:buClr>
              <a:buSzPts val="1600"/>
              <a:buFont typeface="Calibri"/>
              <a:buNone/>
            </a:pPr>
            <a:endParaRPr sz="1600" b="0" i="0" u="none" strike="noStrike" cap="none">
              <a:solidFill>
                <a:srgbClr val="63637E"/>
              </a:solidFill>
              <a:latin typeface="Calibri"/>
              <a:ea typeface="Calibri"/>
              <a:cs typeface="Calibri"/>
              <a:sym typeface="Calibri"/>
            </a:endParaRPr>
          </a:p>
        </p:txBody>
      </p:sp>
      <p:pic>
        <p:nvPicPr>
          <p:cNvPr id="96" name="Google Shape;96;p1" descr="hero_network.png"/>
          <p:cNvPicPr preferRelativeResize="0"/>
          <p:nvPr/>
        </p:nvPicPr>
        <p:blipFill rotWithShape="1">
          <a:blip r:embed="rId4">
            <a:alphaModFix/>
          </a:blip>
          <a:srcRect/>
          <a:stretch/>
        </p:blipFill>
        <p:spPr>
          <a:xfrm>
            <a:off x="7059168" y="1051560"/>
            <a:ext cx="4572000" cy="457200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Theme</a:t>
            </a:r>
            <a:endParaRPr/>
          </a:p>
        </p:txBody>
      </p:sp>
      <p:sp>
        <p:nvSpPr>
          <p:cNvPr id="102" name="Google Shape;102;p2"/>
          <p:cNvSpPr txBox="1">
            <a:spLocks noGrp="1"/>
          </p:cNvSpPr>
          <p:nvPr>
            <p:ph type="body" idx="1"/>
          </p:nvPr>
        </p:nvSpPr>
        <p:spPr>
          <a:xfrm>
            <a:off x="838200" y="1285950"/>
            <a:ext cx="10515600" cy="489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800"/>
              </a:spcBef>
              <a:spcAft>
                <a:spcPts val="0"/>
              </a:spcAft>
              <a:buClr>
                <a:schemeClr val="dk1"/>
              </a:buClr>
              <a:buSzPts val="1100"/>
              <a:buFont typeface="Arial"/>
              <a:buNone/>
            </a:pPr>
            <a:r>
              <a:rPr lang="en-US" sz="2400" b="1">
                <a:latin typeface="Times New Roman"/>
                <a:ea typeface="Times New Roman"/>
                <a:cs typeface="Times New Roman"/>
                <a:sym typeface="Times New Roman"/>
              </a:rPr>
              <a:t>The Problem</a:t>
            </a:r>
            <a:endParaRPr sz="2400" b="1">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Traditional RAG systems generally follow:</a:t>
            </a:r>
            <a:endParaRPr sz="2400">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Query → Retrieve → Generate → End</a:t>
            </a:r>
            <a:endParaRPr sz="2400" b="1">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This creates problems during real conversations:</a:t>
            </a:r>
            <a:endParaRPr sz="2400" b="1">
              <a:latin typeface="Times New Roman"/>
              <a:ea typeface="Times New Roman"/>
              <a:cs typeface="Times New Roman"/>
              <a:sym typeface="Times New Roman"/>
            </a:endParaRPr>
          </a:p>
          <a:p>
            <a:pPr marL="0" lvl="0" indent="0" algn="l" rtl="0">
              <a:lnSpc>
                <a:spcPct val="100000"/>
              </a:lnSpc>
              <a:spcBef>
                <a:spcPts val="1400"/>
              </a:spcBef>
              <a:spcAft>
                <a:spcPts val="0"/>
              </a:spcAft>
              <a:buClr>
                <a:schemeClr val="dk1"/>
              </a:buClr>
              <a:buSzPts val="1100"/>
              <a:buFont typeface="Arial"/>
              <a:buNone/>
            </a:pPr>
            <a:r>
              <a:rPr lang="en-US" sz="2400" b="1">
                <a:latin typeface="Times New Roman"/>
                <a:ea typeface="Times New Roman"/>
                <a:cs typeface="Times New Roman"/>
                <a:sym typeface="Times New Roman"/>
              </a:rPr>
              <a:t>1. No conversation continuity</a:t>
            </a:r>
            <a:endParaRPr sz="2400" b="1">
              <a:latin typeface="Times New Roman"/>
              <a:ea typeface="Times New Roman"/>
              <a:cs typeface="Times New Roman"/>
              <a:sym typeface="Times New Roman"/>
            </a:endParaRPr>
          </a:p>
          <a:p>
            <a:pPr marL="0" lvl="0" indent="45720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Each query can be treated independently, causing the system to lose previous context.</a:t>
            </a:r>
            <a:endParaRPr sz="2400">
              <a:latin typeface="Times New Roman"/>
              <a:ea typeface="Times New Roman"/>
              <a:cs typeface="Times New Roman"/>
              <a:sym typeface="Times New Roman"/>
            </a:endParaRPr>
          </a:p>
          <a:p>
            <a:pPr marL="0" lvl="0" indent="0" algn="l" rtl="0">
              <a:lnSpc>
                <a:spcPct val="100000"/>
              </a:lnSpc>
              <a:spcBef>
                <a:spcPts val="1400"/>
              </a:spcBef>
              <a:spcAft>
                <a:spcPts val="0"/>
              </a:spcAft>
              <a:buClr>
                <a:schemeClr val="dk1"/>
              </a:buClr>
              <a:buSzPts val="1100"/>
              <a:buFont typeface="Arial"/>
              <a:buNone/>
            </a:pPr>
            <a:r>
              <a:rPr lang="en-US" sz="2400" b="1">
                <a:latin typeface="Times New Roman"/>
                <a:ea typeface="Times New Roman"/>
                <a:cs typeface="Times New Roman"/>
                <a:sym typeface="Times New Roman"/>
              </a:rPr>
              <a:t>2. Repeated retrieval</a:t>
            </a:r>
            <a:endParaRPr sz="2400" b="1">
              <a:latin typeface="Times New Roman"/>
              <a:ea typeface="Times New Roman"/>
              <a:cs typeface="Times New Roman"/>
              <a:sym typeface="Times New Roman"/>
            </a:endParaRPr>
          </a:p>
          <a:p>
            <a:pPr marL="0" lvl="0" indent="45720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Follow-up questions may trigger retrieval from scratch instead of reusing the existing conversation state.</a:t>
            </a:r>
            <a:endParaRPr sz="2400">
              <a:latin typeface="Times New Roman"/>
              <a:ea typeface="Times New Roman"/>
              <a:cs typeface="Times New Roman"/>
              <a:sym typeface="Times New Roman"/>
            </a:endParaRPr>
          </a:p>
          <a:p>
            <a:pPr marL="0" lvl="0" indent="0" algn="l" rtl="0">
              <a:lnSpc>
                <a:spcPct val="100000"/>
              </a:lnSpc>
              <a:spcBef>
                <a:spcPts val="1400"/>
              </a:spcBef>
              <a:spcAft>
                <a:spcPts val="400"/>
              </a:spcAft>
              <a:buClr>
                <a:schemeClr val="dk1"/>
              </a:buClr>
              <a:buSzPts val="1100"/>
              <a:buNone/>
            </a:pP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hc3857839a27095_0_14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Theme</a:t>
            </a:r>
            <a:endParaRPr/>
          </a:p>
        </p:txBody>
      </p:sp>
      <p:sp>
        <p:nvSpPr>
          <p:cNvPr id="108" name="Google Shape;108;hc3857839a27095_0_143"/>
          <p:cNvSpPr txBox="1">
            <a:spLocks noGrp="1"/>
          </p:cNvSpPr>
          <p:nvPr>
            <p:ph type="body" idx="1"/>
          </p:nvPr>
        </p:nvSpPr>
        <p:spPr>
          <a:xfrm>
            <a:off x="838200" y="1285950"/>
            <a:ext cx="10515600" cy="489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400"/>
              </a:spcBef>
              <a:spcAft>
                <a:spcPts val="0"/>
              </a:spcAft>
              <a:buClr>
                <a:schemeClr val="dk1"/>
              </a:buClr>
              <a:buSzPts val="1100"/>
              <a:buNone/>
            </a:pPr>
            <a:r>
              <a:rPr lang="en-US" sz="2400" b="1">
                <a:latin typeface="Times New Roman"/>
                <a:ea typeface="Times New Roman"/>
                <a:cs typeface="Times New Roman"/>
                <a:sym typeface="Times New Roman"/>
              </a:rPr>
              <a:t>3. Late constraints are difficult</a:t>
            </a:r>
            <a:endParaRPr sz="2400" b="1">
              <a:latin typeface="Times New Roman"/>
              <a:ea typeface="Times New Roman"/>
              <a:cs typeface="Times New Roman"/>
              <a:sym typeface="Times New Roman"/>
            </a:endParaRPr>
          </a:p>
          <a:p>
            <a:pPr marL="0" lvl="0" indent="457200" algn="l" rtl="0">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Users frequently modify their request after receiving an answer.</a:t>
            </a:r>
            <a:endParaRPr sz="2400">
              <a:latin typeface="Times New Roman"/>
              <a:ea typeface="Times New Roman"/>
              <a:cs typeface="Times New Roman"/>
              <a:sym typeface="Times New Roman"/>
            </a:endParaRPr>
          </a:p>
          <a:p>
            <a:pPr marL="0" lvl="0" indent="457200" algn="l" rtl="0">
              <a:lnSpc>
                <a:spcPct val="100000"/>
              </a:lnSpc>
              <a:spcBef>
                <a:spcPts val="1200"/>
              </a:spcBef>
              <a:spcAft>
                <a:spcPts val="0"/>
              </a:spcAft>
              <a:buClr>
                <a:schemeClr val="dk1"/>
              </a:buClr>
              <a:buSzPts val="1100"/>
              <a:buNone/>
            </a:pPr>
            <a:r>
              <a:rPr lang="en-US" sz="2400" b="1">
                <a:latin typeface="Times New Roman"/>
                <a:ea typeface="Times New Roman"/>
                <a:cs typeface="Times New Roman"/>
                <a:sym typeface="Times New Roman"/>
              </a:rPr>
              <a:t>Example:</a:t>
            </a:r>
            <a:endParaRPr sz="2400" b="1">
              <a:latin typeface="Times New Roman"/>
              <a:ea typeface="Times New Roman"/>
              <a:cs typeface="Times New Roman"/>
              <a:sym typeface="Times New Roman"/>
            </a:endParaRPr>
          </a:p>
          <a:p>
            <a:pPr marL="381000" marR="381000" lvl="0" indent="76200" algn="l" rtl="0">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“What are the main modules?”</a:t>
            </a:r>
            <a:endParaRPr sz="2400">
              <a:latin typeface="Times New Roman"/>
              <a:ea typeface="Times New Roman"/>
              <a:cs typeface="Times New Roman"/>
              <a:sym typeface="Times New Roman"/>
            </a:endParaRPr>
          </a:p>
          <a:p>
            <a:pPr marL="0" lvl="0" indent="457200" algn="l" rtl="0">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Then:</a:t>
            </a:r>
            <a:endParaRPr sz="2400">
              <a:latin typeface="Times New Roman"/>
              <a:ea typeface="Times New Roman"/>
              <a:cs typeface="Times New Roman"/>
              <a:sym typeface="Times New Roman"/>
            </a:endParaRPr>
          </a:p>
          <a:p>
            <a:pPr marL="381000" marR="381000" lvl="0" indent="76200" algn="l" rtl="0">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“Tell me only about the booking module.”</a:t>
            </a:r>
            <a:endParaRPr sz="2400">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The system must understand that the second request is a </a:t>
            </a:r>
            <a:r>
              <a:rPr lang="en-US" sz="2400" b="1">
                <a:latin typeface="Times New Roman"/>
                <a:ea typeface="Times New Roman"/>
                <a:cs typeface="Times New Roman"/>
                <a:sym typeface="Times New Roman"/>
              </a:rPr>
              <a:t>refinement</a:t>
            </a:r>
            <a:r>
              <a:rPr lang="en-US" sz="2400">
                <a:latin typeface="Times New Roman"/>
                <a:ea typeface="Times New Roman"/>
                <a:cs typeface="Times New Roman"/>
                <a:sym typeface="Times New Roman"/>
              </a:rPr>
              <a:t>, not an unrelated question.</a:t>
            </a:r>
            <a:endParaRPr sz="2400">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None/>
            </a:pPr>
            <a:endParaRPr sz="2400">
              <a:latin typeface="Times New Roman"/>
              <a:ea typeface="Times New Roman"/>
              <a:cs typeface="Times New Roman"/>
              <a:sym typeface="Times New Roman"/>
            </a:endParaRPr>
          </a:p>
          <a:p>
            <a:pPr marL="228600" lvl="0" indent="-50800" algn="l" rtl="0">
              <a:lnSpc>
                <a:spcPct val="100000"/>
              </a:lnSpc>
              <a:spcBef>
                <a:spcPts val="1200"/>
              </a:spcBef>
              <a:spcAft>
                <a:spcPts val="0"/>
              </a:spcAft>
              <a:buClr>
                <a:schemeClr val="dk1"/>
              </a:buClr>
              <a:buSzPts val="2800"/>
              <a:buNone/>
            </a:pP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hc3857839a27095_0_1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Theme</a:t>
            </a:r>
            <a:endParaRPr/>
          </a:p>
        </p:txBody>
      </p:sp>
      <p:sp>
        <p:nvSpPr>
          <p:cNvPr id="114" name="Google Shape;114;hc3857839a27095_0_12"/>
          <p:cNvSpPr txBox="1">
            <a:spLocks noGrp="1"/>
          </p:cNvSpPr>
          <p:nvPr>
            <p:ph type="body" idx="1"/>
          </p:nvPr>
        </p:nvSpPr>
        <p:spPr>
          <a:xfrm>
            <a:off x="838200" y="1285950"/>
            <a:ext cx="10515600" cy="48909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2400" b="1">
                <a:latin typeface="Arial"/>
                <a:ea typeface="Arial"/>
                <a:cs typeface="Arial"/>
                <a:sym typeface="Arial"/>
              </a:rPr>
              <a:t>4. Multi-intent queries</a:t>
            </a:r>
            <a:endParaRPr sz="24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A single question can contain multiple information needs.</a:t>
            </a:r>
            <a:endParaRPr sz="24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“Who is Mayuri M Shine and what are the main modules?”</a:t>
            </a:r>
            <a:endParaRPr sz="24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These should be understood as separate intents.</a:t>
            </a:r>
            <a:endParaRPr sz="2400">
              <a:latin typeface="Arial"/>
              <a:ea typeface="Arial"/>
              <a:cs typeface="Arial"/>
              <a:sym typeface="Arial"/>
            </a:endParaRPr>
          </a:p>
          <a:p>
            <a:pPr marL="0" lvl="0" indent="0" algn="l" rtl="0">
              <a:lnSpc>
                <a:spcPct val="115000"/>
              </a:lnSpc>
              <a:spcBef>
                <a:spcPts val="1400"/>
              </a:spcBef>
              <a:spcAft>
                <a:spcPts val="0"/>
              </a:spcAft>
              <a:buClr>
                <a:schemeClr val="dk1"/>
              </a:buClr>
              <a:buSzPts val="1100"/>
              <a:buFont typeface="Arial"/>
              <a:buNone/>
            </a:pPr>
            <a:r>
              <a:rPr lang="en-US" sz="2400" b="1">
                <a:latin typeface="Arial"/>
                <a:ea typeface="Arial"/>
                <a:cs typeface="Arial"/>
                <a:sym typeface="Arial"/>
              </a:rPr>
              <a:t>5. Irrelevant retrieved context</a:t>
            </a:r>
            <a:endParaRPr sz="24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Retrieving many chunks does not guarantee that all retrieved information is useful or supports the final answer.</a:t>
            </a:r>
            <a:endParaRPr sz="2400">
              <a:latin typeface="Arial"/>
              <a:ea typeface="Arial"/>
              <a:cs typeface="Arial"/>
              <a:sym typeface="Arial"/>
            </a:endParaRPr>
          </a:p>
          <a:p>
            <a:pPr marL="0" lvl="0" indent="0" algn="l" rtl="0">
              <a:lnSpc>
                <a:spcPct val="115000"/>
              </a:lnSpc>
              <a:spcBef>
                <a:spcPts val="1400"/>
              </a:spcBef>
              <a:spcAft>
                <a:spcPts val="0"/>
              </a:spcAft>
              <a:buClr>
                <a:schemeClr val="dk1"/>
              </a:buClr>
              <a:buSzPts val="1100"/>
              <a:buFont typeface="Arial"/>
              <a:buNone/>
            </a:pPr>
            <a:r>
              <a:rPr lang="en-US" sz="2400" b="1">
                <a:latin typeface="Arial"/>
                <a:ea typeface="Arial"/>
                <a:cs typeface="Arial"/>
                <a:sym typeface="Arial"/>
              </a:rPr>
              <a:t>6. Delayed response experience</a:t>
            </a:r>
            <a:endParaRPr sz="24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Traditional request-response generation makes the user wait for the complete answer.</a:t>
            </a:r>
            <a:endParaRPr sz="2400">
              <a:latin typeface="Arial"/>
              <a:ea typeface="Arial"/>
              <a:cs typeface="Arial"/>
              <a:sym typeface="Arial"/>
            </a:endParaRPr>
          </a:p>
          <a:p>
            <a:pPr marL="228600" lvl="0" indent="-50800" algn="l" rtl="0">
              <a:lnSpc>
                <a:spcPct val="100000"/>
              </a:lnSpc>
              <a:spcBef>
                <a:spcPts val="1200"/>
              </a:spcBef>
              <a:spcAft>
                <a:spcPts val="0"/>
              </a:spcAft>
              <a:buClr>
                <a:schemeClr val="dk1"/>
              </a:buClr>
              <a:buSzPts val="2800"/>
              <a:buNone/>
            </a:pPr>
            <a:endParaRPr sz="2400" b="1">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Existing Solutions &amp; Gaps</a:t>
            </a:r>
            <a:endParaRPr/>
          </a:p>
        </p:txBody>
      </p:sp>
      <p:sp>
        <p:nvSpPr>
          <p:cNvPr id="120" name="Google Shape;120;p3"/>
          <p:cNvSpPr txBox="1">
            <a:spLocks noGrp="1"/>
          </p:cNvSpPr>
          <p:nvPr>
            <p:ph type="body" idx="1"/>
          </p:nvPr>
        </p:nvSpPr>
        <p:spPr>
          <a:xfrm>
            <a:off x="838200" y="1838000"/>
            <a:ext cx="10515600" cy="43512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graphicFrame>
        <p:nvGraphicFramePr>
          <p:cNvPr id="121" name="Google Shape;121;p3"/>
          <p:cNvGraphicFramePr/>
          <p:nvPr/>
        </p:nvGraphicFramePr>
        <p:xfrm>
          <a:off x="952500" y="2048500"/>
          <a:ext cx="10287000" cy="3685524"/>
        </p:xfrm>
        <a:graphic>
          <a:graphicData uri="http://schemas.openxmlformats.org/drawingml/2006/table">
            <a:tbl>
              <a:tblPr>
                <a:noFill/>
                <a:tableStyleId>{686A7297-AFFE-4123-929A-EA93B868DDA5}</a:tableStyleId>
              </a:tblPr>
              <a:tblGrid>
                <a:gridCol w="5143500"/>
                <a:gridCol w="5143500"/>
              </a:tblGrid>
              <a:tr h="381000">
                <a:tc>
                  <a:txBody>
                    <a:bodyPr/>
                    <a:lstStyle/>
                    <a:p>
                      <a:pPr marL="0" lvl="0" indent="0" algn="ctr" rtl="0">
                        <a:lnSpc>
                          <a:spcPct val="115000"/>
                        </a:lnSpc>
                        <a:spcBef>
                          <a:spcPts val="0"/>
                        </a:spcBef>
                        <a:spcAft>
                          <a:spcPts val="0"/>
                        </a:spcAft>
                        <a:buNone/>
                      </a:pPr>
                      <a:r>
                        <a:rPr lang="en-US" sz="1900" b="1"/>
                        <a:t>Traditional RAG</a:t>
                      </a:r>
                      <a:endParaRPr sz="1900"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900" b="1"/>
                        <a:t>Our Streaming Live RAG </a:t>
                      </a:r>
                      <a:endParaRPr sz="1900"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a:t>Processes queries independently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Maintains conversation state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a:t>Retrieve → Generate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Understand → Retrieve → Stream → Refine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a:t>Follow-up may restart retrieval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Follow-up uses previous state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a:t>Late constraints are difficult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Supports constraint refinement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a:t>Single-query oriented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Multi-intent aware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a:t>Large retrieved context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Evidence filtering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a:t>Complete response generation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Incremental streaming</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a:t>New answer each time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Versioned answer refinement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122" name="Google Shape;122;p3"/>
          <p:cNvGraphicFramePr/>
          <p:nvPr/>
        </p:nvGraphicFramePr>
        <p:xfrm>
          <a:off x="304800" y="304800"/>
          <a:ext cx="208250" cy="396210"/>
        </p:xfrm>
        <a:graphic>
          <a:graphicData uri="http://schemas.openxmlformats.org/drawingml/2006/table">
            <a:tbl>
              <a:tblPr>
                <a:noFill/>
                <a:tableStyleId>{E346F8DB-2967-4E04-9A6A-E7796BA0A4F5}</a:tableStyleId>
              </a:tblPr>
              <a:tblGrid>
                <a:gridCol w="208250"/>
              </a:tblGrid>
              <a:tr h="0">
                <a:tc>
                  <a:txBody>
                    <a:bodyPr/>
                    <a:lstStyle/>
                    <a:p>
                      <a:pPr marL="0" lvl="0" indent="0" algn="l" rtl="0">
                        <a:spcBef>
                          <a:spcPts val="0"/>
                        </a:spcBef>
                        <a:spcAft>
                          <a:spcPts val="0"/>
                        </a:spcAft>
                        <a:buNone/>
                      </a:pPr>
                      <a:endParaRPr/>
                    </a:p>
                  </a:txBody>
                  <a:tcPr marL="91425" marR="91425" marT="91425" marB="91425"/>
                </a:tc>
              </a:tr>
            </a:tbl>
          </a:graphicData>
        </a:graphic>
      </p:graphicFrame>
      <p:graphicFrame>
        <p:nvGraphicFramePr>
          <p:cNvPr id="123" name="Google Shape;123;p3"/>
          <p:cNvGraphicFramePr/>
          <p:nvPr/>
        </p:nvGraphicFramePr>
        <p:xfrm>
          <a:off x="457200" y="457200"/>
          <a:ext cx="1381125" cy="396210"/>
        </p:xfrm>
        <a:graphic>
          <a:graphicData uri="http://schemas.openxmlformats.org/drawingml/2006/table">
            <a:tbl>
              <a:tblPr>
                <a:noFill/>
                <a:tableStyleId>{E346F8DB-2967-4E04-9A6A-E7796BA0A4F5}</a:tableStyleId>
              </a:tblPr>
              <a:tblGrid>
                <a:gridCol w="1381125"/>
              </a:tblGrid>
              <a:tr h="0">
                <a:tc>
                  <a:txBody>
                    <a:bodyPr/>
                    <a:lstStyle/>
                    <a:p>
                      <a:pPr marL="0" lvl="0" indent="0" algn="l" rtl="0">
                        <a:spcBef>
                          <a:spcPts val="0"/>
                        </a:spcBef>
                        <a:spcAft>
                          <a:spcPts val="0"/>
                        </a:spcAft>
                        <a:buNone/>
                      </a:pPr>
                      <a:endParaRPr/>
                    </a:p>
                  </a:txBody>
                  <a:tcPr marL="91425" marR="91425" marT="91425" marB="91425"/>
                </a:tc>
              </a:tr>
            </a:tbl>
          </a:graphicData>
        </a:graphic>
      </p:graphicFrame>
      <p:sp>
        <p:nvSpPr>
          <p:cNvPr id="124" name="Google Shape;124;p3"/>
          <p:cNvSpPr txBox="1"/>
          <p:nvPr/>
        </p:nvSpPr>
        <p:spPr>
          <a:xfrm>
            <a:off x="1099750" y="1355325"/>
            <a:ext cx="5822100" cy="39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Why Traditional RAG Is Not Enough </a:t>
            </a:r>
            <a:endParaRPr sz="2400" b="1">
              <a:solidFill>
                <a:schemeClr val="dk1"/>
              </a:solidFill>
              <a:latin typeface="Times New Roman"/>
              <a:ea typeface="Times New Roman"/>
              <a:cs typeface="Times New Roman"/>
              <a:sym typeface="Times New Roman"/>
            </a:endParaRPr>
          </a:p>
        </p:txBody>
      </p:sp>
      <p:sp>
        <p:nvSpPr>
          <p:cNvPr id="125" name="Google Shape;125;p3"/>
          <p:cNvSpPr txBox="1"/>
          <p:nvPr/>
        </p:nvSpPr>
        <p:spPr>
          <a:xfrm>
            <a:off x="925950" y="5690500"/>
            <a:ext cx="10340100" cy="942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2400" b="1">
                <a:solidFill>
                  <a:schemeClr val="dk1"/>
                </a:solidFill>
                <a:latin typeface="Times New Roman"/>
                <a:ea typeface="Times New Roman"/>
                <a:cs typeface="Times New Roman"/>
                <a:sym typeface="Times New Roman"/>
              </a:rPr>
              <a:t>Key idea</a:t>
            </a:r>
            <a:endParaRPr sz="2400" b="1">
              <a:solidFill>
                <a:schemeClr val="dk1"/>
              </a:solidFill>
              <a:latin typeface="Times New Roman"/>
              <a:ea typeface="Times New Roman"/>
              <a:cs typeface="Times New Roman"/>
              <a:sym typeface="Times New Roman"/>
            </a:endParaRPr>
          </a:p>
          <a:p>
            <a:pPr marL="381000" marR="381000" lvl="0" indent="0" algn="l" rtl="0">
              <a:lnSpc>
                <a:spcPct val="115000"/>
              </a:lnSpc>
              <a:spcBef>
                <a:spcPts val="120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Traditional RAG answers questions. Our system manages an evolving conversation.</a:t>
            </a: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24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
          <p:cNvSpPr txBox="1">
            <a:spLocks noGrp="1"/>
          </p:cNvSpPr>
          <p:nvPr>
            <p:ph type="title"/>
          </p:nvPr>
        </p:nvSpPr>
        <p:spPr>
          <a:xfrm>
            <a:off x="909917" y="26651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Our Solutions &amp; Architecture Diagram</a:t>
            </a:r>
            <a:endParaRPr/>
          </a:p>
        </p:txBody>
      </p:sp>
      <p:sp>
        <p:nvSpPr>
          <p:cNvPr id="131" name="Google Shape;13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132" name="Google Shape;132;p4" title="Untitled Diagram.drawio (4).png"/>
          <p:cNvPicPr preferRelativeResize="0"/>
          <p:nvPr/>
        </p:nvPicPr>
        <p:blipFill>
          <a:blip r:embed="rId3">
            <a:alphaModFix/>
          </a:blip>
          <a:stretch>
            <a:fillRect/>
          </a:stretch>
        </p:blipFill>
        <p:spPr>
          <a:xfrm>
            <a:off x="1115274" y="1616650"/>
            <a:ext cx="9573676" cy="4937025"/>
          </a:xfrm>
          <a:prstGeom prst="rect">
            <a:avLst/>
          </a:prstGeom>
          <a:noFill/>
          <a:ln>
            <a:noFill/>
          </a:ln>
        </p:spPr>
      </p:pic>
      <p:sp>
        <p:nvSpPr>
          <p:cNvPr id="133" name="Google Shape;133;p4"/>
          <p:cNvSpPr txBox="1"/>
          <p:nvPr/>
        </p:nvSpPr>
        <p:spPr>
          <a:xfrm>
            <a:off x="1025425" y="1046525"/>
            <a:ext cx="8188800" cy="965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800"/>
              </a:spcBef>
              <a:spcAft>
                <a:spcPts val="0"/>
              </a:spcAft>
              <a:buClr>
                <a:schemeClr val="dk1"/>
              </a:buClr>
              <a:buSzPts val="1100"/>
              <a:buFont typeface="Arial"/>
              <a:buNone/>
            </a:pPr>
            <a:r>
              <a:rPr lang="en-US" sz="2100">
                <a:solidFill>
                  <a:schemeClr val="dk1"/>
                </a:solidFill>
                <a:latin typeface="Times New Roman"/>
                <a:ea typeface="Times New Roman"/>
                <a:cs typeface="Times New Roman"/>
                <a:sym typeface="Times New Roman"/>
              </a:rPr>
              <a:t>Streaming Live RAG</a:t>
            </a: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Our system introduces a state-preserving RAG workflow that continuously understands and refines the user's request.</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endParaRPr sz="32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hc3857839a27095_0_148"/>
          <p:cNvSpPr txBox="1">
            <a:spLocks noGrp="1"/>
          </p:cNvSpPr>
          <p:nvPr>
            <p:ph type="title"/>
          </p:nvPr>
        </p:nvSpPr>
        <p:spPr>
          <a:xfrm>
            <a:off x="838200" y="356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Demo &amp; Product Walkthrough</a:t>
            </a:r>
            <a:endParaRPr/>
          </a:p>
        </p:txBody>
      </p:sp>
      <p:sp>
        <p:nvSpPr>
          <p:cNvPr id="139" name="Google Shape;139;hc3857839a27095_0_148"/>
          <p:cNvSpPr txBox="1">
            <a:spLocks noGrp="1"/>
          </p:cNvSpPr>
          <p:nvPr>
            <p:ph type="body" idx="1"/>
          </p:nvPr>
        </p:nvSpPr>
        <p:spPr>
          <a:xfrm>
            <a:off x="838200" y="1287975"/>
            <a:ext cx="10515600" cy="48891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1400"/>
              </a:spcBef>
              <a:spcAft>
                <a:spcPts val="0"/>
              </a:spcAft>
              <a:buClr>
                <a:schemeClr val="dk1"/>
              </a:buClr>
              <a:buSzPts val="935"/>
              <a:buNone/>
            </a:pPr>
            <a:r>
              <a:rPr lang="en-US" sz="2400" b="1">
                <a:latin typeface="Times New Roman"/>
                <a:ea typeface="Times New Roman"/>
                <a:cs typeface="Times New Roman"/>
                <a:sym typeface="Times New Roman"/>
              </a:rPr>
              <a:t>Live Product Walkthrough</a:t>
            </a:r>
            <a:endParaRPr sz="2400" b="1">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None/>
            </a:pPr>
            <a:r>
              <a:rPr lang="en-US" sz="2400" b="1">
                <a:latin typeface="Times New Roman"/>
                <a:ea typeface="Times New Roman"/>
                <a:cs typeface="Times New Roman"/>
                <a:sym typeface="Times New Roman"/>
              </a:rPr>
              <a:t>1. WAIT</a:t>
            </a:r>
            <a:r>
              <a:rPr lang="en-US" sz="2400">
                <a:latin typeface="Times New Roman"/>
                <a:ea typeface="Times New Roman"/>
                <a:cs typeface="Times New Roman"/>
                <a:sym typeface="Times New Roman"/>
              </a:rPr>
              <a:t> — Conversational Input</a:t>
            </a:r>
            <a:endParaRPr sz="2400">
              <a:latin typeface="Times New Roman"/>
              <a:ea typeface="Times New Roman"/>
              <a:cs typeface="Times New Roman"/>
              <a:sym typeface="Times New Roman"/>
            </a:endParaRPr>
          </a:p>
          <a:p>
            <a:pPr marL="381000" marR="381000" lvl="0" indent="0" algn="l" rtl="0">
              <a:lnSpc>
                <a:spcPct val="95000"/>
              </a:lnSpc>
              <a:spcBef>
                <a:spcPts val="1200"/>
              </a:spcBef>
              <a:spcAft>
                <a:spcPts val="0"/>
              </a:spcAft>
              <a:buClr>
                <a:schemeClr val="dk1"/>
              </a:buClr>
              <a:buSzPts val="935"/>
              <a:buNone/>
            </a:pPr>
            <a:r>
              <a:rPr lang="en-US" sz="2400">
                <a:latin typeface="Times New Roman"/>
                <a:ea typeface="Times New Roman"/>
                <a:cs typeface="Times New Roman"/>
                <a:sym typeface="Times New Roman"/>
              </a:rPr>
              <a:t>User: “Hello”</a:t>
            </a:r>
            <a:endParaRPr sz="2400">
              <a:latin typeface="Times New Roman"/>
              <a:ea typeface="Times New Roman"/>
              <a:cs typeface="Times New Roman"/>
              <a:sym typeface="Times New Roman"/>
            </a:endParaRPr>
          </a:p>
          <a:p>
            <a:pPr marL="457200" lvl="0" indent="-381000" algn="l" rtl="0">
              <a:lnSpc>
                <a:spcPct val="9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Controller identifies a conversational message.</a:t>
            </a:r>
            <a:endParaRPr sz="2400">
              <a:latin typeface="Times New Roman"/>
              <a:ea typeface="Times New Roman"/>
              <a:cs typeface="Times New Roman"/>
              <a:sym typeface="Times New Roman"/>
            </a:endParaRPr>
          </a:p>
          <a:p>
            <a:pPr marL="457200" lvl="0" indent="-381000" algn="l" rtl="0">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No unnecessary document retrieval.</a:t>
            </a:r>
            <a:endParaRPr sz="2400">
              <a:latin typeface="Times New Roman"/>
              <a:ea typeface="Times New Roman"/>
              <a:cs typeface="Times New Roman"/>
              <a:sym typeface="Times New Roman"/>
            </a:endParaRPr>
          </a:p>
          <a:p>
            <a:pPr marL="457200" lvl="0" indent="-381000" algn="l" rtl="0">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System responds immediately.</a:t>
            </a:r>
            <a:endParaRPr sz="2400">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None/>
            </a:pPr>
            <a:r>
              <a:rPr lang="en-US" sz="2400" b="1">
                <a:latin typeface="Times New Roman"/>
                <a:ea typeface="Times New Roman"/>
                <a:cs typeface="Times New Roman"/>
                <a:sym typeface="Times New Roman"/>
              </a:rPr>
              <a:t>2. RETRIEVE </a:t>
            </a:r>
            <a:r>
              <a:rPr lang="en-US" sz="2400">
                <a:latin typeface="Times New Roman"/>
                <a:ea typeface="Times New Roman"/>
                <a:cs typeface="Times New Roman"/>
                <a:sym typeface="Times New Roman"/>
              </a:rPr>
              <a:t>— Document Question</a:t>
            </a:r>
            <a:endParaRPr sz="2400">
              <a:latin typeface="Times New Roman"/>
              <a:ea typeface="Times New Roman"/>
              <a:cs typeface="Times New Roman"/>
              <a:sym typeface="Times New Roman"/>
            </a:endParaRPr>
          </a:p>
          <a:p>
            <a:pPr marL="381000" marR="381000" lvl="0" indent="0" algn="l" rtl="0">
              <a:lnSpc>
                <a:spcPct val="95000"/>
              </a:lnSpc>
              <a:spcBef>
                <a:spcPts val="1200"/>
              </a:spcBef>
              <a:spcAft>
                <a:spcPts val="0"/>
              </a:spcAft>
              <a:buClr>
                <a:schemeClr val="dk1"/>
              </a:buClr>
              <a:buSzPts val="935"/>
              <a:buNone/>
            </a:pPr>
            <a:r>
              <a:rPr lang="en-US" sz="2400">
                <a:latin typeface="Times New Roman"/>
                <a:ea typeface="Times New Roman"/>
                <a:cs typeface="Times New Roman"/>
                <a:sym typeface="Times New Roman"/>
              </a:rPr>
              <a:t>User: “Who is Mayuri M Shine?”</a:t>
            </a:r>
            <a:endParaRPr sz="2400">
              <a:latin typeface="Times New Roman"/>
              <a:ea typeface="Times New Roman"/>
              <a:cs typeface="Times New Roman"/>
              <a:sym typeface="Times New Roman"/>
            </a:endParaRPr>
          </a:p>
          <a:p>
            <a:pPr marL="457200" lvl="0" indent="-381000" algn="l" rtl="0">
              <a:lnSpc>
                <a:spcPct val="9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Intent identified as a retrieval request.</a:t>
            </a:r>
            <a:endParaRPr sz="2400">
              <a:latin typeface="Times New Roman"/>
              <a:ea typeface="Times New Roman"/>
              <a:cs typeface="Times New Roman"/>
              <a:sym typeface="Times New Roman"/>
            </a:endParaRPr>
          </a:p>
          <a:p>
            <a:pPr marL="457200" lvl="0" indent="-381000" algn="l" rtl="0">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Relevant SRS evidence is retrieved.</a:t>
            </a:r>
            <a:endParaRPr sz="2400">
              <a:latin typeface="Times New Roman"/>
              <a:ea typeface="Times New Roman"/>
              <a:cs typeface="Times New Roman"/>
              <a:sym typeface="Times New Roman"/>
            </a:endParaRPr>
          </a:p>
          <a:p>
            <a:pPr marL="457200" lvl="0" indent="-381000" algn="l" rtl="0">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Evidence is filtered.</a:t>
            </a:r>
            <a:endParaRPr sz="2400">
              <a:latin typeface="Times New Roman"/>
              <a:ea typeface="Times New Roman"/>
              <a:cs typeface="Times New Roman"/>
              <a:sym typeface="Times New Roman"/>
            </a:endParaRPr>
          </a:p>
          <a:p>
            <a:pPr marL="457200" lvl="0" indent="-381000" algn="l" rtl="0">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Grounded answer is generated and streamed.</a:t>
            </a:r>
            <a:endParaRPr sz="2400">
              <a:latin typeface="Times New Roman"/>
              <a:ea typeface="Times New Roman"/>
              <a:cs typeface="Times New Roman"/>
              <a:sym typeface="Times New Roman"/>
            </a:endParaRPr>
          </a:p>
          <a:p>
            <a:pPr marL="0" lvl="0" indent="0" algn="l" rtl="0">
              <a:lnSpc>
                <a:spcPct val="95000"/>
              </a:lnSpc>
              <a:spcBef>
                <a:spcPts val="1200"/>
              </a:spcBef>
              <a:spcAft>
                <a:spcPts val="1200"/>
              </a:spcAft>
              <a:buClr>
                <a:schemeClr val="dk1"/>
              </a:buClr>
              <a:buSzPts val="935"/>
              <a:buNone/>
            </a:pP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xfrm>
            <a:off x="838200" y="356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Demo &amp; Product Walkthrough</a:t>
            </a:r>
            <a:endParaRPr/>
          </a:p>
        </p:txBody>
      </p:sp>
      <p:sp>
        <p:nvSpPr>
          <p:cNvPr id="145" name="Google Shape;145;p5"/>
          <p:cNvSpPr txBox="1">
            <a:spLocks noGrp="1"/>
          </p:cNvSpPr>
          <p:nvPr>
            <p:ph type="body" idx="1"/>
          </p:nvPr>
        </p:nvSpPr>
        <p:spPr>
          <a:xfrm>
            <a:off x="838200" y="1287975"/>
            <a:ext cx="10515600" cy="4889100"/>
          </a:xfrm>
          <a:prstGeom prst="rect">
            <a:avLst/>
          </a:prstGeom>
          <a:noFill/>
          <a:ln>
            <a:noFill/>
          </a:ln>
        </p:spPr>
        <p:txBody>
          <a:bodyPr spcFirstLastPara="1" wrap="square" lIns="91425" tIns="45700" rIns="91425" bIns="45700" anchor="t" anchorCtr="0">
            <a:noAutofit/>
          </a:bodyPr>
          <a:lstStyle/>
          <a:p>
            <a:pPr marL="457200" lvl="0" indent="0" algn="l" rtl="0">
              <a:lnSpc>
                <a:spcPct val="95000"/>
              </a:lnSpc>
              <a:spcBef>
                <a:spcPts val="1200"/>
              </a:spcBef>
              <a:spcAft>
                <a:spcPts val="0"/>
              </a:spcAft>
              <a:buNone/>
            </a:pPr>
            <a:endParaRPr sz="2400">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Font typeface="Arial"/>
              <a:buNone/>
            </a:pPr>
            <a:r>
              <a:rPr lang="en-US" sz="2400" b="1">
                <a:latin typeface="Times New Roman"/>
                <a:ea typeface="Times New Roman"/>
                <a:cs typeface="Times New Roman"/>
                <a:sym typeface="Times New Roman"/>
              </a:rPr>
              <a:t>3. MULTI-INTENT</a:t>
            </a:r>
            <a:endParaRPr sz="2400" b="1">
              <a:latin typeface="Times New Roman"/>
              <a:ea typeface="Times New Roman"/>
              <a:cs typeface="Times New Roman"/>
              <a:sym typeface="Times New Roman"/>
            </a:endParaRPr>
          </a:p>
          <a:p>
            <a:pPr marL="381000" marR="381000" lvl="0" indent="0" algn="l" rtl="0">
              <a:lnSpc>
                <a:spcPct val="95000"/>
              </a:lnSpc>
              <a:spcBef>
                <a:spcPts val="1200"/>
              </a:spcBef>
              <a:spcAft>
                <a:spcPts val="0"/>
              </a:spcAft>
              <a:buClr>
                <a:schemeClr val="dk1"/>
              </a:buClr>
              <a:buSzPts val="935"/>
              <a:buFont typeface="Arial"/>
              <a:buNone/>
            </a:pPr>
            <a:r>
              <a:rPr lang="en-US" sz="2400">
                <a:latin typeface="Times New Roman"/>
                <a:ea typeface="Times New Roman"/>
                <a:cs typeface="Times New Roman"/>
                <a:sym typeface="Times New Roman"/>
              </a:rPr>
              <a:t>User: “Who is Mayuri M Shine and what are the main modules?”</a:t>
            </a:r>
            <a:endParaRPr sz="2400">
              <a:latin typeface="Times New Roman"/>
              <a:ea typeface="Times New Roman"/>
              <a:cs typeface="Times New Roman"/>
              <a:sym typeface="Times New Roman"/>
            </a:endParaRPr>
          </a:p>
          <a:p>
            <a:pPr marL="457200" lvl="0" indent="-381000" algn="l" rtl="0">
              <a:lnSpc>
                <a:spcPct val="9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Query is decomposed into separate intents.</a:t>
            </a:r>
            <a:endParaRPr sz="2400">
              <a:latin typeface="Times New Roman"/>
              <a:ea typeface="Times New Roman"/>
              <a:cs typeface="Times New Roman"/>
              <a:sym typeface="Times New Roman"/>
            </a:endParaRPr>
          </a:p>
          <a:p>
            <a:pPr marL="457200" lvl="0" indent="-381000" algn="l" rtl="0">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Relevant evidence is retrieved for each intent.</a:t>
            </a:r>
            <a:endParaRPr sz="2400">
              <a:latin typeface="Times New Roman"/>
              <a:ea typeface="Times New Roman"/>
              <a:cs typeface="Times New Roman"/>
              <a:sym typeface="Times New Roman"/>
            </a:endParaRPr>
          </a:p>
          <a:p>
            <a:pPr marL="457200" lvl="0" indent="-381000" algn="l" rtl="0">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Information is combined into one response.</a:t>
            </a:r>
            <a:endParaRPr sz="2400">
              <a:latin typeface="Times New Roman"/>
              <a:ea typeface="Times New Roman"/>
              <a:cs typeface="Times New Roman"/>
              <a:sym typeface="Times New Roman"/>
            </a:endParaRPr>
          </a:p>
          <a:p>
            <a:pPr marL="228600" lvl="0" indent="-50800" algn="l" rtl="0">
              <a:lnSpc>
                <a:spcPct val="70000"/>
              </a:lnSpc>
              <a:spcBef>
                <a:spcPts val="1200"/>
              </a:spcBef>
              <a:spcAft>
                <a:spcPts val="0"/>
              </a:spcAft>
              <a:buClr>
                <a:schemeClr val="dk1"/>
              </a:buClr>
              <a:buSzPts val="2380"/>
              <a:buNone/>
            </a:pP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h3ec38cbf6a3e40f2_0_155"/>
          <p:cNvSpPr txBox="1">
            <a:spLocks noGrp="1"/>
          </p:cNvSpPr>
          <p:nvPr>
            <p:ph type="title"/>
          </p:nvPr>
        </p:nvSpPr>
        <p:spPr>
          <a:xfrm>
            <a:off x="838200" y="356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Demo &amp; Product Walkthrough</a:t>
            </a:r>
            <a:endParaRPr/>
          </a:p>
        </p:txBody>
      </p:sp>
      <p:sp>
        <p:nvSpPr>
          <p:cNvPr id="151" name="Google Shape;151;h3ec38cbf6a3e40f2_0_155"/>
          <p:cNvSpPr txBox="1">
            <a:spLocks noGrp="1"/>
          </p:cNvSpPr>
          <p:nvPr>
            <p:ph type="body" idx="1"/>
          </p:nvPr>
        </p:nvSpPr>
        <p:spPr>
          <a:xfrm>
            <a:off x="838200" y="1571751"/>
            <a:ext cx="105156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400"/>
              </a:spcBef>
              <a:spcAft>
                <a:spcPts val="0"/>
              </a:spcAft>
              <a:buClr>
                <a:schemeClr val="dk1"/>
              </a:buClr>
              <a:buSzPts val="1100"/>
              <a:buFont typeface="Arial"/>
              <a:buNone/>
            </a:pPr>
            <a:r>
              <a:rPr lang="en-US" sz="2400" b="1">
                <a:latin typeface="Times New Roman"/>
                <a:ea typeface="Times New Roman"/>
                <a:cs typeface="Times New Roman"/>
                <a:sym typeface="Times New Roman"/>
              </a:rPr>
              <a:t>State-Preserving Refinement</a:t>
            </a:r>
            <a:endParaRPr sz="2400" b="1">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Initial Question</a:t>
            </a:r>
            <a:endParaRPr sz="2400" b="1">
              <a:latin typeface="Times New Roman"/>
              <a:ea typeface="Times New Roman"/>
              <a:cs typeface="Times New Roman"/>
              <a:sym typeface="Times New Roman"/>
            </a:endParaRPr>
          </a:p>
          <a:p>
            <a:pPr marL="381000" marR="381000" lvl="0" indent="0" algn="l" rtl="0">
              <a:lnSpc>
                <a:spcPct val="100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“What are the main modules of the Hotel Management System?”</a:t>
            </a:r>
            <a:endParaRPr sz="2400" b="1">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Answer Version 1</a:t>
            </a:r>
            <a:endParaRPr sz="2400" b="1">
              <a:latin typeface="Times New Roman"/>
              <a:ea typeface="Times New Roman"/>
              <a:cs typeface="Times New Roman"/>
              <a:sym typeface="Times New Roman"/>
            </a:endParaRPr>
          </a:p>
          <a:p>
            <a:pPr marL="381000" marR="38100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Customer Management</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Room Management</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Booking</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Billing</a:t>
            </a:r>
            <a:endParaRPr sz="2400">
              <a:latin typeface="Times New Roman"/>
              <a:ea typeface="Times New Roman"/>
              <a:cs typeface="Times New Roman"/>
              <a:sym typeface="Times New Roman"/>
            </a:endParaRPr>
          </a:p>
          <a:p>
            <a:pPr marL="457200" lvl="0" indent="0" algn="l" rtl="0">
              <a:lnSpc>
                <a:spcPct val="100000"/>
              </a:lnSpc>
              <a:spcBef>
                <a:spcPts val="1200"/>
              </a:spcBef>
              <a:spcAft>
                <a:spcPts val="0"/>
              </a:spcAft>
              <a:buNone/>
            </a:pP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228600" lvl="0" indent="-50800" algn="l" rtl="0">
              <a:lnSpc>
                <a:spcPct val="100000"/>
              </a:lnSpc>
              <a:spcBef>
                <a:spcPts val="1200"/>
              </a:spcBef>
              <a:spcAft>
                <a:spcPts val="0"/>
              </a:spcAft>
              <a:buClr>
                <a:schemeClr val="dk1"/>
              </a:buClr>
              <a:buSzPts val="2380"/>
              <a:buNone/>
            </a:pPr>
            <a:endParaRPr sz="2400" b="1">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h3ec38cbf6a3e40f2_0_168"/>
          <p:cNvSpPr txBox="1">
            <a:spLocks noGrp="1"/>
          </p:cNvSpPr>
          <p:nvPr>
            <p:ph type="title"/>
          </p:nvPr>
        </p:nvSpPr>
        <p:spPr>
          <a:xfrm>
            <a:off x="838200" y="356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Demo &amp; Product Walkthrough</a:t>
            </a:r>
            <a:endParaRPr/>
          </a:p>
        </p:txBody>
      </p:sp>
      <p:sp>
        <p:nvSpPr>
          <p:cNvPr id="157" name="Google Shape;157;h3ec38cbf6a3e40f2_0_168"/>
          <p:cNvSpPr txBox="1">
            <a:spLocks noGrp="1"/>
          </p:cNvSpPr>
          <p:nvPr>
            <p:ph type="body" idx="1"/>
          </p:nvPr>
        </p:nvSpPr>
        <p:spPr>
          <a:xfrm>
            <a:off x="838200" y="1571751"/>
            <a:ext cx="105156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User adds a late constraint</a:t>
            </a:r>
            <a:endParaRPr sz="2400" b="1">
              <a:latin typeface="Times New Roman"/>
              <a:ea typeface="Times New Roman"/>
              <a:cs typeface="Times New Roman"/>
              <a:sym typeface="Times New Roman"/>
            </a:endParaRPr>
          </a:p>
          <a:p>
            <a:pPr marL="381000" marR="381000" lvl="0" indent="0" algn="l" rtl="0">
              <a:lnSpc>
                <a:spcPct val="100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“Tell me only about the booking module.”</a:t>
            </a:r>
            <a:endParaRPr sz="2400" b="1">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State-Preserving Refinement</a:t>
            </a:r>
            <a:endParaRPr sz="2400" b="1">
              <a:latin typeface="Times New Roman"/>
              <a:ea typeface="Times New Roman"/>
              <a:cs typeface="Times New Roman"/>
              <a:sym typeface="Times New Roman"/>
            </a:endParaRPr>
          </a:p>
          <a:p>
            <a:pPr marL="457200" lvl="0" indent="-381000" algn="l" rtl="0">
              <a:lnSpc>
                <a:spcPct val="100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Previous conversation state is retained.</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New constraint is detected.</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Retrieval is focused on the booking module.</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Irrelevant context is filtered.</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A refined </a:t>
            </a:r>
            <a:r>
              <a:rPr lang="en-US" sz="2400" b="1">
                <a:latin typeface="Times New Roman"/>
                <a:ea typeface="Times New Roman"/>
                <a:cs typeface="Times New Roman"/>
                <a:sym typeface="Times New Roman"/>
              </a:rPr>
              <a:t>Answer Version 2</a:t>
            </a:r>
            <a:r>
              <a:rPr lang="en-US" sz="2400">
                <a:latin typeface="Times New Roman"/>
                <a:ea typeface="Times New Roman"/>
                <a:cs typeface="Times New Roman"/>
                <a:sym typeface="Times New Roman"/>
              </a:rPr>
              <a:t> is streamed</a:t>
            </a:r>
            <a:endParaRPr sz="2400" b="1">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hc3857839a27095_0_92"/>
          <p:cNvSpPr txBox="1">
            <a:spLocks noGrp="1"/>
          </p:cNvSpPr>
          <p:nvPr>
            <p:ph type="title"/>
          </p:nvPr>
        </p:nvSpPr>
        <p:spPr>
          <a:xfrm>
            <a:off x="838200" y="356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Demo &amp; Product Walkthrough</a:t>
            </a:r>
            <a:endParaRPr/>
          </a:p>
        </p:txBody>
      </p:sp>
      <p:sp>
        <p:nvSpPr>
          <p:cNvPr id="163" name="Google Shape;163;hc3857839a27095_0_92"/>
          <p:cNvSpPr txBox="1">
            <a:spLocks noGrp="1"/>
          </p:cNvSpPr>
          <p:nvPr>
            <p:ph type="body" idx="1"/>
          </p:nvPr>
        </p:nvSpPr>
        <p:spPr>
          <a:xfrm>
            <a:off x="838200" y="1571751"/>
            <a:ext cx="105156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400"/>
              </a:spcBef>
              <a:spcAft>
                <a:spcPts val="0"/>
              </a:spcAft>
              <a:buClr>
                <a:schemeClr val="dk1"/>
              </a:buClr>
              <a:buSzPts val="1100"/>
              <a:buFont typeface="Arial"/>
              <a:buNone/>
            </a:pPr>
            <a:r>
              <a:rPr lang="en-US" sz="2400" b="1">
                <a:latin typeface="Times New Roman"/>
                <a:ea typeface="Times New Roman"/>
                <a:cs typeface="Times New Roman"/>
                <a:sym typeface="Times New Roman"/>
              </a:rPr>
              <a:t>Key Innovation</a:t>
            </a:r>
            <a:endParaRPr sz="2400" b="1">
              <a:latin typeface="Times New Roman"/>
              <a:ea typeface="Times New Roman"/>
              <a:cs typeface="Times New Roman"/>
              <a:sym typeface="Times New Roman"/>
            </a:endParaRPr>
          </a:p>
          <a:p>
            <a:pPr marL="381000" marR="38100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The system does not restart the conversation. It refines the existing answer.</a:t>
            </a:r>
            <a:endParaRPr sz="2400">
              <a:latin typeface="Times New Roman"/>
              <a:ea typeface="Times New Roman"/>
              <a:cs typeface="Times New Roman"/>
              <a:sym typeface="Times New Roman"/>
            </a:endParaRPr>
          </a:p>
          <a:p>
            <a:pPr marL="0" lvl="0" indent="0" algn="l" rtl="0">
              <a:lnSpc>
                <a:spcPct val="100000"/>
              </a:lnSpc>
              <a:spcBef>
                <a:spcPts val="1400"/>
              </a:spcBef>
              <a:spcAft>
                <a:spcPts val="0"/>
              </a:spcAft>
              <a:buClr>
                <a:schemeClr val="dk1"/>
              </a:buClr>
              <a:buSzPts val="1100"/>
              <a:buFont typeface="Arial"/>
              <a:buNone/>
            </a:pPr>
            <a:r>
              <a:rPr lang="en-US" sz="2400" b="1">
                <a:latin typeface="Times New Roman"/>
                <a:ea typeface="Times New Roman"/>
                <a:cs typeface="Times New Roman"/>
                <a:sym typeface="Times New Roman"/>
              </a:rPr>
              <a:t>Visual flow</a:t>
            </a:r>
            <a:endParaRPr sz="2400" b="1">
              <a:latin typeface="Times New Roman"/>
              <a:ea typeface="Times New Roman"/>
              <a:cs typeface="Times New Roman"/>
              <a:sym typeface="Times New Roman"/>
            </a:endParaRPr>
          </a:p>
          <a:p>
            <a:pPr marL="228600" lvl="0" indent="-50800" algn="l" rtl="0">
              <a:lnSpc>
                <a:spcPct val="100000"/>
              </a:lnSpc>
              <a:spcBef>
                <a:spcPts val="400"/>
              </a:spcBef>
              <a:spcAft>
                <a:spcPts val="0"/>
              </a:spcAft>
              <a:buClr>
                <a:schemeClr val="dk1"/>
              </a:buClr>
              <a:buSzPts val="2380"/>
              <a:buNone/>
            </a:pP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USER QUERY</a:t>
            </a: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CONTROLLER</a:t>
            </a: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RETRIEVE</a:t>
            </a: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ANSWER v1</a:t>
            </a: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380"/>
              <a:buNone/>
            </a:pPr>
            <a:endParaRPr sz="2400">
              <a:latin typeface="Times New Roman"/>
              <a:ea typeface="Times New Roman"/>
              <a:cs typeface="Times New Roman"/>
              <a:sym typeface="Times New Roman"/>
            </a:endParaRPr>
          </a:p>
        </p:txBody>
      </p:sp>
      <p:sp>
        <p:nvSpPr>
          <p:cNvPr id="164" name="Google Shape;164;hc3857839a27095_0_92"/>
          <p:cNvSpPr txBox="1"/>
          <p:nvPr/>
        </p:nvSpPr>
        <p:spPr>
          <a:xfrm>
            <a:off x="4177800" y="2960650"/>
            <a:ext cx="4388100" cy="3021900"/>
          </a:xfrm>
          <a:prstGeom prst="rect">
            <a:avLst/>
          </a:prstGeom>
          <a:noFill/>
          <a:ln>
            <a:noFill/>
          </a:ln>
        </p:spPr>
        <p:txBody>
          <a:bodyPr spcFirstLastPara="1" wrap="square" lIns="91425" tIns="91425" rIns="91425" bIns="91425" anchor="t" anchorCtr="0">
            <a:noAutofit/>
          </a:bodyPr>
          <a:lstStyle/>
          <a:p>
            <a:pPr marL="228600" lvl="0" indent="-50800" algn="l" rtl="0">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228600" lvl="0" indent="-50800" algn="l" rtl="0">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NEW CONSTRAINT</a:t>
            </a:r>
            <a:endParaRPr sz="2400">
              <a:solidFill>
                <a:schemeClr val="dk1"/>
              </a:solidFill>
              <a:latin typeface="Times New Roman"/>
              <a:ea typeface="Times New Roman"/>
              <a:cs typeface="Times New Roman"/>
              <a:sym typeface="Times New Roman"/>
            </a:endParaRPr>
          </a:p>
          <a:p>
            <a:pPr marL="228600" lvl="0" indent="-50800" algn="l" rtl="0">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228600" lvl="0" indent="-50800" algn="l" rtl="0">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STATE PRESERVED</a:t>
            </a:r>
            <a:endParaRPr sz="2400">
              <a:solidFill>
                <a:schemeClr val="dk1"/>
              </a:solidFill>
              <a:latin typeface="Times New Roman"/>
              <a:ea typeface="Times New Roman"/>
              <a:cs typeface="Times New Roman"/>
              <a:sym typeface="Times New Roman"/>
            </a:endParaRPr>
          </a:p>
          <a:p>
            <a:pPr marL="228600" lvl="0" indent="-50800" algn="l" rtl="0">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228600" lvl="0" indent="-50800" algn="l" rtl="0">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TARGETED RETRIEVAL</a:t>
            </a:r>
            <a:endParaRPr sz="2400">
              <a:solidFill>
                <a:schemeClr val="dk1"/>
              </a:solidFill>
              <a:latin typeface="Times New Roman"/>
              <a:ea typeface="Times New Roman"/>
              <a:cs typeface="Times New Roman"/>
              <a:sym typeface="Times New Roman"/>
            </a:endParaRPr>
          </a:p>
          <a:p>
            <a:pPr marL="228600" lvl="0" indent="-50800" algn="l" rtl="0">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ANSWER v2</a:t>
            </a:r>
            <a:endParaRPr sz="2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Tools and tech stack used</a:t>
            </a:r>
            <a:endParaRPr b="1">
              <a:solidFill>
                <a:srgbClr val="704EA6"/>
              </a:solidFill>
            </a:endParaRPr>
          </a:p>
        </p:txBody>
      </p:sp>
      <p:sp>
        <p:nvSpPr>
          <p:cNvPr id="170" name="Google Shape;170;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graphicFrame>
        <p:nvGraphicFramePr>
          <p:cNvPr id="171" name="Google Shape;171;p6"/>
          <p:cNvGraphicFramePr/>
          <p:nvPr/>
        </p:nvGraphicFramePr>
        <p:xfrm>
          <a:off x="952500" y="1624100"/>
          <a:ext cx="10287000" cy="4800240"/>
        </p:xfrm>
        <a:graphic>
          <a:graphicData uri="http://schemas.openxmlformats.org/drawingml/2006/table">
            <a:tbl>
              <a:tblPr>
                <a:noFill/>
                <a:tableStyleId>{686A7297-AFFE-4123-929A-EA93B868DDA5}</a:tableStyleId>
              </a:tblPr>
              <a:tblGrid>
                <a:gridCol w="3429000"/>
                <a:gridCol w="3429000"/>
                <a:gridCol w="3429000"/>
              </a:tblGrid>
              <a:tr h="381000">
                <a:tc>
                  <a:txBody>
                    <a:bodyPr/>
                    <a:lstStyle/>
                    <a:p>
                      <a:pPr marL="0" lvl="0" indent="0" algn="ctr" rtl="0">
                        <a:lnSpc>
                          <a:spcPct val="115000"/>
                        </a:lnSpc>
                        <a:spcBef>
                          <a:spcPts val="0"/>
                        </a:spcBef>
                        <a:spcAft>
                          <a:spcPts val="0"/>
                        </a:spcAft>
                        <a:buNone/>
                      </a:pPr>
                      <a:r>
                        <a:rPr lang="en-US" b="1"/>
                        <a:t>Category</a:t>
                      </a:r>
                      <a:endParaRPr b="1"/>
                    </a:p>
                  </a:txBody>
                  <a:tcPr marL="91425" marR="91425" marT="91425" marB="91425"/>
                </a:tc>
                <a:tc>
                  <a:txBody>
                    <a:bodyPr/>
                    <a:lstStyle/>
                    <a:p>
                      <a:pPr marL="0" lvl="0" indent="0" algn="ctr" rtl="0">
                        <a:spcBef>
                          <a:spcPts val="0"/>
                        </a:spcBef>
                        <a:spcAft>
                          <a:spcPts val="0"/>
                        </a:spcAft>
                        <a:buNone/>
                      </a:pPr>
                      <a:r>
                        <a:rPr lang="en-US" sz="1700" b="1"/>
                        <a:t>Technology </a:t>
                      </a:r>
                      <a:endParaRPr sz="1700" b="1"/>
                    </a:p>
                  </a:txBody>
                  <a:tcPr marL="91425" marR="91425" marT="91425" marB="91425"/>
                </a:tc>
                <a:tc>
                  <a:txBody>
                    <a:bodyPr/>
                    <a:lstStyle/>
                    <a:p>
                      <a:pPr marL="0" lvl="0" indent="0" algn="ctr" rtl="0">
                        <a:spcBef>
                          <a:spcPts val="0"/>
                        </a:spcBef>
                        <a:spcAft>
                          <a:spcPts val="0"/>
                        </a:spcAft>
                        <a:buNone/>
                      </a:pPr>
                      <a:r>
                        <a:rPr lang="en-US" sz="1700" b="1"/>
                        <a:t>Purpose </a:t>
                      </a:r>
                      <a:endParaRPr sz="1700" b="1"/>
                    </a:p>
                  </a:txBody>
                  <a:tcPr marL="91425" marR="91425" marT="91425" marB="91425"/>
                </a:tc>
              </a:tr>
              <a:tr h="381000">
                <a:tc>
                  <a:txBody>
                    <a:bodyPr/>
                    <a:lstStyle/>
                    <a:p>
                      <a:pPr marL="0" lvl="0" indent="0" algn="l" rtl="0">
                        <a:spcBef>
                          <a:spcPts val="0"/>
                        </a:spcBef>
                        <a:spcAft>
                          <a:spcPts val="0"/>
                        </a:spcAft>
                        <a:buNone/>
                      </a:pPr>
                      <a:r>
                        <a:rPr lang="en-US"/>
                        <a:t>Programming </a:t>
                      </a:r>
                      <a:endParaRPr/>
                    </a:p>
                  </a:txBody>
                  <a:tcPr marL="91425" marR="91425" marT="91425" marB="91425"/>
                </a:tc>
                <a:tc>
                  <a:txBody>
                    <a:bodyPr/>
                    <a:lstStyle/>
                    <a:p>
                      <a:pPr marL="0" lvl="0" indent="0" algn="l" rtl="0">
                        <a:spcBef>
                          <a:spcPts val="0"/>
                        </a:spcBef>
                        <a:spcAft>
                          <a:spcPts val="0"/>
                        </a:spcAft>
                        <a:buNone/>
                      </a:pPr>
                      <a:r>
                        <a:rPr lang="en-US"/>
                        <a:t>Python </a:t>
                      </a:r>
                      <a:endParaRPr/>
                    </a:p>
                  </a:txBody>
                  <a:tcPr marL="91425" marR="91425" marT="91425" marB="91425"/>
                </a:tc>
                <a:tc>
                  <a:txBody>
                    <a:bodyPr/>
                    <a:lstStyle/>
                    <a:p>
                      <a:pPr marL="0" lvl="0" indent="0" algn="l" rtl="0">
                        <a:spcBef>
                          <a:spcPts val="0"/>
                        </a:spcBef>
                        <a:spcAft>
                          <a:spcPts val="0"/>
                        </a:spcAft>
                        <a:buNone/>
                      </a:pPr>
                      <a:r>
                        <a:rPr lang="en-US"/>
                        <a:t>Core application and RAG pipeline </a:t>
                      </a:r>
                      <a:endParaRPr/>
                    </a:p>
                  </a:txBody>
                  <a:tcPr marL="91425" marR="91425" marT="91425" marB="91425"/>
                </a:tc>
              </a:tr>
              <a:tr h="381000">
                <a:tc>
                  <a:txBody>
                    <a:bodyPr/>
                    <a:lstStyle/>
                    <a:p>
                      <a:pPr marL="0" lvl="0" indent="0" algn="l" rtl="0">
                        <a:spcBef>
                          <a:spcPts val="0"/>
                        </a:spcBef>
                        <a:spcAft>
                          <a:spcPts val="0"/>
                        </a:spcAft>
                        <a:buNone/>
                      </a:pPr>
                      <a:r>
                        <a:rPr lang="en-US"/>
                        <a:t>Web Framework </a:t>
                      </a:r>
                      <a:endParaRPr/>
                    </a:p>
                  </a:txBody>
                  <a:tcPr marL="91425" marR="91425" marT="91425" marB="91425"/>
                </a:tc>
                <a:tc>
                  <a:txBody>
                    <a:bodyPr/>
                    <a:lstStyle/>
                    <a:p>
                      <a:pPr marL="0" lvl="0" indent="0" algn="l" rtl="0">
                        <a:spcBef>
                          <a:spcPts val="0"/>
                        </a:spcBef>
                        <a:spcAft>
                          <a:spcPts val="0"/>
                        </a:spcAft>
                        <a:buNone/>
                      </a:pPr>
                      <a:r>
                        <a:rPr lang="en-US"/>
                        <a:t>Flask </a:t>
                      </a:r>
                      <a:endParaRPr/>
                    </a:p>
                  </a:txBody>
                  <a:tcPr marL="91425" marR="91425" marT="91425" marB="91425"/>
                </a:tc>
                <a:tc>
                  <a:txBody>
                    <a:bodyPr/>
                    <a:lstStyle/>
                    <a:p>
                      <a:pPr marL="0" lvl="0" indent="0" algn="l" rtl="0">
                        <a:spcBef>
                          <a:spcPts val="0"/>
                        </a:spcBef>
                        <a:spcAft>
                          <a:spcPts val="0"/>
                        </a:spcAft>
                        <a:buNone/>
                      </a:pPr>
                      <a:r>
                        <a:rPr lang="en-US"/>
                        <a:t>Backend, API and application routing </a:t>
                      </a:r>
                      <a:endParaRPr/>
                    </a:p>
                  </a:txBody>
                  <a:tcPr marL="91425" marR="91425" marT="91425" marB="91425"/>
                </a:tc>
              </a:tr>
              <a:tr h="381000">
                <a:tc>
                  <a:txBody>
                    <a:bodyPr/>
                    <a:lstStyle/>
                    <a:p>
                      <a:pPr marL="0" lvl="0" indent="0" algn="l" rtl="0">
                        <a:spcBef>
                          <a:spcPts val="0"/>
                        </a:spcBef>
                        <a:spcAft>
                          <a:spcPts val="0"/>
                        </a:spcAft>
                        <a:buNone/>
                      </a:pPr>
                      <a:r>
                        <a:rPr lang="en-US"/>
                        <a:t>Frontend </a:t>
                      </a:r>
                      <a:endParaRPr/>
                    </a:p>
                  </a:txBody>
                  <a:tcPr marL="91425" marR="91425" marT="91425" marB="91425"/>
                </a:tc>
                <a:tc>
                  <a:txBody>
                    <a:bodyPr/>
                    <a:lstStyle/>
                    <a:p>
                      <a:pPr marL="0" lvl="0" indent="0" algn="l" rtl="0">
                        <a:spcBef>
                          <a:spcPts val="0"/>
                        </a:spcBef>
                        <a:spcAft>
                          <a:spcPts val="0"/>
                        </a:spcAft>
                        <a:buNone/>
                      </a:pPr>
                      <a:r>
                        <a:rPr lang="en-US"/>
                        <a:t>HTML, CSS, JavaScript </a:t>
                      </a:r>
                      <a:endParaRPr/>
                    </a:p>
                  </a:txBody>
                  <a:tcPr marL="91425" marR="91425" marT="91425" marB="91425"/>
                </a:tc>
                <a:tc>
                  <a:txBody>
                    <a:bodyPr/>
                    <a:lstStyle/>
                    <a:p>
                      <a:pPr marL="0" lvl="0" indent="0" algn="l" rtl="0">
                        <a:spcBef>
                          <a:spcPts val="0"/>
                        </a:spcBef>
                        <a:spcAft>
                          <a:spcPts val="0"/>
                        </a:spcAft>
                        <a:buNone/>
                      </a:pPr>
                      <a:r>
                        <a:rPr lang="en-US"/>
                        <a:t>Interactive chat interface </a:t>
                      </a:r>
                      <a:endParaRPr/>
                    </a:p>
                  </a:txBody>
                  <a:tcPr marL="91425" marR="91425" marT="91425" marB="91425"/>
                </a:tc>
              </a:tr>
              <a:tr h="381000">
                <a:tc>
                  <a:txBody>
                    <a:bodyPr/>
                    <a:lstStyle/>
                    <a:p>
                      <a:pPr marL="0" lvl="0" indent="0" algn="l" rtl="0">
                        <a:spcBef>
                          <a:spcPts val="0"/>
                        </a:spcBef>
                        <a:spcAft>
                          <a:spcPts val="0"/>
                        </a:spcAft>
                        <a:buNone/>
                      </a:pPr>
                      <a:r>
                        <a:rPr lang="en-US"/>
                        <a:t>Generative AI </a:t>
                      </a:r>
                      <a:endParaRPr/>
                    </a:p>
                  </a:txBody>
                  <a:tcPr marL="91425" marR="91425" marT="91425" marB="91425"/>
                </a:tc>
                <a:tc>
                  <a:txBody>
                    <a:bodyPr/>
                    <a:lstStyle/>
                    <a:p>
                      <a:pPr marL="0" lvl="0" indent="0" algn="l" rtl="0">
                        <a:spcBef>
                          <a:spcPts val="0"/>
                        </a:spcBef>
                        <a:spcAft>
                          <a:spcPts val="0"/>
                        </a:spcAft>
                        <a:buNone/>
                      </a:pPr>
                      <a:r>
                        <a:rPr lang="en-US"/>
                        <a:t>Google Gemini API </a:t>
                      </a:r>
                      <a:endParaRPr/>
                    </a:p>
                  </a:txBody>
                  <a:tcPr marL="91425" marR="91425" marT="91425" marB="91425"/>
                </a:tc>
                <a:tc>
                  <a:txBody>
                    <a:bodyPr/>
                    <a:lstStyle/>
                    <a:p>
                      <a:pPr marL="0" lvl="0" indent="0" algn="l" rtl="0">
                        <a:spcBef>
                          <a:spcPts val="0"/>
                        </a:spcBef>
                        <a:spcAft>
                          <a:spcPts val="0"/>
                        </a:spcAft>
                        <a:buNone/>
                      </a:pPr>
                      <a:r>
                        <a:rPr lang="en-US"/>
                        <a:t>Grounded answer generation </a:t>
                      </a:r>
                      <a:endParaRPr/>
                    </a:p>
                  </a:txBody>
                  <a:tcPr marL="91425" marR="91425" marT="91425" marB="91425"/>
                </a:tc>
              </a:tr>
              <a:tr h="381000">
                <a:tc>
                  <a:txBody>
                    <a:bodyPr/>
                    <a:lstStyle/>
                    <a:p>
                      <a:pPr marL="0" lvl="0" indent="0" algn="l" rtl="0">
                        <a:spcBef>
                          <a:spcPts val="0"/>
                        </a:spcBef>
                        <a:spcAft>
                          <a:spcPts val="0"/>
                        </a:spcAft>
                        <a:buNone/>
                      </a:pPr>
                      <a:r>
                        <a:rPr lang="en-US"/>
                        <a:t>Vector Retrieval </a:t>
                      </a:r>
                      <a:endParaRPr/>
                    </a:p>
                  </a:txBody>
                  <a:tcPr marL="91425" marR="91425" marT="91425" marB="91425"/>
                </a:tc>
                <a:tc>
                  <a:txBody>
                    <a:bodyPr/>
                    <a:lstStyle/>
                    <a:p>
                      <a:pPr marL="0" lvl="0" indent="0" algn="l" rtl="0">
                        <a:spcBef>
                          <a:spcPts val="0"/>
                        </a:spcBef>
                        <a:spcAft>
                          <a:spcPts val="0"/>
                        </a:spcAft>
                        <a:buNone/>
                      </a:pPr>
                      <a:r>
                        <a:rPr lang="en-US"/>
                        <a:t>FAISS </a:t>
                      </a:r>
                      <a:endParaRPr/>
                    </a:p>
                  </a:txBody>
                  <a:tcPr marL="91425" marR="91425" marT="91425" marB="91425"/>
                </a:tc>
                <a:tc>
                  <a:txBody>
                    <a:bodyPr/>
                    <a:lstStyle/>
                    <a:p>
                      <a:pPr marL="0" lvl="0" indent="0" algn="l" rtl="0">
                        <a:spcBef>
                          <a:spcPts val="0"/>
                        </a:spcBef>
                        <a:spcAft>
                          <a:spcPts val="0"/>
                        </a:spcAft>
                        <a:buNone/>
                      </a:pPr>
                      <a:r>
                        <a:rPr lang="en-US"/>
                        <a:t>Semantic similarity search </a:t>
                      </a:r>
                      <a:endParaRPr/>
                    </a:p>
                  </a:txBody>
                  <a:tcPr marL="91425" marR="91425" marT="91425" marB="91425"/>
                </a:tc>
              </a:tr>
              <a:tr h="381000">
                <a:tc>
                  <a:txBody>
                    <a:bodyPr/>
                    <a:lstStyle/>
                    <a:p>
                      <a:pPr marL="0" lvl="0" indent="0" algn="l" rtl="0">
                        <a:spcBef>
                          <a:spcPts val="0"/>
                        </a:spcBef>
                        <a:spcAft>
                          <a:spcPts val="0"/>
                        </a:spcAft>
                        <a:buNone/>
                      </a:pPr>
                      <a:r>
                        <a:rPr lang="en-US"/>
                        <a:t>Keyword Retrieval </a:t>
                      </a:r>
                      <a:endParaRPr/>
                    </a:p>
                  </a:txBody>
                  <a:tcPr marL="91425" marR="91425" marT="91425" marB="91425"/>
                </a:tc>
                <a:tc>
                  <a:txBody>
                    <a:bodyPr/>
                    <a:lstStyle/>
                    <a:p>
                      <a:pPr marL="0" lvl="0" indent="0" algn="l" rtl="0">
                        <a:spcBef>
                          <a:spcPts val="0"/>
                        </a:spcBef>
                        <a:spcAft>
                          <a:spcPts val="0"/>
                        </a:spcAft>
                        <a:buNone/>
                      </a:pPr>
                      <a:r>
                        <a:rPr lang="en-US"/>
                        <a:t>BM25 </a:t>
                      </a:r>
                      <a:endParaRPr/>
                    </a:p>
                  </a:txBody>
                  <a:tcPr marL="91425" marR="91425" marT="91425" marB="91425"/>
                </a:tc>
                <a:tc>
                  <a:txBody>
                    <a:bodyPr/>
                    <a:lstStyle/>
                    <a:p>
                      <a:pPr marL="0" lvl="0" indent="0" algn="l" rtl="0">
                        <a:spcBef>
                          <a:spcPts val="0"/>
                        </a:spcBef>
                        <a:spcAft>
                          <a:spcPts val="0"/>
                        </a:spcAft>
                        <a:buNone/>
                      </a:pPr>
                      <a:r>
                        <a:rPr lang="en-US"/>
                        <a:t>Exact keyword-based retrieval </a:t>
                      </a:r>
                      <a:endParaRPr/>
                    </a:p>
                  </a:txBody>
                  <a:tcPr marL="91425" marR="91425" marT="91425" marB="91425"/>
                </a:tc>
              </a:tr>
              <a:tr h="381000">
                <a:tc>
                  <a:txBody>
                    <a:bodyPr/>
                    <a:lstStyle/>
                    <a:p>
                      <a:pPr marL="0" lvl="0" indent="0" algn="l" rtl="0">
                        <a:spcBef>
                          <a:spcPts val="0"/>
                        </a:spcBef>
                        <a:spcAft>
                          <a:spcPts val="0"/>
                        </a:spcAft>
                        <a:buNone/>
                      </a:pPr>
                      <a:r>
                        <a:rPr lang="en-US"/>
                        <a:t>Retrieval Fusion </a:t>
                      </a:r>
                      <a:endParaRPr/>
                    </a:p>
                  </a:txBody>
                  <a:tcPr marL="91425" marR="91425" marT="91425" marB="91425"/>
                </a:tc>
                <a:tc>
                  <a:txBody>
                    <a:bodyPr/>
                    <a:lstStyle/>
                    <a:p>
                      <a:pPr marL="0" lvl="0" indent="0" algn="l" rtl="0">
                        <a:spcBef>
                          <a:spcPts val="0"/>
                        </a:spcBef>
                        <a:spcAft>
                          <a:spcPts val="0"/>
                        </a:spcAft>
                        <a:buNone/>
                      </a:pPr>
                      <a:r>
                        <a:rPr lang="en-US"/>
                        <a:t>RRF </a:t>
                      </a:r>
                      <a:endParaRPr/>
                    </a:p>
                  </a:txBody>
                  <a:tcPr marL="91425" marR="91425" marT="91425" marB="91425"/>
                </a:tc>
                <a:tc>
                  <a:txBody>
                    <a:bodyPr/>
                    <a:lstStyle/>
                    <a:p>
                      <a:pPr marL="0" lvl="0" indent="0" algn="l" rtl="0">
                        <a:spcBef>
                          <a:spcPts val="0"/>
                        </a:spcBef>
                        <a:spcAft>
                          <a:spcPts val="0"/>
                        </a:spcAft>
                        <a:buNone/>
                      </a:pPr>
                      <a:r>
                        <a:rPr lang="en-US"/>
                        <a:t>Combines FAISS + BM25 results </a:t>
                      </a:r>
                      <a:endParaRPr/>
                    </a:p>
                  </a:txBody>
                  <a:tcPr marL="91425" marR="91425" marT="91425" marB="91425"/>
                </a:tc>
              </a:tr>
              <a:tr h="381000">
                <a:tc>
                  <a:txBody>
                    <a:bodyPr/>
                    <a:lstStyle/>
                    <a:p>
                      <a:pPr marL="0" lvl="0" indent="0" algn="l" rtl="0">
                        <a:spcBef>
                          <a:spcPts val="0"/>
                        </a:spcBef>
                        <a:spcAft>
                          <a:spcPts val="0"/>
                        </a:spcAft>
                        <a:buNone/>
                      </a:pPr>
                      <a:r>
                        <a:rPr lang="en-US"/>
                        <a:t>Reranking </a:t>
                      </a:r>
                      <a:endParaRPr/>
                    </a:p>
                  </a:txBody>
                  <a:tcPr marL="91425" marR="91425" marT="91425" marB="91425"/>
                </a:tc>
                <a:tc>
                  <a:txBody>
                    <a:bodyPr/>
                    <a:lstStyle/>
                    <a:p>
                      <a:pPr marL="0" lvl="0" indent="0" algn="l" rtl="0">
                        <a:spcBef>
                          <a:spcPts val="0"/>
                        </a:spcBef>
                        <a:spcAft>
                          <a:spcPts val="0"/>
                        </a:spcAft>
                        <a:buNone/>
                      </a:pPr>
                      <a:r>
                        <a:rPr lang="en-US"/>
                        <a:t>Reranker </a:t>
                      </a:r>
                      <a:endParaRPr/>
                    </a:p>
                  </a:txBody>
                  <a:tcPr marL="91425" marR="91425" marT="91425" marB="91425"/>
                </a:tc>
                <a:tc>
                  <a:txBody>
                    <a:bodyPr/>
                    <a:lstStyle/>
                    <a:p>
                      <a:pPr marL="0" lvl="0" indent="0" algn="l" rtl="0">
                        <a:spcBef>
                          <a:spcPts val="0"/>
                        </a:spcBef>
                        <a:spcAft>
                          <a:spcPts val="0"/>
                        </a:spcAft>
                        <a:buNone/>
                      </a:pPr>
                      <a:r>
                        <a:rPr lang="en-US"/>
                        <a:t>Improves relevance of retrieved chunks </a:t>
                      </a:r>
                      <a:endParaRPr/>
                    </a:p>
                  </a:txBody>
                  <a:tcPr marL="91425" marR="91425" marT="91425" marB="91425"/>
                </a:tc>
              </a:tr>
              <a:tr h="381000">
                <a:tc>
                  <a:txBody>
                    <a:bodyPr/>
                    <a:lstStyle/>
                    <a:p>
                      <a:pPr marL="0" lvl="0" indent="0" algn="l" rtl="0">
                        <a:spcBef>
                          <a:spcPts val="0"/>
                        </a:spcBef>
                        <a:spcAft>
                          <a:spcPts val="0"/>
                        </a:spcAft>
                        <a:buNone/>
                      </a:pPr>
                      <a:r>
                        <a:rPr lang="en-US"/>
                        <a:t>Evidence </a:t>
                      </a:r>
                      <a:endParaRPr/>
                    </a:p>
                  </a:txBody>
                  <a:tcPr marL="91425" marR="91425" marT="91425" marB="91425"/>
                </a:tc>
                <a:tc>
                  <a:txBody>
                    <a:bodyPr/>
                    <a:lstStyle/>
                    <a:p>
                      <a:pPr marL="0" lvl="0" indent="0" algn="l" rtl="0">
                        <a:spcBef>
                          <a:spcPts val="0"/>
                        </a:spcBef>
                        <a:spcAft>
                          <a:spcPts val="0"/>
                        </a:spcAft>
                        <a:buNone/>
                      </a:pPr>
                      <a:r>
                        <a:rPr lang="en-US"/>
                        <a:t>Evidence Filtering </a:t>
                      </a:r>
                      <a:endParaRPr/>
                    </a:p>
                  </a:txBody>
                  <a:tcPr marL="91425" marR="91425" marT="91425" marB="91425"/>
                </a:tc>
                <a:tc>
                  <a:txBody>
                    <a:bodyPr/>
                    <a:lstStyle/>
                    <a:p>
                      <a:pPr marL="0" lvl="0" indent="0" algn="l" rtl="0">
                        <a:spcBef>
                          <a:spcPts val="0"/>
                        </a:spcBef>
                        <a:spcAft>
                          <a:spcPts val="0"/>
                        </a:spcAft>
                        <a:buNone/>
                      </a:pPr>
                      <a:r>
                        <a:rPr lang="en-US"/>
                        <a:t>Removes less relevant context </a:t>
                      </a:r>
                      <a:endParaRPr/>
                    </a:p>
                  </a:txBody>
                  <a:tcPr marL="91425" marR="91425" marT="91425" marB="91425"/>
                </a:tc>
              </a:tr>
              <a:tr h="381000">
                <a:tc>
                  <a:txBody>
                    <a:bodyPr/>
                    <a:lstStyle/>
                    <a:p>
                      <a:pPr marL="0" lvl="0" indent="0" algn="l" rtl="0">
                        <a:spcBef>
                          <a:spcPts val="0"/>
                        </a:spcBef>
                        <a:spcAft>
                          <a:spcPts val="0"/>
                        </a:spcAft>
                        <a:buNone/>
                      </a:pPr>
                      <a:r>
                        <a:rPr lang="en-US"/>
                        <a:t>Streaming </a:t>
                      </a:r>
                      <a:endParaRPr/>
                    </a:p>
                  </a:txBody>
                  <a:tcPr marL="91425" marR="91425" marT="91425" marB="91425"/>
                </a:tc>
                <a:tc>
                  <a:txBody>
                    <a:bodyPr/>
                    <a:lstStyle/>
                    <a:p>
                      <a:pPr marL="0" lvl="0" indent="0" algn="l" rtl="0">
                        <a:spcBef>
                          <a:spcPts val="0"/>
                        </a:spcBef>
                        <a:spcAft>
                          <a:spcPts val="0"/>
                        </a:spcAft>
                        <a:buNone/>
                      </a:pPr>
                      <a:r>
                        <a:rPr lang="en-US"/>
                        <a:t>Server-Sent Events (SSE) </a:t>
                      </a:r>
                      <a:endParaRPr/>
                    </a:p>
                  </a:txBody>
                  <a:tcPr marL="91425" marR="91425" marT="91425" marB="91425"/>
                </a:tc>
                <a:tc>
                  <a:txBody>
                    <a:bodyPr/>
                    <a:lstStyle/>
                    <a:p>
                      <a:pPr marL="0" lvl="0" indent="0" algn="l" rtl="0">
                        <a:spcBef>
                          <a:spcPts val="0"/>
                        </a:spcBef>
                        <a:spcAft>
                          <a:spcPts val="0"/>
                        </a:spcAft>
                        <a:buNone/>
                      </a:pPr>
                      <a:r>
                        <a:rPr lang="en-US"/>
                        <a:t>Live incremental response streaming </a:t>
                      </a:r>
                      <a:endParaRPr/>
                    </a:p>
                  </a:txBody>
                  <a:tcPr marL="91425" marR="91425" marT="91425" marB="91425"/>
                </a:tc>
              </a:tr>
              <a:tr h="381000">
                <a:tc>
                  <a:txBody>
                    <a:bodyPr/>
                    <a:lstStyle/>
                    <a:p>
                      <a:pPr marL="0" lvl="0" indent="0" algn="l" rtl="0">
                        <a:spcBef>
                          <a:spcPts val="0"/>
                        </a:spcBef>
                        <a:spcAft>
                          <a:spcPts val="0"/>
                        </a:spcAft>
                        <a:buNone/>
                      </a:pPr>
                      <a:r>
                        <a:rPr lang="en-US"/>
                        <a:t>Testing </a:t>
                      </a:r>
                      <a:endParaRPr/>
                    </a:p>
                  </a:txBody>
                  <a:tcPr marL="91425" marR="91425" marT="91425" marB="91425"/>
                </a:tc>
                <a:tc>
                  <a:txBody>
                    <a:bodyPr/>
                    <a:lstStyle/>
                    <a:p>
                      <a:pPr marL="0" lvl="0" indent="0" algn="l" rtl="0">
                        <a:spcBef>
                          <a:spcPts val="0"/>
                        </a:spcBef>
                        <a:spcAft>
                          <a:spcPts val="0"/>
                        </a:spcAft>
                        <a:buNone/>
                      </a:pPr>
                      <a:r>
                        <a:rPr lang="en-US"/>
                        <a:t>Pytest </a:t>
                      </a:r>
                      <a:endParaRPr/>
                    </a:p>
                  </a:txBody>
                  <a:tcPr marL="91425" marR="91425" marT="91425" marB="91425"/>
                </a:tc>
                <a:tc>
                  <a:txBody>
                    <a:bodyPr/>
                    <a:lstStyle/>
                    <a:p>
                      <a:pPr marL="0" lvl="0" indent="0" algn="l" rtl="0">
                        <a:spcBef>
                          <a:spcPts val="0"/>
                        </a:spcBef>
                        <a:spcAft>
                          <a:spcPts val="0"/>
                        </a:spcAft>
                        <a:buNone/>
                      </a:pPr>
                      <a:r>
                        <a:rPr lang="en-US"/>
                        <a:t>Automated testing </a:t>
                      </a:r>
                      <a:endParaRPr/>
                    </a:p>
                  </a:txBody>
                  <a:tcPr marL="91425" marR="91425" marT="91425" marB="91425"/>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Impact &amp; Use case</a:t>
            </a:r>
            <a:endParaRPr b="1">
              <a:solidFill>
                <a:srgbClr val="704EA6"/>
              </a:solidFill>
            </a:endParaRPr>
          </a:p>
        </p:txBody>
      </p:sp>
      <p:sp>
        <p:nvSpPr>
          <p:cNvPr id="177" name="Google Shape;177;p7"/>
          <p:cNvSpPr txBox="1">
            <a:spLocks noGrp="1"/>
          </p:cNvSpPr>
          <p:nvPr>
            <p:ph type="body" idx="1"/>
          </p:nvPr>
        </p:nvSpPr>
        <p:spPr>
          <a:xfrm>
            <a:off x="838200" y="1416675"/>
            <a:ext cx="10515600" cy="4760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2500">
                <a:latin typeface="Times New Roman"/>
                <a:ea typeface="Times New Roman"/>
                <a:cs typeface="Times New Roman"/>
                <a:sym typeface="Times New Roman"/>
              </a:rPr>
              <a:t>Our Streaming Live RAG system improves document-based conversational AI by:</a:t>
            </a:r>
            <a:endParaRPr sz="2500">
              <a:latin typeface="Times New Roman"/>
              <a:ea typeface="Times New Roman"/>
              <a:cs typeface="Times New Roman"/>
              <a:sym typeface="Times New Roman"/>
            </a:endParaRPr>
          </a:p>
          <a:p>
            <a:pPr marL="457200" lvl="0" indent="-387350" algn="l" rtl="0">
              <a:lnSpc>
                <a:spcPct val="115000"/>
              </a:lnSpc>
              <a:spcBef>
                <a:spcPts val="1200"/>
              </a:spcBef>
              <a:spcAft>
                <a:spcPts val="0"/>
              </a:spcAft>
              <a:buSzPts val="2500"/>
              <a:buChar char="●"/>
            </a:pPr>
            <a:r>
              <a:rPr lang="en-US" sz="2500">
                <a:latin typeface="Times New Roman"/>
                <a:ea typeface="Times New Roman"/>
                <a:cs typeface="Times New Roman"/>
                <a:sym typeface="Times New Roman"/>
              </a:rPr>
              <a:t>Reducing repeated processing through conversation-state preservation.</a:t>
            </a:r>
            <a:endParaRPr sz="2500">
              <a:latin typeface="Times New Roman"/>
              <a:ea typeface="Times New Roman"/>
              <a:cs typeface="Times New Roman"/>
              <a:sym typeface="Times New Roman"/>
            </a:endParaRPr>
          </a:p>
          <a:p>
            <a:pPr marL="457200" lvl="0" indent="-387350" algn="l" rtl="0">
              <a:lnSpc>
                <a:spcPct val="115000"/>
              </a:lnSpc>
              <a:spcBef>
                <a:spcPts val="0"/>
              </a:spcBef>
              <a:spcAft>
                <a:spcPts val="0"/>
              </a:spcAft>
              <a:buSzPts val="2500"/>
              <a:buChar char="●"/>
            </a:pPr>
            <a:r>
              <a:rPr lang="en-US" sz="2500">
                <a:latin typeface="Times New Roman"/>
                <a:ea typeface="Times New Roman"/>
                <a:cs typeface="Times New Roman"/>
                <a:sym typeface="Times New Roman"/>
              </a:rPr>
              <a:t>Handling evolving user requirements using state-preserving refinement.</a:t>
            </a:r>
            <a:endParaRPr sz="2500">
              <a:latin typeface="Times New Roman"/>
              <a:ea typeface="Times New Roman"/>
              <a:cs typeface="Times New Roman"/>
              <a:sym typeface="Times New Roman"/>
            </a:endParaRPr>
          </a:p>
          <a:p>
            <a:pPr marL="457200" lvl="0" indent="-387350" algn="l" rtl="0">
              <a:lnSpc>
                <a:spcPct val="115000"/>
              </a:lnSpc>
              <a:spcBef>
                <a:spcPts val="0"/>
              </a:spcBef>
              <a:spcAft>
                <a:spcPts val="0"/>
              </a:spcAft>
              <a:buSzPts val="2500"/>
              <a:buChar char="●"/>
            </a:pPr>
            <a:r>
              <a:rPr lang="en-US" sz="2500">
                <a:latin typeface="Times New Roman"/>
                <a:ea typeface="Times New Roman"/>
                <a:cs typeface="Times New Roman"/>
                <a:sym typeface="Times New Roman"/>
              </a:rPr>
              <a:t>Improving retrieval relevance through FAISS + BM25 + RRF.</a:t>
            </a:r>
            <a:endParaRPr sz="2500">
              <a:latin typeface="Times New Roman"/>
              <a:ea typeface="Times New Roman"/>
              <a:cs typeface="Times New Roman"/>
              <a:sym typeface="Times New Roman"/>
            </a:endParaRPr>
          </a:p>
          <a:p>
            <a:pPr marL="457200" lvl="0" indent="-387350" algn="l" rtl="0">
              <a:lnSpc>
                <a:spcPct val="115000"/>
              </a:lnSpc>
              <a:spcBef>
                <a:spcPts val="0"/>
              </a:spcBef>
              <a:spcAft>
                <a:spcPts val="0"/>
              </a:spcAft>
              <a:buSzPts val="2500"/>
              <a:buChar char="●"/>
            </a:pPr>
            <a:r>
              <a:rPr lang="en-US" sz="2500">
                <a:latin typeface="Times New Roman"/>
                <a:ea typeface="Times New Roman"/>
                <a:cs typeface="Times New Roman"/>
                <a:sym typeface="Times New Roman"/>
              </a:rPr>
              <a:t>Reducing irrelevant context using reranking and evidence filtering.</a:t>
            </a:r>
            <a:endParaRPr sz="2500">
              <a:latin typeface="Times New Roman"/>
              <a:ea typeface="Times New Roman"/>
              <a:cs typeface="Times New Roman"/>
              <a:sym typeface="Times New Roman"/>
            </a:endParaRPr>
          </a:p>
          <a:p>
            <a:pPr marL="457200" lvl="0" indent="-387350" algn="l" rtl="0">
              <a:lnSpc>
                <a:spcPct val="115000"/>
              </a:lnSpc>
              <a:spcBef>
                <a:spcPts val="0"/>
              </a:spcBef>
              <a:spcAft>
                <a:spcPts val="0"/>
              </a:spcAft>
              <a:buSzPts val="2500"/>
              <a:buChar char="●"/>
            </a:pPr>
            <a:r>
              <a:rPr lang="en-US" sz="2500">
                <a:latin typeface="Times New Roman"/>
                <a:ea typeface="Times New Roman"/>
                <a:cs typeface="Times New Roman"/>
                <a:sym typeface="Times New Roman"/>
              </a:rPr>
              <a:t>Supporting complex questions through multi-intent decomposition.</a:t>
            </a:r>
            <a:endParaRPr sz="2500">
              <a:latin typeface="Times New Roman"/>
              <a:ea typeface="Times New Roman"/>
              <a:cs typeface="Times New Roman"/>
              <a:sym typeface="Times New Roman"/>
            </a:endParaRPr>
          </a:p>
          <a:p>
            <a:pPr marL="457200" lvl="0" indent="-387350" algn="l" rtl="0">
              <a:lnSpc>
                <a:spcPct val="115000"/>
              </a:lnSpc>
              <a:spcBef>
                <a:spcPts val="0"/>
              </a:spcBef>
              <a:spcAft>
                <a:spcPts val="0"/>
              </a:spcAft>
              <a:buSzPts val="2500"/>
              <a:buChar char="●"/>
            </a:pPr>
            <a:r>
              <a:rPr lang="en-US" sz="2500">
                <a:latin typeface="Times New Roman"/>
                <a:ea typeface="Times New Roman"/>
                <a:cs typeface="Times New Roman"/>
                <a:sym typeface="Times New Roman"/>
              </a:rPr>
              <a:t>Improving user experience through live response streaming.</a:t>
            </a:r>
            <a:endParaRPr sz="2500">
              <a:latin typeface="Times New Roman"/>
              <a:ea typeface="Times New Roman"/>
              <a:cs typeface="Times New Roman"/>
              <a:sym typeface="Times New Roman"/>
            </a:endParaRPr>
          </a:p>
          <a:p>
            <a:pPr marL="457200" lvl="0" indent="-387350" algn="l" rtl="0">
              <a:lnSpc>
                <a:spcPct val="115000"/>
              </a:lnSpc>
              <a:spcBef>
                <a:spcPts val="0"/>
              </a:spcBef>
              <a:spcAft>
                <a:spcPts val="0"/>
              </a:spcAft>
              <a:buSzPts val="2500"/>
              <a:buChar char="●"/>
            </a:pPr>
            <a:r>
              <a:rPr lang="en-US" sz="2500">
                <a:latin typeface="Times New Roman"/>
                <a:ea typeface="Times New Roman"/>
                <a:cs typeface="Times New Roman"/>
                <a:sym typeface="Times New Roman"/>
              </a:rPr>
              <a:t>Maintaining answer evolution using answer versions and conversation state.</a:t>
            </a:r>
            <a:endParaRPr sz="2500">
              <a:latin typeface="Times New Roman"/>
              <a:ea typeface="Times New Roman"/>
              <a:cs typeface="Times New Roman"/>
              <a:sym typeface="Times New Roman"/>
            </a:endParaRPr>
          </a:p>
          <a:p>
            <a:pPr marL="228600" lvl="0" indent="-50800" algn="l" rtl="0">
              <a:lnSpc>
                <a:spcPct val="90000"/>
              </a:lnSpc>
              <a:spcBef>
                <a:spcPts val="1200"/>
              </a:spcBef>
              <a:spcAft>
                <a:spcPts val="0"/>
              </a:spcAft>
              <a:buClr>
                <a:schemeClr val="dk1"/>
              </a:buClr>
              <a:buSzPts val="2800"/>
              <a:buNone/>
            </a:pPr>
            <a:endParaRPr sz="25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h3ec38cbf6a3e40f2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Impact &amp; Use case</a:t>
            </a:r>
            <a:endParaRPr b="1">
              <a:solidFill>
                <a:srgbClr val="704EA6"/>
              </a:solidFill>
            </a:endParaRPr>
          </a:p>
        </p:txBody>
      </p:sp>
      <p:sp>
        <p:nvSpPr>
          <p:cNvPr id="183" name="Google Shape;183;h3ec38cbf6a3e40f2_0_1"/>
          <p:cNvSpPr txBox="1">
            <a:spLocks noGrp="1"/>
          </p:cNvSpPr>
          <p:nvPr>
            <p:ph type="body" idx="1"/>
          </p:nvPr>
        </p:nvSpPr>
        <p:spPr>
          <a:xfrm>
            <a:off x="838200" y="1325500"/>
            <a:ext cx="10515600" cy="4851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2400" b="1">
                <a:latin typeface="Times New Roman"/>
                <a:ea typeface="Times New Roman"/>
                <a:cs typeface="Times New Roman"/>
                <a:sym typeface="Times New Roman"/>
              </a:rPr>
              <a:t>Use Cases</a:t>
            </a:r>
            <a:endParaRPr sz="2400" b="1">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a:t>
            </a:r>
            <a:r>
              <a:rPr lang="en-US" sz="2400" b="1">
                <a:latin typeface="Times New Roman"/>
                <a:ea typeface="Times New Roman"/>
                <a:cs typeface="Times New Roman"/>
                <a:sym typeface="Times New Roman"/>
              </a:rPr>
              <a:t> Enterprise Knowledge Management</a:t>
            </a:r>
            <a:endParaRPr sz="2400" b="1">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Employees can ask questions about internal policies, SRS documents, manuals, and organizational knowledge, then refine the answer without restarting the conversation.</a:t>
            </a:r>
            <a:endParaRPr sz="24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Customer Support</a:t>
            </a:r>
            <a:endParaRPr sz="2400" b="1">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Customers can begin with a broad question and progressively add constraints.</a:t>
            </a:r>
            <a:endParaRPr sz="24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Example:</a:t>
            </a:r>
            <a:endParaRPr sz="2400">
              <a:latin typeface="Times New Roman"/>
              <a:ea typeface="Times New Roman"/>
              <a:cs typeface="Times New Roman"/>
              <a:sym typeface="Times New Roman"/>
            </a:endParaRPr>
          </a:p>
          <a:p>
            <a:pPr marL="381000" marR="381000" lvl="0" indent="0" algn="l" rtl="0">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“What services are available?”</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 “Tell me only about premium services.”</a:t>
            </a:r>
            <a:endParaRPr sz="2400">
              <a:latin typeface="Times New Roman"/>
              <a:ea typeface="Times New Roman"/>
              <a:cs typeface="Times New Roman"/>
              <a:sym typeface="Times New Roman"/>
            </a:endParaRPr>
          </a:p>
          <a:p>
            <a:pPr marL="228600" lvl="0" indent="-50800" algn="l" rtl="0">
              <a:lnSpc>
                <a:spcPct val="90000"/>
              </a:lnSpc>
              <a:spcBef>
                <a:spcPts val="1200"/>
              </a:spcBef>
              <a:spcAft>
                <a:spcPts val="0"/>
              </a:spcAft>
              <a:buClr>
                <a:schemeClr val="dk1"/>
              </a:buClr>
              <a:buSzPts val="2800"/>
              <a:buNone/>
            </a:pP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h3ec38cbf6a3e40f2_0_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Impact &amp; Use case</a:t>
            </a:r>
            <a:endParaRPr b="1">
              <a:solidFill>
                <a:srgbClr val="704EA6"/>
              </a:solidFill>
            </a:endParaRPr>
          </a:p>
        </p:txBody>
      </p:sp>
      <p:sp>
        <p:nvSpPr>
          <p:cNvPr id="189" name="Google Shape;189;h3ec38cbf6a3e40f2_0_7"/>
          <p:cNvSpPr txBox="1">
            <a:spLocks noGrp="1"/>
          </p:cNvSpPr>
          <p:nvPr>
            <p:ph type="body" idx="1"/>
          </p:nvPr>
        </p:nvSpPr>
        <p:spPr>
          <a:xfrm>
            <a:off x="838200" y="1242700"/>
            <a:ext cx="10515600" cy="4934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Education &amp; Learning</a:t>
            </a:r>
            <a:endParaRPr sz="2400" b="1">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Students can ask for an explanation and then refine it.</a:t>
            </a:r>
            <a:endParaRPr sz="2400">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Example:</a:t>
            </a:r>
            <a:endParaRPr sz="2400" b="1">
              <a:latin typeface="Times New Roman"/>
              <a:ea typeface="Times New Roman"/>
              <a:cs typeface="Times New Roman"/>
              <a:sym typeface="Times New Roman"/>
            </a:endParaRPr>
          </a:p>
          <a:p>
            <a:pPr marL="381000" marR="38100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“Explain this topic.”</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 “Explain only the important points in simple terms.”</a:t>
            </a:r>
            <a:endParaRPr sz="2400">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Technical Documentation</a:t>
            </a:r>
            <a:endParaRPr sz="2400" b="1">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Developers can ask about a system and then focus on a particular module, API, or component.</a:t>
            </a:r>
            <a:endParaRPr sz="2400">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Example:</a:t>
            </a:r>
            <a:endParaRPr sz="2400" b="1">
              <a:latin typeface="Times New Roman"/>
              <a:ea typeface="Times New Roman"/>
              <a:cs typeface="Times New Roman"/>
              <a:sym typeface="Times New Roman"/>
            </a:endParaRPr>
          </a:p>
          <a:p>
            <a:pPr marL="381000" marR="38100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“What are the modules?”</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 “Explain only the authentication module.”</a:t>
            </a:r>
            <a:endParaRPr sz="2400">
              <a:latin typeface="Times New Roman"/>
              <a:ea typeface="Times New Roman"/>
              <a:cs typeface="Times New Roman"/>
              <a:sym typeface="Times New Roman"/>
            </a:endParaRPr>
          </a:p>
          <a:p>
            <a:pPr marL="228600" lvl="0" indent="-50800" algn="l" rtl="0">
              <a:lnSpc>
                <a:spcPct val="100000"/>
              </a:lnSpc>
              <a:spcBef>
                <a:spcPts val="1200"/>
              </a:spcBef>
              <a:spcAft>
                <a:spcPts val="0"/>
              </a:spcAft>
              <a:buClr>
                <a:schemeClr val="dk1"/>
              </a:buClr>
              <a:buSzPts val="2800"/>
              <a:buNone/>
            </a:pP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h3ec38cbf6a3e40f2_0_1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Impact &amp; Use case</a:t>
            </a:r>
            <a:endParaRPr b="1">
              <a:solidFill>
                <a:srgbClr val="704EA6"/>
              </a:solidFill>
            </a:endParaRPr>
          </a:p>
        </p:txBody>
      </p:sp>
      <p:sp>
        <p:nvSpPr>
          <p:cNvPr id="195" name="Google Shape;195;h3ec38cbf6a3e40f2_0_12"/>
          <p:cNvSpPr txBox="1">
            <a:spLocks noGrp="1"/>
          </p:cNvSpPr>
          <p:nvPr>
            <p:ph type="body" idx="1"/>
          </p:nvPr>
        </p:nvSpPr>
        <p:spPr>
          <a:xfrm>
            <a:off x="838200" y="1242700"/>
            <a:ext cx="10515600" cy="4934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 Research &amp; Document Analysis</a:t>
            </a:r>
            <a:endParaRPr sz="2400">
              <a:latin typeface="Times New Roman"/>
              <a:ea typeface="Times New Roman"/>
              <a:cs typeface="Times New Roman"/>
              <a:sym typeface="Times New Roman"/>
            </a:endParaRPr>
          </a:p>
          <a:p>
            <a:pPr marL="0" lvl="0" indent="0" algn="l" rtl="0">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Researchers can ask broad questions over large document collections and progressively narrow the information they need.</a:t>
            </a:r>
            <a:endParaRPr sz="2400">
              <a:latin typeface="Times New Roman"/>
              <a:ea typeface="Times New Roman"/>
              <a:cs typeface="Times New Roman"/>
              <a:sym typeface="Times New Roman"/>
            </a:endParaRPr>
          </a:p>
          <a:p>
            <a:pPr marL="0" lvl="0" indent="0" algn="l" rtl="0">
              <a:lnSpc>
                <a:spcPct val="100000"/>
              </a:lnSpc>
              <a:spcBef>
                <a:spcPts val="1400"/>
              </a:spcBef>
              <a:spcAft>
                <a:spcPts val="0"/>
              </a:spcAft>
              <a:buClr>
                <a:schemeClr val="dk1"/>
              </a:buClr>
              <a:buSzPts val="1100"/>
              <a:buFont typeface="Arial"/>
              <a:buNone/>
            </a:pPr>
            <a:endParaRPr sz="2400">
              <a:latin typeface="Times New Roman"/>
              <a:ea typeface="Times New Roman"/>
              <a:cs typeface="Times New Roman"/>
              <a:sym typeface="Times New Roman"/>
            </a:endParaRPr>
          </a:p>
          <a:p>
            <a:pPr marL="228600" lvl="0" indent="-50800" algn="l" rtl="0">
              <a:lnSpc>
                <a:spcPct val="100000"/>
              </a:lnSpc>
              <a:spcBef>
                <a:spcPts val="400"/>
              </a:spcBef>
              <a:spcAft>
                <a:spcPts val="0"/>
              </a:spcAft>
              <a:buClr>
                <a:schemeClr val="dk1"/>
              </a:buClr>
              <a:buSzPts val="2800"/>
              <a:buNone/>
            </a:pPr>
            <a:r>
              <a:rPr lang="en-US" sz="2400" b="1">
                <a:latin typeface="Times New Roman"/>
                <a:ea typeface="Times New Roman"/>
                <a:cs typeface="Times New Roman"/>
                <a:sym typeface="Times New Roman"/>
              </a:rPr>
              <a:t>Traditional RAG</a:t>
            </a:r>
            <a:endParaRPr sz="2400" b="1">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800"/>
              <a:buNone/>
            </a:pPr>
            <a:endParaRPr sz="2400">
              <a:solidFill>
                <a:schemeClr val="accent6"/>
              </a:solidFill>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800"/>
              <a:buNone/>
            </a:pPr>
            <a:r>
              <a:rPr lang="en-US" sz="2400">
                <a:solidFill>
                  <a:schemeClr val="accent6"/>
                </a:solidFill>
                <a:latin typeface="Times New Roman"/>
                <a:ea typeface="Times New Roman"/>
                <a:cs typeface="Times New Roman"/>
                <a:sym typeface="Times New Roman"/>
              </a:rPr>
              <a:t>Retrieve → Generate → Restart</a:t>
            </a:r>
            <a:endParaRPr sz="2400">
              <a:solidFill>
                <a:schemeClr val="accent6"/>
              </a:solidFill>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800"/>
              <a:buNone/>
            </a:pP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800"/>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800"/>
              <a:buNone/>
            </a:pP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800"/>
              <a:buNone/>
            </a:pPr>
            <a:r>
              <a:rPr lang="en-US" sz="2400" b="1">
                <a:latin typeface="Times New Roman"/>
                <a:ea typeface="Times New Roman"/>
                <a:cs typeface="Times New Roman"/>
                <a:sym typeface="Times New Roman"/>
              </a:rPr>
              <a:t>Streaming Live RAG</a:t>
            </a:r>
            <a:endParaRPr sz="2400" b="1">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None/>
            </a:pPr>
            <a:endParaRPr sz="2400">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US" sz="2400">
                <a:solidFill>
                  <a:schemeClr val="accent6"/>
                </a:solidFill>
                <a:latin typeface="Times New Roman"/>
                <a:ea typeface="Times New Roman"/>
                <a:cs typeface="Times New Roman"/>
                <a:sym typeface="Times New Roman"/>
              </a:rPr>
              <a:t>Understand → Retrieve → Stream → Remember → Refine</a:t>
            </a:r>
            <a:endParaRPr sz="2400">
              <a:solidFill>
                <a:schemeClr val="accent6"/>
              </a:solidFill>
              <a:latin typeface="Times New Roman"/>
              <a:ea typeface="Times New Roman"/>
              <a:cs typeface="Times New Roman"/>
              <a:sym typeface="Times New Roman"/>
            </a:endParaRPr>
          </a:p>
          <a:p>
            <a:pPr marL="381000" marR="381000" lvl="0" indent="0" algn="l" rtl="0">
              <a:lnSpc>
                <a:spcPct val="100000"/>
              </a:lnSpc>
              <a:spcBef>
                <a:spcPts val="1200"/>
              </a:spcBef>
              <a:spcAft>
                <a:spcPts val="0"/>
              </a:spcAft>
              <a:buClr>
                <a:schemeClr val="dk1"/>
              </a:buClr>
              <a:buSzPts val="1100"/>
              <a:buFont typeface="Arial"/>
              <a:buNone/>
            </a:pPr>
            <a:endParaRPr sz="2400">
              <a:latin typeface="Times New Roman"/>
              <a:ea typeface="Times New Roman"/>
              <a:cs typeface="Times New Roman"/>
              <a:sym typeface="Times New Roman"/>
            </a:endParaRPr>
          </a:p>
          <a:p>
            <a:pPr marL="228600" lvl="0" indent="-50800" algn="l" rtl="0">
              <a:lnSpc>
                <a:spcPct val="100000"/>
              </a:lnSpc>
              <a:spcBef>
                <a:spcPts val="1200"/>
              </a:spcBef>
              <a:spcAft>
                <a:spcPts val="0"/>
              </a:spcAft>
              <a:buClr>
                <a:schemeClr val="dk1"/>
              </a:buClr>
              <a:buSzPts val="2800"/>
              <a:buNone/>
            </a:pPr>
            <a:endParaRPr sz="240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800"/>
              <a:buNone/>
            </a:pP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8"/>
          <p:cNvSpPr txBox="1">
            <a:spLocks noGrp="1"/>
          </p:cNvSpPr>
          <p:nvPr>
            <p:ph type="title"/>
          </p:nvPr>
        </p:nvSpPr>
        <p:spPr>
          <a:xfrm>
            <a:off x="838200" y="-426950"/>
            <a:ext cx="10515600" cy="1896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Innovation highlights, results and limitations</a:t>
            </a:r>
            <a:endParaRPr sz="4400" b="1">
              <a:solidFill>
                <a:srgbClr val="704EA6"/>
              </a:solidFill>
            </a:endParaRPr>
          </a:p>
        </p:txBody>
      </p:sp>
      <p:sp>
        <p:nvSpPr>
          <p:cNvPr id="201" name="Google Shape;201;p8"/>
          <p:cNvSpPr txBox="1">
            <a:spLocks noGrp="1"/>
          </p:cNvSpPr>
          <p:nvPr>
            <p:ph type="body" idx="1"/>
          </p:nvPr>
        </p:nvSpPr>
        <p:spPr>
          <a:xfrm>
            <a:off x="838200" y="837600"/>
            <a:ext cx="11191200" cy="5182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400"/>
              </a:spcBef>
              <a:spcAft>
                <a:spcPts val="0"/>
              </a:spcAft>
              <a:buClr>
                <a:schemeClr val="dk1"/>
              </a:buClr>
              <a:buSzPts val="1100"/>
              <a:buFont typeface="Arial"/>
              <a:buNone/>
            </a:pP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Innovation Highlights</a:t>
            </a:r>
            <a:endParaRPr sz="2400" b="1">
              <a:latin typeface="Times New Roman"/>
              <a:ea typeface="Times New Roman"/>
              <a:cs typeface="Times New Roman"/>
              <a:sym typeface="Times New Roman"/>
            </a:endParaRPr>
          </a:p>
          <a:p>
            <a:pPr marL="457200" lvl="0" indent="-381000" algn="l" rtl="0">
              <a:lnSpc>
                <a:spcPct val="100000"/>
              </a:lnSpc>
              <a:spcBef>
                <a:spcPts val="1200"/>
              </a:spcBef>
              <a:spcAft>
                <a:spcPts val="0"/>
              </a:spcAft>
              <a:buSzPts val="2400"/>
              <a:buChar char="●"/>
            </a:pPr>
            <a:r>
              <a:rPr lang="en-US" sz="2400">
                <a:latin typeface="Times New Roman"/>
                <a:ea typeface="Times New Roman"/>
                <a:cs typeface="Times New Roman"/>
                <a:sym typeface="Times New Roman"/>
              </a:rPr>
              <a:t>State-Preserving RAG – Maintains conversation state instead of restarting retrieval for every query.</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Live Streaming Answers – Uses SSE to stream generated responses progressively.</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Late-Constraint Refinement – New constraints refine the previous answer without losing earlier context.</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Multi-Intent Decomposition – Splits complex questions into separate intents for targeted retrieval.</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Hybrid Retrieval – Combines FAISS semantic search + BM25 keyword search + RRF fusion.</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Evidence-Aware Generation – Filters and verifies retrieved evidence before generating the answer.</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Answer Versioning – Tracks Answer v1, v2, etc., showing how responses evolve after refinement.</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Dynamic Controller – Routes each user message into WAIT, PROCESS, RETRIEVE, or REFINE states.</a:t>
            </a:r>
            <a:endParaRPr sz="2400">
              <a:latin typeface="Times New Roman"/>
              <a:ea typeface="Times New Roman"/>
              <a:cs typeface="Times New Roman"/>
              <a:sym typeface="Times New Roman"/>
            </a:endParaRPr>
          </a:p>
          <a:p>
            <a:pPr marL="228600" lvl="0" indent="-50800" algn="l" rtl="0">
              <a:lnSpc>
                <a:spcPct val="100000"/>
              </a:lnSpc>
              <a:spcBef>
                <a:spcPts val="1200"/>
              </a:spcBef>
              <a:spcAft>
                <a:spcPts val="0"/>
              </a:spcAft>
              <a:buClr>
                <a:schemeClr val="dk1"/>
              </a:buClr>
              <a:buSzPts val="2800"/>
              <a:buNone/>
            </a:pP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h3ec38cbf6a3e40f2_0_18"/>
          <p:cNvSpPr txBox="1">
            <a:spLocks noGrp="1"/>
          </p:cNvSpPr>
          <p:nvPr>
            <p:ph type="title"/>
          </p:nvPr>
        </p:nvSpPr>
        <p:spPr>
          <a:xfrm>
            <a:off x="838200" y="-426950"/>
            <a:ext cx="10515600" cy="1896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Innovation highlights, results and limitations</a:t>
            </a:r>
            <a:endParaRPr sz="4400" b="1">
              <a:solidFill>
                <a:srgbClr val="704EA6"/>
              </a:solidFill>
            </a:endParaRPr>
          </a:p>
        </p:txBody>
      </p:sp>
      <p:sp>
        <p:nvSpPr>
          <p:cNvPr id="207" name="Google Shape;207;h3ec38cbf6a3e40f2_0_18"/>
          <p:cNvSpPr txBox="1">
            <a:spLocks noGrp="1"/>
          </p:cNvSpPr>
          <p:nvPr>
            <p:ph type="body" idx="1"/>
          </p:nvPr>
        </p:nvSpPr>
        <p:spPr>
          <a:xfrm>
            <a:off x="838200" y="837600"/>
            <a:ext cx="11191200" cy="5182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Results / Evaluation</a:t>
            </a:r>
            <a:endParaRPr sz="2400" b="1">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The prototype is designed to evaluate:</a:t>
            </a:r>
            <a:endParaRPr sz="2400">
              <a:latin typeface="Times New Roman"/>
              <a:ea typeface="Times New Roman"/>
              <a:cs typeface="Times New Roman"/>
              <a:sym typeface="Times New Roman"/>
            </a:endParaRPr>
          </a:p>
          <a:p>
            <a:pPr marL="457200" lvl="0" indent="-381000" algn="l" rtl="0">
              <a:lnSpc>
                <a:spcPct val="11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Recall@K &amp; Precision@K – Retrieval quality</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MRR – Ranking quality</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Relevance Score – Retrieved evidence relevance</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Groundedness / Evidence Accuracy – Whether answers are supported by retrieved content</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TTFR – Time to first response/token</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Retrieval &amp; Generation Latency – Pipeline performance</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Constraint Detection Accuracy – Correct identification of late constraints</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Evidence Reuse / New Evidence – Measures whether refinement efficiently reuses previous context</a:t>
            </a:r>
            <a:endParaRPr sz="2400">
              <a:latin typeface="Times New Roman"/>
              <a:ea typeface="Times New Roman"/>
              <a:cs typeface="Times New Roman"/>
              <a:sym typeface="Times New Roman"/>
            </a:endParaRPr>
          </a:p>
          <a:p>
            <a:pPr marL="228600" lvl="0" indent="-50800" algn="l" rtl="0">
              <a:lnSpc>
                <a:spcPct val="100000"/>
              </a:lnSpc>
              <a:spcBef>
                <a:spcPts val="1200"/>
              </a:spcBef>
              <a:spcAft>
                <a:spcPts val="0"/>
              </a:spcAft>
              <a:buClr>
                <a:schemeClr val="dk1"/>
              </a:buClr>
              <a:buSzPts val="2800"/>
              <a:buNone/>
            </a:pP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h3ec38cbf6a3e40f2_0_24"/>
          <p:cNvSpPr txBox="1">
            <a:spLocks noGrp="1"/>
          </p:cNvSpPr>
          <p:nvPr>
            <p:ph type="title"/>
          </p:nvPr>
        </p:nvSpPr>
        <p:spPr>
          <a:xfrm>
            <a:off x="838200" y="-426950"/>
            <a:ext cx="10515600" cy="1896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Innovation highlights, results and limitations</a:t>
            </a:r>
            <a:endParaRPr sz="4400" b="1">
              <a:solidFill>
                <a:srgbClr val="704EA6"/>
              </a:solidFill>
            </a:endParaRPr>
          </a:p>
        </p:txBody>
      </p:sp>
      <p:sp>
        <p:nvSpPr>
          <p:cNvPr id="213" name="Google Shape;213;h3ec38cbf6a3e40f2_0_24"/>
          <p:cNvSpPr txBox="1">
            <a:spLocks noGrp="1"/>
          </p:cNvSpPr>
          <p:nvPr>
            <p:ph type="body" idx="1"/>
          </p:nvPr>
        </p:nvSpPr>
        <p:spPr>
          <a:xfrm>
            <a:off x="838200" y="837600"/>
            <a:ext cx="11191200" cy="5182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Evaluation comparison:</a:t>
            </a:r>
            <a:br>
              <a:rPr lang="en-US" sz="2400" b="1">
                <a:latin typeface="Times New Roman"/>
                <a:ea typeface="Times New Roman"/>
                <a:cs typeface="Times New Roman"/>
                <a:sym typeface="Times New Roman"/>
              </a:rPr>
            </a:br>
            <a:r>
              <a:rPr lang="en-US" sz="2400">
                <a:latin typeface="Times New Roman"/>
                <a:ea typeface="Times New Roman"/>
                <a:cs typeface="Times New Roman"/>
                <a:sym typeface="Times New Roman"/>
              </a:rPr>
              <a:t> </a:t>
            </a:r>
            <a:r>
              <a:rPr lang="en-US" sz="2400">
                <a:solidFill>
                  <a:srgbClr val="188038"/>
                </a:solidFill>
                <a:latin typeface="Times New Roman"/>
                <a:ea typeface="Times New Roman"/>
                <a:cs typeface="Times New Roman"/>
                <a:sym typeface="Times New Roman"/>
              </a:rPr>
              <a:t>Dense Retrieval → BM25 → Hybrid RRF → Hybrid + Reranking + Evidence Filtering</a:t>
            </a:r>
            <a:endParaRPr sz="2400">
              <a:solidFill>
                <a:srgbClr val="188038"/>
              </a:solidFill>
              <a:latin typeface="Times New Roman"/>
              <a:ea typeface="Times New Roman"/>
              <a:cs typeface="Times New Roman"/>
              <a:sym typeface="Times New Roman"/>
            </a:endParaRPr>
          </a:p>
          <a:p>
            <a:pPr marL="381000" marR="381000" lvl="0" indent="0" algn="l" rtl="0">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No fabricated benchmark values are claimed; quantitative results can be added after running the benchmark on the final corpus.</a:t>
            </a:r>
            <a:endParaRPr sz="2400">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US" sz="2400" b="1">
                <a:latin typeface="Times New Roman"/>
                <a:ea typeface="Times New Roman"/>
                <a:cs typeface="Times New Roman"/>
                <a:sym typeface="Times New Roman"/>
              </a:rPr>
              <a:t>⚠️ Limitations</a:t>
            </a:r>
            <a:endParaRPr sz="2400" b="1">
              <a:latin typeface="Times New Roman"/>
              <a:ea typeface="Times New Roman"/>
              <a:cs typeface="Times New Roman"/>
              <a:sym typeface="Times New Roman"/>
            </a:endParaRPr>
          </a:p>
          <a:p>
            <a:pPr marL="457200" lvl="0" indent="-381000" algn="l" rtl="0">
              <a:lnSpc>
                <a:spcPct val="11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Gemini API availability and response latency can affect live streaming.</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Char char="●"/>
            </a:pPr>
            <a:r>
              <a:rPr lang="en-US" sz="2400">
                <a:latin typeface="Times New Roman"/>
                <a:ea typeface="Times New Roman"/>
                <a:cs typeface="Times New Roman"/>
                <a:sym typeface="Times New Roman"/>
              </a:rPr>
              <a:t>Current session state uses </a:t>
            </a:r>
            <a:r>
              <a:rPr lang="en-US" sz="2400" b="1">
                <a:latin typeface="Times New Roman"/>
                <a:ea typeface="Times New Roman"/>
                <a:cs typeface="Times New Roman"/>
                <a:sym typeface="Times New Roman"/>
              </a:rPr>
              <a:t>in-memory storage</a:t>
            </a:r>
            <a:r>
              <a:rPr lang="en-US" sz="2400">
                <a:latin typeface="Times New Roman"/>
                <a:ea typeface="Times New Roman"/>
                <a:cs typeface="Times New Roman"/>
                <a:sym typeface="Times New Roman"/>
              </a:rPr>
              <a:t>, not a distributed production store.</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Complex tables, layouts, and poorly formatted documents may reduce retrieval quality.</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Claim-level verification can be further strengthened.</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Large-scale multi-user deployment requires persistent/distributed state management.</a:t>
            </a:r>
            <a:endParaRPr sz="24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More diverse datasets and larger benchmarks are required for comprehensive evaluation.</a:t>
            </a:r>
            <a:endParaRPr sz="2400">
              <a:latin typeface="Times New Roman"/>
              <a:ea typeface="Times New Roman"/>
              <a:cs typeface="Times New Roman"/>
              <a:sym typeface="Times New Roman"/>
            </a:endParaRPr>
          </a:p>
          <a:p>
            <a:pPr marL="228600" lvl="0" indent="-50800" algn="l" rtl="0">
              <a:lnSpc>
                <a:spcPct val="100000"/>
              </a:lnSpc>
              <a:spcBef>
                <a:spcPts val="1200"/>
              </a:spcBef>
              <a:spcAft>
                <a:spcPts val="0"/>
              </a:spcAft>
              <a:buClr>
                <a:schemeClr val="dk1"/>
              </a:buClr>
              <a:buSzPts val="2800"/>
              <a:buNone/>
            </a:pP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What’s next</a:t>
            </a:r>
            <a:endParaRPr sz="4400" b="1">
              <a:solidFill>
                <a:srgbClr val="704EA6"/>
              </a:solidFill>
            </a:endParaRPr>
          </a:p>
        </p:txBody>
      </p:sp>
      <p:sp>
        <p:nvSpPr>
          <p:cNvPr id="219" name="Google Shape;219;p9"/>
          <p:cNvSpPr txBox="1">
            <a:spLocks noGrp="1"/>
          </p:cNvSpPr>
          <p:nvPr>
            <p:ph type="body" idx="1"/>
          </p:nvPr>
        </p:nvSpPr>
        <p:spPr>
          <a:xfrm>
            <a:off x="838200" y="1315050"/>
            <a:ext cx="10515600" cy="435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400"/>
              </a:spcBef>
              <a:spcAft>
                <a:spcPts val="0"/>
              </a:spcAft>
              <a:buClr>
                <a:schemeClr val="dk1"/>
              </a:buClr>
              <a:buSzPts val="1100"/>
              <a:buFont typeface="Arial"/>
              <a:buNone/>
            </a:pPr>
            <a:r>
              <a:rPr lang="en-US" sz="2400" b="1">
                <a:latin typeface="Times New Roman"/>
                <a:ea typeface="Times New Roman"/>
                <a:cs typeface="Times New Roman"/>
                <a:sym typeface="Times New Roman"/>
              </a:rPr>
              <a:t>🔮 Future Enhancements</a:t>
            </a:r>
            <a:endParaRPr sz="2400" b="1">
              <a:latin typeface="Times New Roman"/>
              <a:ea typeface="Times New Roman"/>
              <a:cs typeface="Times New Roman"/>
              <a:sym typeface="Times New Roman"/>
            </a:endParaRPr>
          </a:p>
          <a:p>
            <a:pPr marL="457200" lvl="0" indent="-381000" algn="l" rtl="0">
              <a:lnSpc>
                <a:spcPct val="100000"/>
              </a:lnSpc>
              <a:spcBef>
                <a:spcPts val="1200"/>
              </a:spcBef>
              <a:spcAft>
                <a:spcPts val="0"/>
              </a:spcAft>
              <a:buSzPts val="2400"/>
              <a:buChar char="●"/>
            </a:pPr>
            <a:r>
              <a:rPr lang="en-US" sz="2400" b="1">
                <a:latin typeface="Times New Roman"/>
                <a:ea typeface="Times New Roman"/>
                <a:cs typeface="Times New Roman"/>
                <a:sym typeface="Times New Roman"/>
              </a:rPr>
              <a:t>Persistent Distributed State</a:t>
            </a:r>
            <a:br>
              <a:rPr lang="en-US" sz="2400" b="1">
                <a:latin typeface="Times New Roman"/>
                <a:ea typeface="Times New Roman"/>
                <a:cs typeface="Times New Roman"/>
                <a:sym typeface="Times New Roman"/>
              </a:rPr>
            </a:br>
            <a:r>
              <a:rPr lang="en-US" sz="2400">
                <a:latin typeface="Times New Roman"/>
                <a:ea typeface="Times New Roman"/>
                <a:cs typeface="Times New Roman"/>
                <a:sym typeface="Times New Roman"/>
              </a:rPr>
              <a:t> Integrate Redis/database-backed session memory for reliable multi-user conversations.</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b="1">
                <a:latin typeface="Times New Roman"/>
                <a:ea typeface="Times New Roman"/>
                <a:cs typeface="Times New Roman"/>
                <a:sym typeface="Times New Roman"/>
              </a:rPr>
              <a:t>Advanced Document Processing</a:t>
            </a:r>
            <a:br>
              <a:rPr lang="en-US" sz="2400" b="1">
                <a:latin typeface="Times New Roman"/>
                <a:ea typeface="Times New Roman"/>
                <a:cs typeface="Times New Roman"/>
                <a:sym typeface="Times New Roman"/>
              </a:rPr>
            </a:br>
            <a:r>
              <a:rPr lang="en-US" sz="2400">
                <a:latin typeface="Times New Roman"/>
                <a:ea typeface="Times New Roman"/>
                <a:cs typeface="Times New Roman"/>
                <a:sym typeface="Times New Roman"/>
              </a:rPr>
              <a:t> Improve extraction from PDFs, tables, scanned documents, and complex layouts.</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b="1">
                <a:latin typeface="Times New Roman"/>
                <a:ea typeface="Times New Roman"/>
                <a:cs typeface="Times New Roman"/>
                <a:sym typeface="Times New Roman"/>
              </a:rPr>
              <a:t>Adaptive Retrieval</a:t>
            </a:r>
            <a:br>
              <a:rPr lang="en-US" sz="2400" b="1">
                <a:latin typeface="Times New Roman"/>
                <a:ea typeface="Times New Roman"/>
                <a:cs typeface="Times New Roman"/>
                <a:sym typeface="Times New Roman"/>
              </a:rPr>
            </a:br>
            <a:r>
              <a:rPr lang="en-US" sz="2400">
                <a:latin typeface="Times New Roman"/>
                <a:ea typeface="Times New Roman"/>
                <a:cs typeface="Times New Roman"/>
                <a:sym typeface="Times New Roman"/>
              </a:rPr>
              <a:t> Dynamically adjust retrieval depth based on query complexity and conversation state.</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b="1">
                <a:latin typeface="Times New Roman"/>
                <a:ea typeface="Times New Roman"/>
                <a:cs typeface="Times New Roman"/>
                <a:sym typeface="Times New Roman"/>
              </a:rPr>
              <a:t>Advanced Reranking</a:t>
            </a:r>
            <a:br>
              <a:rPr lang="en-US" sz="2400" b="1">
                <a:latin typeface="Times New Roman"/>
                <a:ea typeface="Times New Roman"/>
                <a:cs typeface="Times New Roman"/>
                <a:sym typeface="Times New Roman"/>
              </a:rPr>
            </a:br>
            <a:r>
              <a:rPr lang="en-US" sz="2400">
                <a:latin typeface="Times New Roman"/>
                <a:ea typeface="Times New Roman"/>
                <a:cs typeface="Times New Roman"/>
                <a:sym typeface="Times New Roman"/>
              </a:rPr>
              <a:t> Add stronger cross-encoder/LLM-based reranking to improve evidence selection.</a:t>
            </a:r>
            <a:endParaRPr sz="24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h3ec38cbf6a3e40f2_0_3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What’s next</a:t>
            </a:r>
            <a:endParaRPr sz="4400" b="1">
              <a:solidFill>
                <a:srgbClr val="704EA6"/>
              </a:solidFill>
            </a:endParaRPr>
          </a:p>
        </p:txBody>
      </p:sp>
      <p:sp>
        <p:nvSpPr>
          <p:cNvPr id="225" name="Google Shape;225;h3ec38cbf6a3e40f2_0_31"/>
          <p:cNvSpPr txBox="1">
            <a:spLocks noGrp="1"/>
          </p:cNvSpPr>
          <p:nvPr>
            <p:ph type="body" idx="1"/>
          </p:nvPr>
        </p:nvSpPr>
        <p:spPr>
          <a:xfrm>
            <a:off x="838200" y="704550"/>
            <a:ext cx="10515600" cy="4506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None/>
            </a:pPr>
            <a:endParaRPr sz="2400">
              <a:latin typeface="Times New Roman"/>
              <a:ea typeface="Times New Roman"/>
              <a:cs typeface="Times New Roman"/>
              <a:sym typeface="Times New Roman"/>
            </a:endParaRPr>
          </a:p>
          <a:p>
            <a:pPr marL="457200" lvl="0" indent="-381000" algn="l" rtl="0">
              <a:lnSpc>
                <a:spcPct val="100000"/>
              </a:lnSpc>
              <a:spcBef>
                <a:spcPts val="1200"/>
              </a:spcBef>
              <a:spcAft>
                <a:spcPts val="0"/>
              </a:spcAft>
              <a:buSzPts val="2400"/>
              <a:buChar char="●"/>
            </a:pPr>
            <a:r>
              <a:rPr lang="en-US" sz="2400" b="1">
                <a:latin typeface="Times New Roman"/>
                <a:ea typeface="Times New Roman"/>
                <a:cs typeface="Times New Roman"/>
                <a:sym typeface="Times New Roman"/>
              </a:rPr>
              <a:t>Claim-Level Verification</a:t>
            </a:r>
            <a:br>
              <a:rPr lang="en-US" sz="2400" b="1">
                <a:latin typeface="Times New Roman"/>
                <a:ea typeface="Times New Roman"/>
                <a:cs typeface="Times New Roman"/>
                <a:sym typeface="Times New Roman"/>
              </a:rPr>
            </a:br>
            <a:r>
              <a:rPr lang="en-US" sz="2400">
                <a:latin typeface="Times New Roman"/>
                <a:ea typeface="Times New Roman"/>
                <a:cs typeface="Times New Roman"/>
                <a:sym typeface="Times New Roman"/>
              </a:rPr>
              <a:t> Verify individual answer claims against retrieved evidence before presenting them.</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b="1">
                <a:latin typeface="Times New Roman"/>
                <a:ea typeface="Times New Roman"/>
                <a:cs typeface="Times New Roman"/>
                <a:sym typeface="Times New Roman"/>
              </a:rPr>
              <a:t>Scalable Live Streaming</a:t>
            </a:r>
            <a:br>
              <a:rPr lang="en-US" sz="2400" b="1">
                <a:latin typeface="Times New Roman"/>
                <a:ea typeface="Times New Roman"/>
                <a:cs typeface="Times New Roman"/>
                <a:sym typeface="Times New Roman"/>
              </a:rPr>
            </a:br>
            <a:r>
              <a:rPr lang="en-US" sz="2400">
                <a:latin typeface="Times New Roman"/>
                <a:ea typeface="Times New Roman"/>
                <a:cs typeface="Times New Roman"/>
                <a:sym typeface="Times New Roman"/>
              </a:rPr>
              <a:t> Optimize SSE/WebSocket streaming for concurrent users and low-latency responses.</a:t>
            </a:r>
            <a:endParaRPr sz="2400">
              <a:latin typeface="Times New Roman"/>
              <a:ea typeface="Times New Roman"/>
              <a:cs typeface="Times New Roman"/>
              <a:sym typeface="Times New Roman"/>
            </a:endParaRPr>
          </a:p>
          <a:p>
            <a:pPr marL="457200" lvl="0" indent="-381000" algn="l" rtl="0">
              <a:lnSpc>
                <a:spcPct val="100000"/>
              </a:lnSpc>
              <a:spcBef>
                <a:spcPts val="0"/>
              </a:spcBef>
              <a:spcAft>
                <a:spcPts val="0"/>
              </a:spcAft>
              <a:buSzPts val="2400"/>
              <a:buChar char="●"/>
            </a:pPr>
            <a:r>
              <a:rPr lang="en-US" sz="2400" b="1">
                <a:latin typeface="Times New Roman"/>
                <a:ea typeface="Times New Roman"/>
                <a:cs typeface="Times New Roman"/>
                <a:sym typeface="Times New Roman"/>
              </a:rPr>
              <a:t>Continuous Evaluation</a:t>
            </a:r>
            <a:br>
              <a:rPr lang="en-US" sz="2400" b="1">
                <a:latin typeface="Times New Roman"/>
                <a:ea typeface="Times New Roman"/>
                <a:cs typeface="Times New Roman"/>
                <a:sym typeface="Times New Roman"/>
              </a:rPr>
            </a:br>
            <a:r>
              <a:rPr lang="en-US" sz="2400">
                <a:latin typeface="Times New Roman"/>
                <a:ea typeface="Times New Roman"/>
                <a:cs typeface="Times New Roman"/>
                <a:sym typeface="Times New Roman"/>
              </a:rPr>
              <a:t> Expand the benchmark dataset and continuously measure retrieval, grounding, refinement, and latency metrics.</a:t>
            </a:r>
            <a:endParaRPr sz="2400">
              <a:latin typeface="Times New Roman"/>
              <a:ea typeface="Times New Roman"/>
              <a:cs typeface="Times New Roman"/>
              <a:sym typeface="Times New Roman"/>
            </a:endParaRPr>
          </a:p>
          <a:p>
            <a:pPr marL="0" lvl="0" indent="0" algn="l" rtl="0">
              <a:lnSpc>
                <a:spcPct val="100000"/>
              </a:lnSpc>
              <a:spcBef>
                <a:spcPts val="1400"/>
              </a:spcBef>
              <a:spcAft>
                <a:spcPts val="0"/>
              </a:spcAft>
              <a:buNone/>
            </a:pPr>
            <a:r>
              <a:rPr lang="en-US" sz="2400" b="1">
                <a:latin typeface="Times New Roman"/>
                <a:ea typeface="Times New Roman"/>
                <a:cs typeface="Times New Roman"/>
                <a:sym typeface="Times New Roman"/>
              </a:rPr>
              <a:t>🎯 Long-Term Vision</a:t>
            </a:r>
            <a:endParaRPr sz="2400" b="1">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US" sz="2400" b="1">
                <a:latin typeface="Times New Roman"/>
                <a:ea typeface="Times New Roman"/>
                <a:cs typeface="Times New Roman"/>
                <a:sym typeface="Times New Roman"/>
              </a:rPr>
              <a:t>Understand → Retrieve → Stream → Remember → Refine</a:t>
            </a:r>
            <a:endParaRPr sz="2400" b="1">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US" sz="2400">
                <a:latin typeface="Times New Roman"/>
                <a:ea typeface="Times New Roman"/>
                <a:cs typeface="Times New Roman"/>
                <a:sym typeface="Times New Roman"/>
              </a:rPr>
              <a:t>Transform RAG from a </a:t>
            </a:r>
            <a:r>
              <a:rPr lang="en-US" sz="2400" b="1">
                <a:latin typeface="Times New Roman"/>
                <a:ea typeface="Times New Roman"/>
                <a:cs typeface="Times New Roman"/>
                <a:sym typeface="Times New Roman"/>
              </a:rPr>
              <a:t>one-shot question-answering system</a:t>
            </a:r>
            <a:r>
              <a:rPr lang="en-US" sz="2400">
                <a:latin typeface="Times New Roman"/>
                <a:ea typeface="Times New Roman"/>
                <a:cs typeface="Times New Roman"/>
                <a:sym typeface="Times New Roman"/>
              </a:rPr>
              <a:t> into a </a:t>
            </a:r>
            <a:r>
              <a:rPr lang="en-US" sz="2400" b="1">
                <a:latin typeface="Times New Roman"/>
                <a:ea typeface="Times New Roman"/>
                <a:cs typeface="Times New Roman"/>
                <a:sym typeface="Times New Roman"/>
              </a:rPr>
              <a:t>continuous, state-aware knowledge assistant</a:t>
            </a:r>
            <a:r>
              <a:rPr lang="en-US" sz="2400">
                <a:latin typeface="Times New Roman"/>
                <a:ea typeface="Times New Roman"/>
                <a:cs typeface="Times New Roman"/>
                <a:sym typeface="Times New Roman"/>
              </a:rPr>
              <a:t> that improves its answers as the conversation evolves.</a:t>
            </a:r>
            <a:endParaRPr sz="2400">
              <a:latin typeface="Times New Roman"/>
              <a:ea typeface="Times New Roman"/>
              <a:cs typeface="Times New Roman"/>
              <a:sym typeface="Times New Roman"/>
            </a:endParaRPr>
          </a:p>
          <a:p>
            <a:pPr marL="457200" lvl="0" indent="0" algn="l" rtl="0">
              <a:lnSpc>
                <a:spcPct val="100000"/>
              </a:lnSpc>
              <a:spcBef>
                <a:spcPts val="1200"/>
              </a:spcBef>
              <a:spcAft>
                <a:spcPts val="1200"/>
              </a:spcAft>
              <a:buNone/>
            </a:pPr>
            <a:endParaRPr sz="2400" b="1">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Brownie points slide( differentiation)</a:t>
            </a:r>
            <a:endParaRPr sz="4400" b="1">
              <a:solidFill>
                <a:srgbClr val="704EA6"/>
              </a:solidFill>
            </a:endParaRPr>
          </a:p>
        </p:txBody>
      </p:sp>
      <p:sp>
        <p:nvSpPr>
          <p:cNvPr id="231" name="Google Shape;231;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graphicFrame>
        <p:nvGraphicFramePr>
          <p:cNvPr id="232" name="Google Shape;232;p10"/>
          <p:cNvGraphicFramePr/>
          <p:nvPr/>
        </p:nvGraphicFramePr>
        <p:xfrm>
          <a:off x="952500" y="2286000"/>
          <a:ext cx="10287000" cy="4224990"/>
        </p:xfrm>
        <a:graphic>
          <a:graphicData uri="http://schemas.openxmlformats.org/drawingml/2006/table">
            <a:tbl>
              <a:tblPr>
                <a:noFill/>
                <a:tableStyleId>{686A7297-AFFE-4123-929A-EA93B868DDA5}</a:tableStyleId>
              </a:tblPr>
              <a:tblGrid>
                <a:gridCol w="5143500"/>
                <a:gridCol w="5143500"/>
              </a:tblGrid>
              <a:tr h="381000">
                <a:tc>
                  <a:txBody>
                    <a:bodyPr/>
                    <a:lstStyle/>
                    <a:p>
                      <a:pPr marL="0" lvl="0" indent="0" algn="ctr" rtl="0">
                        <a:lnSpc>
                          <a:spcPct val="115000"/>
                        </a:lnSpc>
                        <a:spcBef>
                          <a:spcPts val="0"/>
                        </a:spcBef>
                        <a:spcAft>
                          <a:spcPts val="0"/>
                        </a:spcAft>
                        <a:buNone/>
                      </a:pPr>
                      <a:r>
                        <a:rPr lang="en-US" sz="1500" b="1">
                          <a:latin typeface="Times New Roman"/>
                          <a:ea typeface="Times New Roman"/>
                          <a:cs typeface="Times New Roman"/>
                          <a:sym typeface="Times New Roman"/>
                        </a:rPr>
                        <a:t>Traditional RAG</a:t>
                      </a:r>
                      <a:endParaRPr sz="1500" b="1">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Streaming Live RAG – Our Approach </a:t>
                      </a:r>
                      <a:endParaRPr b="1">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US">
                          <a:solidFill>
                            <a:schemeClr val="dk1"/>
                          </a:solidFill>
                        </a:rPr>
                        <a:t>One-shot Retrieve → Generate </a:t>
                      </a:r>
                      <a:endParaRPr/>
                    </a:p>
                  </a:txBody>
                  <a:tcPr marL="91425" marR="91425" marT="91425" marB="91425"/>
                </a:tc>
                <a:tc>
                  <a:txBody>
                    <a:bodyPr/>
                    <a:lstStyle/>
                    <a:p>
                      <a:pPr marL="0" lvl="0" indent="0" algn="l" rtl="0">
                        <a:spcBef>
                          <a:spcPts val="0"/>
                        </a:spcBef>
                        <a:spcAft>
                          <a:spcPts val="0"/>
                        </a:spcAft>
                        <a:buNone/>
                      </a:pPr>
                      <a:r>
                        <a:rPr lang="en-US"/>
                        <a:t>Understand → Retrieve → Stream → Remember → Refine </a:t>
                      </a:r>
                      <a:endParaRPr/>
                    </a:p>
                  </a:txBody>
                  <a:tcPr marL="91425" marR="91425" marT="91425" marB="91425"/>
                </a:tc>
              </a:tr>
              <a:tr h="381000">
                <a:tc>
                  <a:txBody>
                    <a:bodyPr/>
                    <a:lstStyle/>
                    <a:p>
                      <a:pPr marL="0" lvl="0" indent="0" algn="l" rtl="0">
                        <a:spcBef>
                          <a:spcPts val="0"/>
                        </a:spcBef>
                        <a:spcAft>
                          <a:spcPts val="0"/>
                        </a:spcAft>
                        <a:buNone/>
                      </a:pPr>
                      <a:r>
                        <a:rPr lang="en-US"/>
                        <a:t>Conversation context may be lost </a:t>
                      </a:r>
                      <a:endParaRPr/>
                    </a:p>
                  </a:txBody>
                  <a:tcPr marL="91425" marR="91425" marT="91425" marB="91425"/>
                </a:tc>
                <a:tc>
                  <a:txBody>
                    <a:bodyPr/>
                    <a:lstStyle/>
                    <a:p>
                      <a:pPr marL="0" lvl="0" indent="0" algn="l" rtl="0">
                        <a:spcBef>
                          <a:spcPts val="0"/>
                        </a:spcBef>
                        <a:spcAft>
                          <a:spcPts val="0"/>
                        </a:spcAft>
                        <a:buNone/>
                      </a:pPr>
                      <a:r>
                        <a:rPr lang="en-US"/>
                        <a:t>State is preserved across turns </a:t>
                      </a:r>
                      <a:endParaRPr/>
                    </a:p>
                  </a:txBody>
                  <a:tcPr marL="91425" marR="91425" marT="91425" marB="91425"/>
                </a:tc>
              </a:tr>
              <a:tr h="381000">
                <a:tc>
                  <a:txBody>
                    <a:bodyPr/>
                    <a:lstStyle/>
                    <a:p>
                      <a:pPr marL="0" lvl="0" indent="0" algn="l" rtl="0">
                        <a:spcBef>
                          <a:spcPts val="0"/>
                        </a:spcBef>
                        <a:spcAft>
                          <a:spcPts val="0"/>
                        </a:spcAft>
                        <a:buNone/>
                      </a:pPr>
                      <a:r>
                        <a:rPr lang="en-US"/>
                        <a:t>New constraint can trigger a complete restart </a:t>
                      </a:r>
                      <a:endParaRPr/>
                    </a:p>
                  </a:txBody>
                  <a:tcPr marL="91425" marR="91425" marT="91425" marB="91425"/>
                </a:tc>
                <a:tc>
                  <a:txBody>
                    <a:bodyPr/>
                    <a:lstStyle/>
                    <a:p>
                      <a:pPr marL="0" lvl="0" indent="0" algn="l" rtl="0">
                        <a:spcBef>
                          <a:spcPts val="0"/>
                        </a:spcBef>
                        <a:spcAft>
                          <a:spcPts val="0"/>
                        </a:spcAft>
                        <a:buNone/>
                      </a:pPr>
                      <a:r>
                        <a:rPr lang="en-US"/>
                        <a:t>Late constraints refine the existing answer </a:t>
                      </a:r>
                      <a:endParaRPr/>
                    </a:p>
                  </a:txBody>
                  <a:tcPr marL="91425" marR="91425" marT="91425" marB="91425"/>
                </a:tc>
              </a:tr>
              <a:tr h="381000">
                <a:tc>
                  <a:txBody>
                    <a:bodyPr/>
                    <a:lstStyle/>
                    <a:p>
                      <a:pPr marL="0" lvl="0" indent="0" algn="l" rtl="0">
                        <a:spcBef>
                          <a:spcPts val="0"/>
                        </a:spcBef>
                        <a:spcAft>
                          <a:spcPts val="0"/>
                        </a:spcAft>
                        <a:buNone/>
                      </a:pPr>
                      <a:r>
                        <a:rPr lang="en-US"/>
                        <a:t>Single-intent processing </a:t>
                      </a:r>
                      <a:endParaRPr/>
                    </a:p>
                  </a:txBody>
                  <a:tcPr marL="91425" marR="91425" marT="91425" marB="91425"/>
                </a:tc>
                <a:tc>
                  <a:txBody>
                    <a:bodyPr/>
                    <a:lstStyle/>
                    <a:p>
                      <a:pPr marL="0" lvl="0" indent="0" algn="l" rtl="0">
                        <a:spcBef>
                          <a:spcPts val="0"/>
                        </a:spcBef>
                        <a:spcAft>
                          <a:spcPts val="0"/>
                        </a:spcAft>
                        <a:buNone/>
                      </a:pPr>
                      <a:r>
                        <a:rPr lang="en-US"/>
                        <a:t>Multi-intent decomposition </a:t>
                      </a:r>
                      <a:endParaRPr/>
                    </a:p>
                  </a:txBody>
                  <a:tcPr marL="91425" marR="91425" marT="91425" marB="91425"/>
                </a:tc>
              </a:tr>
              <a:tr h="381000">
                <a:tc>
                  <a:txBody>
                    <a:bodyPr/>
                    <a:lstStyle/>
                    <a:p>
                      <a:pPr marL="0" lvl="0" indent="0" algn="l" rtl="0">
                        <a:spcBef>
                          <a:spcPts val="0"/>
                        </a:spcBef>
                        <a:spcAft>
                          <a:spcPts val="0"/>
                        </a:spcAft>
                        <a:buNone/>
                      </a:pPr>
                      <a:r>
                        <a:rPr lang="en-US"/>
                        <a:t>Usually one retrieval strategy </a:t>
                      </a:r>
                      <a:endParaRPr/>
                    </a:p>
                  </a:txBody>
                  <a:tcPr marL="91425" marR="91425" marT="91425" marB="91425"/>
                </a:tc>
                <a:tc>
                  <a:txBody>
                    <a:bodyPr/>
                    <a:lstStyle/>
                    <a:p>
                      <a:pPr marL="0" lvl="0" indent="0" algn="l" rtl="0">
                        <a:spcBef>
                          <a:spcPts val="0"/>
                        </a:spcBef>
                        <a:spcAft>
                          <a:spcPts val="0"/>
                        </a:spcAft>
                        <a:buNone/>
                      </a:pPr>
                      <a:r>
                        <a:rPr lang="en-US"/>
                        <a:t>FAISS + BM25 + RRF hybrid retrieval </a:t>
                      </a:r>
                      <a:endParaRPr/>
                    </a:p>
                  </a:txBody>
                  <a:tcPr marL="91425" marR="91425" marT="91425" marB="91425"/>
                </a:tc>
              </a:tr>
              <a:tr h="381000">
                <a:tc>
                  <a:txBody>
                    <a:bodyPr/>
                    <a:lstStyle/>
                    <a:p>
                      <a:pPr marL="0" lvl="0" indent="0" algn="l" rtl="0">
                        <a:spcBef>
                          <a:spcPts val="0"/>
                        </a:spcBef>
                        <a:spcAft>
                          <a:spcPts val="0"/>
                        </a:spcAft>
                        <a:buNone/>
                      </a:pPr>
                      <a:r>
                        <a:rPr lang="en-US"/>
                        <a:t>Retrieved chunks directly passed to generation </a:t>
                      </a:r>
                      <a:endParaRPr/>
                    </a:p>
                  </a:txBody>
                  <a:tcPr marL="91425" marR="91425" marT="91425" marB="91425"/>
                </a:tc>
                <a:tc>
                  <a:txBody>
                    <a:bodyPr/>
                    <a:lstStyle/>
                    <a:p>
                      <a:pPr marL="0" lvl="0" indent="0" algn="l" rtl="0">
                        <a:spcBef>
                          <a:spcPts val="0"/>
                        </a:spcBef>
                        <a:spcAft>
                          <a:spcPts val="0"/>
                        </a:spcAft>
                        <a:buNone/>
                      </a:pPr>
                      <a:r>
                        <a:rPr lang="en-US"/>
                        <a:t>Reranking + evidence filtering before generation </a:t>
                      </a:r>
                      <a:endParaRPr/>
                    </a:p>
                  </a:txBody>
                  <a:tcPr marL="91425" marR="91425" marT="91425" marB="91425"/>
                </a:tc>
              </a:tr>
              <a:tr h="381000">
                <a:tc>
                  <a:txBody>
                    <a:bodyPr/>
                    <a:lstStyle/>
                    <a:p>
                      <a:pPr marL="0" lvl="0" indent="0" algn="l" rtl="0">
                        <a:spcBef>
                          <a:spcPts val="0"/>
                        </a:spcBef>
                        <a:spcAft>
                          <a:spcPts val="0"/>
                        </a:spcAft>
                        <a:buNone/>
                      </a:pPr>
                      <a:r>
                        <a:rPr lang="en-US"/>
                        <a:t>Final answer appears after generation </a:t>
                      </a:r>
                      <a:endParaRPr/>
                    </a:p>
                  </a:txBody>
                  <a:tcPr marL="91425" marR="91425" marT="91425" marB="91425"/>
                </a:tc>
                <a:tc>
                  <a:txBody>
                    <a:bodyPr/>
                    <a:lstStyle/>
                    <a:p>
                      <a:pPr marL="0" lvl="0" indent="0" algn="l" rtl="0">
                        <a:spcBef>
                          <a:spcPts val="0"/>
                        </a:spcBef>
                        <a:spcAft>
                          <a:spcPts val="0"/>
                        </a:spcAft>
                        <a:buNone/>
                      </a:pPr>
                      <a:r>
                        <a:rPr lang="en-US"/>
                        <a:t>Progressive live response using SSE</a:t>
                      </a:r>
                      <a:endParaRPr/>
                    </a:p>
                  </a:txBody>
                  <a:tcPr marL="91425" marR="91425" marT="91425" marB="91425"/>
                </a:tc>
              </a:tr>
              <a:tr h="381000">
                <a:tc>
                  <a:txBody>
                    <a:bodyPr/>
                    <a:lstStyle/>
                    <a:p>
                      <a:pPr marL="0" lvl="0" indent="0" algn="l" rtl="0">
                        <a:spcBef>
                          <a:spcPts val="0"/>
                        </a:spcBef>
                        <a:spcAft>
                          <a:spcPts val="0"/>
                        </a:spcAft>
                        <a:buNone/>
                      </a:pPr>
                      <a:r>
                        <a:rPr lang="en-US"/>
                        <a:t>No explicit answer evolution </a:t>
                      </a:r>
                      <a:endParaRPr/>
                    </a:p>
                  </a:txBody>
                  <a:tcPr marL="91425" marR="91425" marT="91425" marB="91425"/>
                </a:tc>
                <a:tc>
                  <a:txBody>
                    <a:bodyPr/>
                    <a:lstStyle/>
                    <a:p>
                      <a:pPr marL="0" lvl="0" indent="0" algn="l" rtl="0">
                        <a:spcBef>
                          <a:spcPts val="0"/>
                        </a:spcBef>
                        <a:spcAft>
                          <a:spcPts val="0"/>
                        </a:spcAft>
                        <a:buNone/>
                      </a:pPr>
                      <a:r>
                        <a:rPr lang="en-US"/>
                        <a:t>Answer versioning: v1 → v2 → v3 </a:t>
                      </a:r>
                      <a:endParaRPr/>
                    </a:p>
                  </a:txBody>
                  <a:tcPr marL="91425" marR="91425" marT="91425" marB="91425"/>
                </a:tc>
              </a:tr>
              <a:tr h="381000">
                <a:tc>
                  <a:txBody>
                    <a:bodyPr/>
                    <a:lstStyle/>
                    <a:p>
                      <a:pPr marL="0" lvl="0" indent="0" algn="l" rtl="0">
                        <a:spcBef>
                          <a:spcPts val="0"/>
                        </a:spcBef>
                        <a:spcAft>
                          <a:spcPts val="0"/>
                        </a:spcAft>
                        <a:buNone/>
                      </a:pPr>
                      <a:r>
                        <a:rPr lang="en-US"/>
                        <a:t>Limited visibility into evidence </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solidFill>
                            <a:schemeClr val="dk1"/>
                          </a:solidFill>
                        </a:rPr>
                        <a:t>Evidence-aware and grounded responses</a:t>
                      </a:r>
                      <a:endParaRPr>
                        <a:solidFill>
                          <a:schemeClr val="dk1"/>
                        </a:solidFill>
                      </a:endParaRPr>
                    </a:p>
                    <a:p>
                      <a:pPr marL="0" lvl="0" indent="0" algn="l" rtl="0">
                        <a:spcBef>
                          <a:spcPts val="0"/>
                        </a:spcBef>
                        <a:spcAft>
                          <a:spcPts val="0"/>
                        </a:spcAft>
                        <a:buNone/>
                      </a:pPr>
                      <a:endParaRPr/>
                    </a:p>
                  </a:txBody>
                  <a:tcPr marL="91425" marR="91425" marT="91425" marB="91425"/>
                </a:tc>
              </a:tr>
            </a:tbl>
          </a:graphicData>
        </a:graphic>
      </p:graphicFrame>
      <p:graphicFrame>
        <p:nvGraphicFramePr>
          <p:cNvPr id="233" name="Google Shape;233;p10"/>
          <p:cNvGraphicFramePr/>
          <p:nvPr/>
        </p:nvGraphicFramePr>
        <p:xfrm>
          <a:off x="152400" y="152400"/>
          <a:ext cx="208250" cy="396210"/>
        </p:xfrm>
        <a:graphic>
          <a:graphicData uri="http://schemas.openxmlformats.org/drawingml/2006/table">
            <a:tbl>
              <a:tblPr>
                <a:noFill/>
                <a:tableStyleId>{E346F8DB-2967-4E04-9A6A-E7796BA0A4F5}</a:tableStyleId>
              </a:tblPr>
              <a:tblGrid>
                <a:gridCol w="208250"/>
              </a:tblGrid>
              <a:tr h="0">
                <a:tc>
                  <a:txBody>
                    <a:bodyPr/>
                    <a:lstStyle/>
                    <a:p>
                      <a:pPr marL="0" lvl="0" indent="0" algn="l" rtl="0">
                        <a:spcBef>
                          <a:spcPts val="0"/>
                        </a:spcBef>
                        <a:spcAft>
                          <a:spcPts val="0"/>
                        </a:spcAft>
                        <a:buNone/>
                      </a:pPr>
                      <a:endParaRPr/>
                    </a:p>
                  </a:txBody>
                  <a:tcPr marL="91425" marR="91425" marT="91425" marB="91425"/>
                </a:tc>
              </a:tr>
            </a:tbl>
          </a:graphicData>
        </a:graphic>
      </p:graphicFrame>
      <p:graphicFrame>
        <p:nvGraphicFramePr>
          <p:cNvPr id="234" name="Google Shape;234;p10"/>
          <p:cNvGraphicFramePr/>
          <p:nvPr/>
        </p:nvGraphicFramePr>
        <p:xfrm>
          <a:off x="304800" y="304800"/>
          <a:ext cx="2333625" cy="350490"/>
        </p:xfrm>
        <a:graphic>
          <a:graphicData uri="http://schemas.openxmlformats.org/drawingml/2006/table">
            <a:tbl>
              <a:tblPr>
                <a:noFill/>
                <a:tableStyleId>{E346F8DB-2967-4E04-9A6A-E7796BA0A4F5}</a:tableStyleId>
              </a:tblPr>
              <a:tblGrid>
                <a:gridCol w="2333625"/>
              </a:tblGrid>
              <a:tr h="0">
                <a:tc>
                  <a:txBody>
                    <a:bodyPr/>
                    <a:lstStyle/>
                    <a:p>
                      <a:pPr marL="0" lvl="0" indent="0" algn="l" rtl="0">
                        <a:spcBef>
                          <a:spcPts val="0"/>
                        </a:spcBef>
                        <a:spcAft>
                          <a:spcPts val="0"/>
                        </a:spcAft>
                        <a:buNone/>
                      </a:pPr>
                      <a:endParaRPr sz="1100" b="1"/>
                    </a:p>
                  </a:txBody>
                  <a:tcPr marL="91425" marR="91425" marT="91425" marB="91425"/>
                </a:tc>
              </a:tr>
            </a:tbl>
          </a:graphicData>
        </a:graphic>
      </p:graphicFrame>
      <p:graphicFrame>
        <p:nvGraphicFramePr>
          <p:cNvPr id="235" name="Google Shape;235;p10"/>
          <p:cNvGraphicFramePr/>
          <p:nvPr/>
        </p:nvGraphicFramePr>
        <p:xfrm>
          <a:off x="152400" y="152400"/>
          <a:ext cx="208250" cy="396210"/>
        </p:xfrm>
        <a:graphic>
          <a:graphicData uri="http://schemas.openxmlformats.org/drawingml/2006/table">
            <a:tbl>
              <a:tblPr>
                <a:noFill/>
                <a:tableStyleId>{E346F8DB-2967-4E04-9A6A-E7796BA0A4F5}</a:tableStyleId>
              </a:tblPr>
              <a:tblGrid>
                <a:gridCol w="208250"/>
              </a:tblGrid>
              <a:tr h="0">
                <a:tc>
                  <a:txBody>
                    <a:bodyPr/>
                    <a:lstStyle/>
                    <a:p>
                      <a:pPr marL="0" lvl="0" indent="0" algn="l" rtl="0">
                        <a:spcBef>
                          <a:spcPts val="0"/>
                        </a:spcBef>
                        <a:spcAft>
                          <a:spcPts val="0"/>
                        </a:spcAft>
                        <a:buNone/>
                      </a:pPr>
                      <a:endParaRPr/>
                    </a:p>
                  </a:txBody>
                  <a:tcPr marL="91425" marR="91425" marT="91425" marB="91425"/>
                </a:tc>
              </a:tr>
            </a:tbl>
          </a:graphicData>
        </a:graphic>
      </p:graphicFrame>
      <p:graphicFrame>
        <p:nvGraphicFramePr>
          <p:cNvPr id="236" name="Google Shape;236;p10"/>
          <p:cNvGraphicFramePr/>
          <p:nvPr/>
        </p:nvGraphicFramePr>
        <p:xfrm>
          <a:off x="304800" y="304800"/>
          <a:ext cx="2667000" cy="350490"/>
        </p:xfrm>
        <a:graphic>
          <a:graphicData uri="http://schemas.openxmlformats.org/drawingml/2006/table">
            <a:tbl>
              <a:tblPr>
                <a:noFill/>
                <a:tableStyleId>{E346F8DB-2967-4E04-9A6A-E7796BA0A4F5}</a:tableStyleId>
              </a:tblPr>
              <a:tblGrid>
                <a:gridCol w="2667000"/>
              </a:tblGrid>
              <a:tr h="0">
                <a:tc>
                  <a:txBody>
                    <a:bodyPr/>
                    <a:lstStyle/>
                    <a:p>
                      <a:pPr marL="0" lvl="0" indent="0" algn="l" rtl="0">
                        <a:spcBef>
                          <a:spcPts val="0"/>
                        </a:spcBef>
                        <a:spcAft>
                          <a:spcPts val="0"/>
                        </a:spcAft>
                        <a:buNone/>
                      </a:pPr>
                      <a:endParaRPr sz="1100" b="1"/>
                    </a:p>
                  </a:txBody>
                  <a:tcPr marL="91425" marR="91425" marT="91425" marB="91425"/>
                </a:tc>
              </a:tr>
            </a:tbl>
          </a:graphicData>
        </a:graphic>
      </p:graphicFrame>
      <p:sp>
        <p:nvSpPr>
          <p:cNvPr id="237" name="Google Shape;237;p10"/>
          <p:cNvSpPr txBox="1"/>
          <p:nvPr/>
        </p:nvSpPr>
        <p:spPr>
          <a:xfrm>
            <a:off x="838200" y="1483013"/>
            <a:ext cx="63672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How Our Solution Stands Out </a:t>
            </a:r>
            <a:endParaRPr sz="2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rPr>
              <a:t>Screenshot </a:t>
            </a:r>
            <a:endParaRPr/>
          </a:p>
        </p:txBody>
      </p:sp>
      <p:sp>
        <p:nvSpPr>
          <p:cNvPr id="243" name="Google Shape;243;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500"/>
              </a:spcBef>
              <a:spcAft>
                <a:spcPts val="0"/>
              </a:spcAft>
              <a:buClr>
                <a:schemeClr val="dk1"/>
              </a:buClr>
              <a:buSzPts val="2800"/>
              <a:buNone/>
            </a:pPr>
            <a:endParaRPr/>
          </a:p>
        </p:txBody>
      </p:sp>
      <p:pic>
        <p:nvPicPr>
          <p:cNvPr id="244" name="Google Shape;244;p11" title="sam1.PNG"/>
          <p:cNvPicPr preferRelativeResize="0"/>
          <p:nvPr/>
        </p:nvPicPr>
        <p:blipFill>
          <a:blip r:embed="rId3">
            <a:alphaModFix/>
          </a:blip>
          <a:stretch>
            <a:fillRect/>
          </a:stretch>
        </p:blipFill>
        <p:spPr>
          <a:xfrm>
            <a:off x="646800" y="1296676"/>
            <a:ext cx="10707002" cy="5071325"/>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h3ec38cbf6a3e40f2_0_1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rPr>
              <a:t>Screenshot </a:t>
            </a:r>
            <a:endParaRPr/>
          </a:p>
        </p:txBody>
      </p:sp>
      <p:sp>
        <p:nvSpPr>
          <p:cNvPr id="250" name="Google Shape;250;h3ec38cbf6a3e40f2_0_11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500"/>
              </a:spcBef>
              <a:spcAft>
                <a:spcPts val="0"/>
              </a:spcAft>
              <a:buClr>
                <a:schemeClr val="dk1"/>
              </a:buClr>
              <a:buSzPts val="2800"/>
              <a:buNone/>
            </a:pPr>
            <a:endParaRPr/>
          </a:p>
        </p:txBody>
      </p:sp>
      <p:pic>
        <p:nvPicPr>
          <p:cNvPr id="251" name="Google Shape;251;h3ec38cbf6a3e40f2_0_117" title="sam2.PNG"/>
          <p:cNvPicPr preferRelativeResize="0"/>
          <p:nvPr/>
        </p:nvPicPr>
        <p:blipFill rotWithShape="1">
          <a:blip r:embed="rId3">
            <a:alphaModFix/>
          </a:blip>
          <a:srcRect l="622" r="612"/>
          <a:stretch/>
        </p:blipFill>
        <p:spPr>
          <a:xfrm>
            <a:off x="646800" y="1296676"/>
            <a:ext cx="10707002" cy="5071324"/>
          </a:xfrm>
          <a:prstGeom prst="rect">
            <a:avLst/>
          </a:prstGeom>
          <a:noFill/>
          <a:ln>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h3ec38cbf6a3e40f2_0_12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rPr>
              <a:t>Screenshot </a:t>
            </a:r>
            <a:endParaRPr/>
          </a:p>
        </p:txBody>
      </p:sp>
      <p:sp>
        <p:nvSpPr>
          <p:cNvPr id="257" name="Google Shape;257;h3ec38cbf6a3e40f2_0_12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500"/>
              </a:spcBef>
              <a:spcAft>
                <a:spcPts val="0"/>
              </a:spcAft>
              <a:buClr>
                <a:schemeClr val="dk1"/>
              </a:buClr>
              <a:buSzPts val="2800"/>
              <a:buNone/>
            </a:pPr>
            <a:endParaRPr/>
          </a:p>
        </p:txBody>
      </p:sp>
      <p:pic>
        <p:nvPicPr>
          <p:cNvPr id="258" name="Google Shape;258;h3ec38cbf6a3e40f2_0_123" title="sam3.PNG"/>
          <p:cNvPicPr preferRelativeResize="0"/>
          <p:nvPr/>
        </p:nvPicPr>
        <p:blipFill rotWithShape="1">
          <a:blip r:embed="rId3">
            <a:alphaModFix/>
          </a:blip>
          <a:srcRect l="308" r="308"/>
          <a:stretch/>
        </p:blipFill>
        <p:spPr>
          <a:xfrm>
            <a:off x="646800" y="1296676"/>
            <a:ext cx="10707002" cy="5071325"/>
          </a:xfrm>
          <a:prstGeom prst="rect">
            <a:avLst/>
          </a:prstGeom>
          <a:noFill/>
          <a:ln>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h3ec38cbf6a3e40f2_0_1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rPr>
              <a:t>Screenshot </a:t>
            </a:r>
            <a:endParaRPr/>
          </a:p>
        </p:txBody>
      </p:sp>
      <p:sp>
        <p:nvSpPr>
          <p:cNvPr id="264" name="Google Shape;264;h3ec38cbf6a3e40f2_0_1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500"/>
              </a:spcBef>
              <a:spcAft>
                <a:spcPts val="0"/>
              </a:spcAft>
              <a:buClr>
                <a:schemeClr val="dk1"/>
              </a:buClr>
              <a:buSzPts val="2800"/>
              <a:buNone/>
            </a:pPr>
            <a:endParaRPr/>
          </a:p>
        </p:txBody>
      </p:sp>
      <p:pic>
        <p:nvPicPr>
          <p:cNvPr id="265" name="Google Shape;265;h3ec38cbf6a3e40f2_0_129" title="sam4.PNG"/>
          <p:cNvPicPr preferRelativeResize="0"/>
          <p:nvPr/>
        </p:nvPicPr>
        <p:blipFill rotWithShape="1">
          <a:blip r:embed="rId3">
            <a:alphaModFix/>
          </a:blip>
          <a:srcRect l="318" r="318"/>
          <a:stretch/>
        </p:blipFill>
        <p:spPr>
          <a:xfrm>
            <a:off x="646800" y="1296676"/>
            <a:ext cx="10707002" cy="5071324"/>
          </a:xfrm>
          <a:prstGeom prst="rect">
            <a:avLst/>
          </a:prstGeom>
          <a:noFill/>
          <a:ln>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h3ec38cbf6a3e40f2_0_13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rPr>
              <a:t>Screenshot </a:t>
            </a:r>
            <a:endParaRPr/>
          </a:p>
        </p:txBody>
      </p:sp>
      <p:sp>
        <p:nvSpPr>
          <p:cNvPr id="271" name="Google Shape;271;h3ec38cbf6a3e40f2_0_13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500"/>
              </a:spcBef>
              <a:spcAft>
                <a:spcPts val="0"/>
              </a:spcAft>
              <a:buClr>
                <a:schemeClr val="dk1"/>
              </a:buClr>
              <a:buSzPts val="2800"/>
              <a:buNone/>
            </a:pPr>
            <a:endParaRPr/>
          </a:p>
        </p:txBody>
      </p:sp>
      <p:pic>
        <p:nvPicPr>
          <p:cNvPr id="272" name="Google Shape;272;h3ec38cbf6a3e40f2_0_135" title="sam5.PNG"/>
          <p:cNvPicPr preferRelativeResize="0"/>
          <p:nvPr/>
        </p:nvPicPr>
        <p:blipFill rotWithShape="1">
          <a:blip r:embed="rId3">
            <a:alphaModFix/>
          </a:blip>
          <a:srcRect l="308" r="308"/>
          <a:stretch/>
        </p:blipFill>
        <p:spPr>
          <a:xfrm>
            <a:off x="646800" y="1296676"/>
            <a:ext cx="10707002" cy="5071325"/>
          </a:xfrm>
          <a:prstGeom prst="rect">
            <a:avLst/>
          </a:prstGeom>
          <a:noFill/>
          <a:ln>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h3ec38cbf6a3e40f2_0_14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rPr>
              <a:t>Screenshot </a:t>
            </a:r>
            <a:endParaRPr/>
          </a:p>
        </p:txBody>
      </p:sp>
      <p:sp>
        <p:nvSpPr>
          <p:cNvPr id="278" name="Google Shape;278;h3ec38cbf6a3e40f2_0_14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500"/>
              </a:spcBef>
              <a:spcAft>
                <a:spcPts val="0"/>
              </a:spcAft>
              <a:buClr>
                <a:schemeClr val="dk1"/>
              </a:buClr>
              <a:buSzPts val="2800"/>
              <a:buNone/>
            </a:pPr>
            <a:endParaRPr/>
          </a:p>
        </p:txBody>
      </p:sp>
      <p:pic>
        <p:nvPicPr>
          <p:cNvPr id="279" name="Google Shape;279;h3ec38cbf6a3e40f2_0_141" title="sam6.PNG"/>
          <p:cNvPicPr preferRelativeResize="0"/>
          <p:nvPr/>
        </p:nvPicPr>
        <p:blipFill rotWithShape="1">
          <a:blip r:embed="rId3">
            <a:alphaModFix/>
          </a:blip>
          <a:srcRect l="80" r="70"/>
          <a:stretch/>
        </p:blipFill>
        <p:spPr>
          <a:xfrm>
            <a:off x="646800" y="1296676"/>
            <a:ext cx="10707002" cy="5071324"/>
          </a:xfrm>
          <a:prstGeom prst="rect">
            <a:avLst/>
          </a:prstGeom>
          <a:noFill/>
          <a:ln>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h3ec38cbf6a3e40f2_0_14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rPr>
              <a:t>Screenshot </a:t>
            </a:r>
            <a:endParaRPr/>
          </a:p>
        </p:txBody>
      </p:sp>
      <p:sp>
        <p:nvSpPr>
          <p:cNvPr id="285" name="Google Shape;285;h3ec38cbf6a3e40f2_0_14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500"/>
              </a:spcBef>
              <a:spcAft>
                <a:spcPts val="0"/>
              </a:spcAft>
              <a:buClr>
                <a:schemeClr val="dk1"/>
              </a:buClr>
              <a:buSzPts val="2800"/>
              <a:buNone/>
            </a:pPr>
            <a:endParaRPr/>
          </a:p>
        </p:txBody>
      </p:sp>
      <p:pic>
        <p:nvPicPr>
          <p:cNvPr id="286" name="Google Shape;286;h3ec38cbf6a3e40f2_0_147" title="sam7.PNG"/>
          <p:cNvPicPr preferRelativeResize="0"/>
          <p:nvPr/>
        </p:nvPicPr>
        <p:blipFill rotWithShape="1">
          <a:blip r:embed="rId3">
            <a:alphaModFix/>
          </a:blip>
          <a:srcRect l="308" r="308"/>
          <a:stretch/>
        </p:blipFill>
        <p:spPr>
          <a:xfrm>
            <a:off x="646800" y="1296676"/>
            <a:ext cx="10707002" cy="5071325"/>
          </a:xfrm>
          <a:prstGeom prst="rect">
            <a:avLst/>
          </a:prstGeom>
          <a:noFill/>
          <a:ln>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h3ec38cbf6a3e40f2_0_7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Checklist- Updated on Public GitHub</a:t>
            </a:r>
            <a:endParaRPr/>
          </a:p>
        </p:txBody>
      </p:sp>
      <p:sp>
        <p:nvSpPr>
          <p:cNvPr id="292" name="Google Shape;292;h3ec38cbf6a3e40f2_0_7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lnSpcReduction="10000"/>
          </a:bodyPr>
          <a:lstStyle/>
          <a:p>
            <a:pPr marL="177800" lvl="0" indent="-177800" algn="l" rtl="0">
              <a:lnSpc>
                <a:spcPct val="90000"/>
              </a:lnSpc>
              <a:spcBef>
                <a:spcPts val="0"/>
              </a:spcBef>
              <a:spcAft>
                <a:spcPts val="0"/>
              </a:spcAft>
              <a:buClr>
                <a:srgbClr val="63637E"/>
              </a:buClr>
              <a:buSzPts val="2800"/>
              <a:buChar char="•"/>
            </a:pPr>
            <a:r>
              <a:rPr lang="en-US" sz="2800" dirty="0">
                <a:solidFill>
                  <a:srgbClr val="63637E"/>
                </a:solidFill>
                <a:latin typeface="Calibri"/>
                <a:ea typeface="Calibri"/>
                <a:cs typeface="Calibri"/>
                <a:sym typeface="Calibri"/>
              </a:rPr>
              <a:t>Working prototype code — public or shared </a:t>
            </a:r>
            <a:r>
              <a:rPr lang="en-US" sz="2800" dirty="0" err="1">
                <a:solidFill>
                  <a:srgbClr val="63637E"/>
                </a:solidFill>
                <a:latin typeface="Calibri"/>
                <a:ea typeface="Calibri"/>
                <a:cs typeface="Calibri"/>
                <a:sym typeface="Calibri"/>
              </a:rPr>
              <a:t>GitHub</a:t>
            </a:r>
            <a:r>
              <a:rPr lang="en-US" sz="2800" dirty="0">
                <a:solidFill>
                  <a:srgbClr val="63637E"/>
                </a:solidFill>
                <a:latin typeface="Calibri"/>
                <a:ea typeface="Calibri"/>
                <a:cs typeface="Calibri"/>
                <a:sym typeface="Calibri"/>
              </a:rPr>
              <a:t> repo (Y/N)- </a:t>
            </a:r>
            <a:r>
              <a:rPr lang="en-US" sz="2800" b="1" dirty="0"/>
              <a:t>Yes</a:t>
            </a:r>
            <a:endParaRPr sz="2800" b="1"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README with reproducible setup instructions (Y/N) -</a:t>
            </a:r>
            <a:r>
              <a:rPr lang="en-US" sz="2800" b="1" dirty="0">
                <a:solidFill>
                  <a:srgbClr val="63637E"/>
                </a:solidFill>
              </a:rPr>
              <a:t> </a:t>
            </a:r>
            <a:r>
              <a:rPr lang="en-US" sz="2800" b="1" dirty="0"/>
              <a:t>Y</a:t>
            </a:r>
            <a:r>
              <a:rPr lang="en-US" b="1" dirty="0"/>
              <a:t>es</a:t>
            </a:r>
            <a:endParaRPr sz="2800" b="1"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Demo video, max 5 minutes (YouTube or Drive link) - </a:t>
            </a:r>
            <a:r>
              <a:rPr lang="en-US" sz="2800" b="1" dirty="0"/>
              <a:t>Yes</a:t>
            </a:r>
            <a:endParaRPr sz="2800" b="1"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Presentation file (PPT or PDF) (Y/N) </a:t>
            </a:r>
            <a:r>
              <a:rPr lang="en-US" sz="2800" dirty="0" smtClean="0">
                <a:solidFill>
                  <a:srgbClr val="63637E"/>
                </a:solidFill>
                <a:latin typeface="Calibri"/>
                <a:ea typeface="Calibri"/>
                <a:cs typeface="Calibri"/>
                <a:sym typeface="Calibri"/>
              </a:rPr>
              <a:t>– </a:t>
            </a:r>
            <a:r>
              <a:rPr lang="en-US" sz="2800" b="1" dirty="0" smtClean="0"/>
              <a:t>Yes</a:t>
            </a:r>
          </a:p>
          <a:p>
            <a:pPr marL="177800" lvl="0" indent="-177800">
              <a:spcBef>
                <a:spcPts val="1500"/>
              </a:spcBef>
              <a:buClr>
                <a:srgbClr val="63637E"/>
              </a:buClr>
              <a:buSzPts val="2800"/>
            </a:pPr>
            <a:r>
              <a:rPr lang="en-US" b="1" dirty="0" smtClean="0"/>
              <a:t>Video link </a:t>
            </a:r>
            <a:r>
              <a:rPr lang="en-IN" dirty="0">
                <a:hlinkClick r:id="rId3"/>
              </a:rPr>
              <a:t>https://drive.google.com/file/d/1wRqeWR_73OF0UlTsOlgp88pMK-UJ6dD7/view?usp=drivesdk</a:t>
            </a:r>
            <a:endParaRPr sz="2800" b="1" dirty="0"/>
          </a:p>
          <a:p>
            <a:pPr marL="0" lvl="0" indent="0" algn="l" rtl="0">
              <a:lnSpc>
                <a:spcPct val="90000"/>
              </a:lnSpc>
              <a:spcBef>
                <a:spcPts val="1500"/>
              </a:spcBef>
              <a:spcAft>
                <a:spcPts val="0"/>
              </a:spcAft>
              <a:buClr>
                <a:schemeClr val="dk1"/>
              </a:buClr>
              <a:buSzPts val="2800"/>
              <a:buNone/>
            </a:pPr>
            <a:r>
              <a:rPr lang="en-US" dirty="0" err="1"/>
              <a:t>Github</a:t>
            </a:r>
            <a:r>
              <a:rPr lang="en-US" dirty="0"/>
              <a:t> link - </a:t>
            </a:r>
            <a:r>
              <a:rPr lang="en-US" u="sng" dirty="0">
                <a:solidFill>
                  <a:schemeClr val="hlink"/>
                </a:solidFill>
                <a:hlinkClick r:id="rId4"/>
              </a:rPr>
              <a:t>https://github.com/Santhoshsubramani22/Samsung-Prism-Generative-AI-Hackathon-Santhosh-4</a:t>
            </a:r>
            <a:endParaRP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2"/>
          <p:cNvSpPr txBox="1"/>
          <p:nvPr/>
        </p:nvSpPr>
        <p:spPr>
          <a:xfrm>
            <a:off x="1046181" y="3730214"/>
            <a:ext cx="6766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4600"/>
              <a:buFont typeface="Arial"/>
              <a:buNone/>
            </a:pPr>
            <a:r>
              <a:rPr lang="en-US" sz="4600" b="1" i="0" u="none" strike="noStrike" cap="none">
                <a:solidFill>
                  <a:srgbClr val="14142B"/>
                </a:solidFill>
                <a:latin typeface="Arial"/>
                <a:ea typeface="Arial"/>
                <a:cs typeface="Arial"/>
                <a:sym typeface="Arial"/>
              </a:rPr>
              <a:t>Thank you</a:t>
            </a:r>
            <a:endParaRPr sz="4600" b="0" i="0" u="none" strike="noStrike" cap="none">
              <a:solidFill>
                <a:schemeClr val="dk1"/>
              </a:solidFill>
              <a:latin typeface="Calibri"/>
              <a:ea typeface="Calibri"/>
              <a:cs typeface="Calibri"/>
              <a:sym typeface="Calibri"/>
            </a:endParaRPr>
          </a:p>
        </p:txBody>
      </p:sp>
      <p:sp>
        <p:nvSpPr>
          <p:cNvPr id="299" name="Google Shape;299;p12"/>
          <p:cNvSpPr txBox="1"/>
          <p:nvPr/>
        </p:nvSpPr>
        <p:spPr>
          <a:xfrm>
            <a:off x="777240" y="5897880"/>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1421</Words>
  <Application>Microsoft Office PowerPoint</Application>
  <PresentationFormat>Widescreen</PresentationFormat>
  <Paragraphs>283</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Times New Roman</vt:lpstr>
      <vt:lpstr>Office Theme</vt:lpstr>
      <vt:lpstr>PowerPoint Presentation</vt:lpstr>
      <vt:lpstr>Theme</vt:lpstr>
      <vt:lpstr>Theme</vt:lpstr>
      <vt:lpstr>Theme</vt:lpstr>
      <vt:lpstr>Existing Solutions &amp; Gaps</vt:lpstr>
      <vt:lpstr>Our Solutions &amp; Architecture Diagram</vt:lpstr>
      <vt:lpstr>Demo &amp; Product Walkthrough</vt:lpstr>
      <vt:lpstr>Demo &amp; Product Walkthrough</vt:lpstr>
      <vt:lpstr>Demo &amp; Product Walkthrough</vt:lpstr>
      <vt:lpstr>Demo &amp; Product Walkthrough</vt:lpstr>
      <vt:lpstr>Demo &amp; Product Walkthrough</vt:lpstr>
      <vt:lpstr>Tools and tech stack used</vt:lpstr>
      <vt:lpstr>Impact &amp; Use case</vt:lpstr>
      <vt:lpstr>Impact &amp; Use case</vt:lpstr>
      <vt:lpstr>Impact &amp; Use case</vt:lpstr>
      <vt:lpstr>Impact &amp; Use case</vt:lpstr>
      <vt:lpstr>Innovation highlights, results and limitations</vt:lpstr>
      <vt:lpstr>Innovation highlights, results and limitations</vt:lpstr>
      <vt:lpstr>Innovation highlights, results and limitations</vt:lpstr>
      <vt:lpstr>What’s next</vt:lpstr>
      <vt:lpstr>What’s next</vt:lpstr>
      <vt:lpstr>Brownie points slide( differentiation)</vt:lpstr>
      <vt:lpstr>Screenshot </vt:lpstr>
      <vt:lpstr>Screenshot </vt:lpstr>
      <vt:lpstr>Screenshot </vt:lpstr>
      <vt:lpstr>Screenshot </vt:lpstr>
      <vt:lpstr>Screenshot </vt:lpstr>
      <vt:lpstr>Screenshot </vt:lpstr>
      <vt:lpstr>Screenshot </vt:lpstr>
      <vt:lpstr>Checklist- Updated on Public GitHub</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ELCOT</cp:lastModifiedBy>
  <cp:revision>1</cp:revision>
  <dcterms:created xsi:type="dcterms:W3CDTF">2026-09-07T12:01:01Z</dcterms:created>
  <dcterms:modified xsi:type="dcterms:W3CDTF">2026-09-30T13:02:51Z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