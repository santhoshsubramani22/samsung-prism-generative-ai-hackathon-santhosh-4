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gbwS5A+wDrz3LjRNQm/DWuoKuR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86A7297-AFFE-4123-929A-EA93B868DDA5}">
  <a:tblStyle styleId="{686A7297-AFFE-4123-929A-EA93B868DDA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346F8DB-2967-4E04-9A6A-E7796BA0A4F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Opening slide for the 3rd edition of the PRISM Generative AI Hackathon. Replace the SAMSUNG PRISM pill with the official PRISM logo image if you have the asset. Confirm the academic year label (2026-27) before circulating.</a:t>
            </a:r>
            <a:endParaRP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c3857839a27095_0_1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hc3857839a27095_0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c3857839a27095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hc3857839a27095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c3857839a27095_0_1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hc3857839a27095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3ec38cbf6a3e40f2_0_1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h3ec38cbf6a3e40f2_0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h3ec38cbf6a3e40f2_0_1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h3ec38cbf6a3e40f2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c3857839a27095_0_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hc3857839a27095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h3ec38cbf6a3e40f2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h3ec38cbf6a3e40f2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3ec38cbf6a3e40f2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h3ec38cbf6a3e40f2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3ec38cbf6a3e40f2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h3ec38cbf6a3e40f2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h3ec38cbf6a3e40f2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h3ec38cbf6a3e40f2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h3ec38cbf6a3e40f2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h3ec38cbf6a3e40f2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h3ec38cbf6a3e40f2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h3ec38cbf6a3e40f2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3ec38cbf6a3e40f2_0_1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h3ec38cbf6a3e40f2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h3ec38cbf6a3e40f2_0_1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h3ec38cbf6a3e40f2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h3ec38cbf6a3e40f2_0_1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h3ec38cbf6a3e40f2_0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h3ec38cbf6a3e40f2_0_1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h3ec38cbf6a3e40f2_0_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3ec38cbf6a3e40f2_0_1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h3ec38cbf6a3e40f2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h3ec38cbf6a3e40f2_0_1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h3ec38cbf6a3e40f2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3ec38cbf6a3e40f2_0_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h3ec38cbf6a3e40f2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296" name="Google Shape;29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3"/>
          <p:cNvSpPr/>
          <p:nvPr>
            <p:ph idx="2" type="pic"/>
          </p:nvPr>
        </p:nvSpPr>
        <p:spPr>
          <a:xfrm>
            <a:off x="5183188" y="987425"/>
            <a:ext cx="6172200" cy="4873625"/>
          </a:xfrm>
          <a:prstGeom prst="rect">
            <a:avLst/>
          </a:prstGeom>
          <a:noFill/>
          <a:ln>
            <a:noFill/>
          </a:ln>
        </p:spPr>
      </p:sp>
      <p:sp>
        <p:nvSpPr>
          <p:cNvPr id="69" name="Google Shape;69;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Santhoshsubramani22/Samsung-Prism-Generative-AI-Hackathon-Santhosh-4"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github.com/Santhoshsubramani22/Samsung-Prism-Generative-AI-Hackathon-Santhosh-4"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fmla="val 50000" name="adj"/>
            </a:avLst>
          </a:prstGeom>
          <a:solidFill>
            <a:srgbClr val="FFFFFF"/>
          </a:solidFill>
          <a:ln cap="flat" cmpd="sng" w="12700">
            <a:solidFill>
              <a:srgbClr val="D9D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777240" y="676656"/>
            <a:ext cx="2423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8D9"/>
              </a:buClr>
              <a:buSzPts val="1100"/>
              <a:buFont typeface="Arial"/>
              <a:buNone/>
            </a:pPr>
            <a:r>
              <a:rPr b="1" i="0" lang="en-US" sz="1100" u="none" cap="none" strike="noStrike">
                <a:solidFill>
                  <a:srgbClr val="6D28D9"/>
                </a:solidFill>
                <a:latin typeface="Arial"/>
                <a:ea typeface="Arial"/>
                <a:cs typeface="Arial"/>
                <a:sym typeface="Arial"/>
              </a:rPr>
              <a:t>SAMSUNG PRISM</a:t>
            </a:r>
            <a:endParaRPr b="0" i="0" sz="1100" u="none" cap="none" strike="noStrik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5000"/>
              <a:buFont typeface="Arial"/>
              <a:buNone/>
            </a:pPr>
            <a:r>
              <a:rPr b="1" i="0" lang="en-US" sz="5000" u="none" cap="none" strike="noStrike">
                <a:solidFill>
                  <a:srgbClr val="14142B"/>
                </a:solidFill>
                <a:latin typeface="Arial"/>
                <a:ea typeface="Arial"/>
                <a:cs typeface="Arial"/>
                <a:sym typeface="Arial"/>
              </a:rPr>
              <a:t>Generative AI</a:t>
            </a:r>
            <a:endParaRPr b="0" i="0" sz="5000" u="none" cap="none" strike="noStrik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8D9"/>
              </a:buClr>
              <a:buSzPts val="5000"/>
              <a:buFont typeface="Arial"/>
              <a:buNone/>
            </a:pPr>
            <a:r>
              <a:rPr b="1" i="0" lang="en-US" sz="5000" u="none" cap="none" strike="noStrike">
                <a:solidFill>
                  <a:srgbClr val="6D28D9"/>
                </a:solidFill>
                <a:latin typeface="Arial"/>
                <a:ea typeface="Arial"/>
                <a:cs typeface="Arial"/>
                <a:sym typeface="Arial"/>
              </a:rPr>
              <a:t>Hackathon</a:t>
            </a:r>
            <a:endParaRPr b="0" i="0" sz="5000" u="none" cap="none" strike="noStrik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2500"/>
              <a:buFont typeface="Arial"/>
              <a:buNone/>
            </a:pPr>
            <a:r>
              <a:rPr b="1" i="0" lang="en-US" sz="2500" u="none" cap="none" strike="noStrike">
                <a:solidFill>
                  <a:srgbClr val="14142B"/>
                </a:solidFill>
                <a:latin typeface="Arial"/>
                <a:ea typeface="Arial"/>
                <a:cs typeface="Arial"/>
                <a:sym typeface="Arial"/>
              </a:rPr>
              <a:t>3rd Edition</a:t>
            </a:r>
            <a:r>
              <a:rPr b="0" i="0" lang="en-US" sz="2000" u="none" cap="none" strike="noStrike">
                <a:solidFill>
                  <a:srgbClr val="63637E"/>
                </a:solidFill>
                <a:latin typeface="Calibri"/>
                <a:ea typeface="Calibri"/>
                <a:cs typeface="Calibri"/>
                <a:sym typeface="Calibri"/>
              </a:rPr>
              <a:t>   2026 – 27</a:t>
            </a:r>
            <a:endParaRPr b="0" i="0" sz="2500" u="none" cap="none" strike="noStrike">
              <a:solidFill>
                <a:schemeClr val="dk1"/>
              </a:solidFill>
              <a:latin typeface="Calibri"/>
              <a:ea typeface="Calibri"/>
              <a:cs typeface="Calibri"/>
              <a:sym typeface="Calibri"/>
            </a:endParaRPr>
          </a:p>
        </p:txBody>
      </p:sp>
      <p:sp>
        <p:nvSpPr>
          <p:cNvPr id="95" name="Google Shape;95;p1"/>
          <p:cNvSpPr txBox="1"/>
          <p:nvPr/>
        </p:nvSpPr>
        <p:spPr>
          <a:xfrm>
            <a:off x="777240" y="3310128"/>
            <a:ext cx="5852160" cy="7772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Theme ID - 4</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Team Name - G</a:t>
            </a:r>
            <a:r>
              <a:rPr lang="en-US" sz="1600">
                <a:solidFill>
                  <a:srgbClr val="63637E"/>
                </a:solidFill>
                <a:latin typeface="Calibri"/>
                <a:ea typeface="Calibri"/>
                <a:cs typeface="Calibri"/>
                <a:sym typeface="Calibri"/>
              </a:rPr>
              <a:t>S CodeStorm</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College Name -VIT University ,Vellore</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 Santhosh S . sa</a:t>
            </a:r>
            <a:r>
              <a:rPr lang="en-US" sz="1600">
                <a:solidFill>
                  <a:srgbClr val="63637E"/>
                </a:solidFill>
                <a:latin typeface="Calibri"/>
                <a:ea typeface="Calibri"/>
                <a:cs typeface="Calibri"/>
                <a:sym typeface="Calibri"/>
              </a:rPr>
              <a:t>nthoshsanthoshkavi18@gmail.com</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Submission Github link - </a:t>
            </a:r>
            <a:r>
              <a:rPr b="0" i="0" lang="en-US" sz="1600" u="sng" cap="none" strike="noStrike">
                <a:solidFill>
                  <a:schemeClr val="hlink"/>
                </a:solidFill>
                <a:latin typeface="Calibri"/>
                <a:ea typeface="Calibri"/>
                <a:cs typeface="Calibri"/>
                <a:sym typeface="Calibri"/>
                <a:hlinkClick r:id="rId3"/>
              </a:rPr>
              <a:t>https://github.com/Santhoshsubramani22/Samsung-Prism-Generative-AI-Hackathon-Santhosh-4</a:t>
            </a:r>
            <a:endParaRPr/>
          </a:p>
          <a:p>
            <a:pPr indent="-76200" lvl="0" marL="177800" marR="0" rtl="0" algn="l">
              <a:spcBef>
                <a:spcPts val="500"/>
              </a:spcBef>
              <a:spcAft>
                <a:spcPts val="0"/>
              </a:spcAft>
              <a:buClr>
                <a:schemeClr val="dk1"/>
              </a:buClr>
              <a:buSzPts val="1600"/>
              <a:buFont typeface="Calibri"/>
              <a:buNone/>
            </a:pPr>
            <a:r>
              <a:t/>
            </a:r>
            <a:endParaRPr b="0" i="0" sz="1600" u="none" cap="none" strike="noStrike">
              <a:solidFill>
                <a:srgbClr val="63637E"/>
              </a:solidFill>
              <a:latin typeface="Calibri"/>
              <a:ea typeface="Calibri"/>
              <a:cs typeface="Calibri"/>
              <a:sym typeface="Calibri"/>
            </a:endParaRPr>
          </a:p>
        </p:txBody>
      </p:sp>
      <p:pic>
        <p:nvPicPr>
          <p:cNvPr descr="hero_network.png" id="96" name="Google Shape;96;p1"/>
          <p:cNvPicPr preferRelativeResize="0"/>
          <p:nvPr/>
        </p:nvPicPr>
        <p:blipFill rotWithShape="1">
          <a:blip r:embed="rId4">
            <a:alphaModFix/>
          </a:blip>
          <a:srcRect b="0" l="0" r="0" t="0"/>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Theme</a:t>
            </a:r>
            <a:endParaRPr/>
          </a:p>
        </p:txBody>
      </p:sp>
      <p:sp>
        <p:nvSpPr>
          <p:cNvPr id="102" name="Google Shape;102;p2"/>
          <p:cNvSpPr txBox="1"/>
          <p:nvPr>
            <p:ph idx="1" type="body"/>
          </p:nvPr>
        </p:nvSpPr>
        <p:spPr>
          <a:xfrm>
            <a:off x="838200" y="1285950"/>
            <a:ext cx="10515600" cy="489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800"/>
              </a:spcBef>
              <a:spcAft>
                <a:spcPts val="0"/>
              </a:spcAft>
              <a:buClr>
                <a:schemeClr val="dk1"/>
              </a:buClr>
              <a:buSzPts val="1100"/>
              <a:buFont typeface="Arial"/>
              <a:buNone/>
            </a:pPr>
            <a:r>
              <a:rPr b="1" lang="en-US" sz="2400">
                <a:latin typeface="Times New Roman"/>
                <a:ea typeface="Times New Roman"/>
                <a:cs typeface="Times New Roman"/>
                <a:sym typeface="Times New Roman"/>
              </a:rPr>
              <a:t>The Problem</a:t>
            </a:r>
            <a:endParaRPr b="1"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Traditional RAG systems generally follow:</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Query → Retrieve → Generate → End</a:t>
            </a:r>
            <a:endParaRPr b="1"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None/>
            </a:pPr>
            <a:r>
              <a:rPr lang="en-US" sz="2400">
                <a:latin typeface="Times New Roman"/>
                <a:ea typeface="Times New Roman"/>
                <a:cs typeface="Times New Roman"/>
                <a:sym typeface="Times New Roman"/>
              </a:rPr>
              <a:t>This creates problems during real conversations:</a:t>
            </a:r>
            <a:endParaRPr b="1" sz="2400">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US" sz="2400">
                <a:latin typeface="Times New Roman"/>
                <a:ea typeface="Times New Roman"/>
                <a:cs typeface="Times New Roman"/>
                <a:sym typeface="Times New Roman"/>
              </a:rPr>
              <a:t>1. No conversation continuity</a:t>
            </a:r>
            <a:endParaRPr b="1" sz="2400">
              <a:latin typeface="Times New Roman"/>
              <a:ea typeface="Times New Roman"/>
              <a:cs typeface="Times New Roman"/>
              <a:sym typeface="Times New Roman"/>
            </a:endParaRPr>
          </a:p>
          <a:p>
            <a:pPr indent="457200" lvl="0" marL="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Each query can be treated independently, causing the system to lose previous context.</a:t>
            </a:r>
            <a:endParaRPr sz="2400">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US" sz="2400">
                <a:latin typeface="Times New Roman"/>
                <a:ea typeface="Times New Roman"/>
                <a:cs typeface="Times New Roman"/>
                <a:sym typeface="Times New Roman"/>
              </a:rPr>
              <a:t>2. Repeated retrieval</a:t>
            </a:r>
            <a:endParaRPr b="1" sz="2400">
              <a:latin typeface="Times New Roman"/>
              <a:ea typeface="Times New Roman"/>
              <a:cs typeface="Times New Roman"/>
              <a:sym typeface="Times New Roman"/>
            </a:endParaRPr>
          </a:p>
          <a:p>
            <a:pPr indent="457200" lvl="0" marL="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Follow-up questions may trigger retrieval from scratch instead of reusing the existing conversation state.</a:t>
            </a:r>
            <a:endParaRPr sz="2400">
              <a:latin typeface="Times New Roman"/>
              <a:ea typeface="Times New Roman"/>
              <a:cs typeface="Times New Roman"/>
              <a:sym typeface="Times New Roman"/>
            </a:endParaRPr>
          </a:p>
          <a:p>
            <a:pPr indent="0" lvl="0" marL="0" rtl="0" algn="l">
              <a:lnSpc>
                <a:spcPct val="100000"/>
              </a:lnSpc>
              <a:spcBef>
                <a:spcPts val="1400"/>
              </a:spcBef>
              <a:spcAft>
                <a:spcPts val="400"/>
              </a:spcAft>
              <a:buClr>
                <a:schemeClr val="dk1"/>
              </a:buClr>
              <a:buSzPts val="1100"/>
              <a:buNone/>
            </a:pPr>
            <a:r>
              <a:t/>
            </a:r>
            <a:endParaRPr sz="24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hc3857839a27095_0_14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Theme</a:t>
            </a:r>
            <a:endParaRPr/>
          </a:p>
        </p:txBody>
      </p:sp>
      <p:sp>
        <p:nvSpPr>
          <p:cNvPr id="108" name="Google Shape;108;hc3857839a27095_0_143"/>
          <p:cNvSpPr txBox="1"/>
          <p:nvPr>
            <p:ph idx="1" type="body"/>
          </p:nvPr>
        </p:nvSpPr>
        <p:spPr>
          <a:xfrm>
            <a:off x="838200" y="1285950"/>
            <a:ext cx="10515600" cy="4890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0"/>
              </a:spcBef>
              <a:spcAft>
                <a:spcPts val="0"/>
              </a:spcAft>
              <a:buClr>
                <a:schemeClr val="dk1"/>
              </a:buClr>
              <a:buSzPts val="1100"/>
              <a:buNone/>
            </a:pPr>
            <a:r>
              <a:rPr b="1" lang="en-US" sz="2400">
                <a:latin typeface="Times New Roman"/>
                <a:ea typeface="Times New Roman"/>
                <a:cs typeface="Times New Roman"/>
                <a:sym typeface="Times New Roman"/>
              </a:rPr>
              <a:t>3. Late constraints are difficult</a:t>
            </a:r>
            <a:endParaRPr b="1" sz="2400">
              <a:latin typeface="Times New Roman"/>
              <a:ea typeface="Times New Roman"/>
              <a:cs typeface="Times New Roman"/>
              <a:sym typeface="Times New Roman"/>
            </a:endParaRPr>
          </a:p>
          <a:p>
            <a:pPr indent="457200" lvl="0" marL="0" rtl="0" algn="l">
              <a:lnSpc>
                <a:spcPct val="100000"/>
              </a:lnSpc>
              <a:spcBef>
                <a:spcPts val="1200"/>
              </a:spcBef>
              <a:spcAft>
                <a:spcPts val="0"/>
              </a:spcAft>
              <a:buClr>
                <a:schemeClr val="dk1"/>
              </a:buClr>
              <a:buSzPts val="1100"/>
              <a:buNone/>
            </a:pPr>
            <a:r>
              <a:rPr lang="en-US" sz="2400">
                <a:latin typeface="Times New Roman"/>
                <a:ea typeface="Times New Roman"/>
                <a:cs typeface="Times New Roman"/>
                <a:sym typeface="Times New Roman"/>
              </a:rPr>
              <a:t>Users frequently modify their request after receiving an answer.</a:t>
            </a:r>
            <a:endParaRPr sz="2400">
              <a:latin typeface="Times New Roman"/>
              <a:ea typeface="Times New Roman"/>
              <a:cs typeface="Times New Roman"/>
              <a:sym typeface="Times New Roman"/>
            </a:endParaRPr>
          </a:p>
          <a:p>
            <a:pPr indent="457200" lvl="0" marL="0" rtl="0" algn="l">
              <a:lnSpc>
                <a:spcPct val="100000"/>
              </a:lnSpc>
              <a:spcBef>
                <a:spcPts val="1200"/>
              </a:spcBef>
              <a:spcAft>
                <a:spcPts val="0"/>
              </a:spcAft>
              <a:buClr>
                <a:schemeClr val="dk1"/>
              </a:buClr>
              <a:buSzPts val="1100"/>
              <a:buNone/>
            </a:pPr>
            <a:r>
              <a:rPr b="1" lang="en-US" sz="2400">
                <a:latin typeface="Times New Roman"/>
                <a:ea typeface="Times New Roman"/>
                <a:cs typeface="Times New Roman"/>
                <a:sym typeface="Times New Roman"/>
              </a:rPr>
              <a:t>Example:</a:t>
            </a:r>
            <a:endParaRPr b="1" sz="2400">
              <a:latin typeface="Times New Roman"/>
              <a:ea typeface="Times New Roman"/>
              <a:cs typeface="Times New Roman"/>
              <a:sym typeface="Times New Roman"/>
            </a:endParaRPr>
          </a:p>
          <a:p>
            <a:pPr indent="76200" lvl="0" marL="381000" marR="381000" rtl="0" algn="l">
              <a:lnSpc>
                <a:spcPct val="100000"/>
              </a:lnSpc>
              <a:spcBef>
                <a:spcPts val="1200"/>
              </a:spcBef>
              <a:spcAft>
                <a:spcPts val="0"/>
              </a:spcAft>
              <a:buClr>
                <a:schemeClr val="dk1"/>
              </a:buClr>
              <a:buSzPts val="1100"/>
              <a:buNone/>
            </a:pPr>
            <a:r>
              <a:rPr lang="en-US" sz="2400">
                <a:latin typeface="Times New Roman"/>
                <a:ea typeface="Times New Roman"/>
                <a:cs typeface="Times New Roman"/>
                <a:sym typeface="Times New Roman"/>
              </a:rPr>
              <a:t>“What are the main modules?”</a:t>
            </a:r>
            <a:endParaRPr sz="2400">
              <a:latin typeface="Times New Roman"/>
              <a:ea typeface="Times New Roman"/>
              <a:cs typeface="Times New Roman"/>
              <a:sym typeface="Times New Roman"/>
            </a:endParaRPr>
          </a:p>
          <a:p>
            <a:pPr indent="457200" lvl="0" marL="0" rtl="0" algn="l">
              <a:lnSpc>
                <a:spcPct val="100000"/>
              </a:lnSpc>
              <a:spcBef>
                <a:spcPts val="1200"/>
              </a:spcBef>
              <a:spcAft>
                <a:spcPts val="0"/>
              </a:spcAft>
              <a:buClr>
                <a:schemeClr val="dk1"/>
              </a:buClr>
              <a:buSzPts val="1100"/>
              <a:buNone/>
            </a:pPr>
            <a:r>
              <a:rPr lang="en-US" sz="2400">
                <a:latin typeface="Times New Roman"/>
                <a:ea typeface="Times New Roman"/>
                <a:cs typeface="Times New Roman"/>
                <a:sym typeface="Times New Roman"/>
              </a:rPr>
              <a:t>Then:</a:t>
            </a:r>
            <a:endParaRPr sz="2400">
              <a:latin typeface="Times New Roman"/>
              <a:ea typeface="Times New Roman"/>
              <a:cs typeface="Times New Roman"/>
              <a:sym typeface="Times New Roman"/>
            </a:endParaRPr>
          </a:p>
          <a:p>
            <a:pPr indent="76200" lvl="0" marL="381000" marR="381000" rtl="0" algn="l">
              <a:lnSpc>
                <a:spcPct val="100000"/>
              </a:lnSpc>
              <a:spcBef>
                <a:spcPts val="1200"/>
              </a:spcBef>
              <a:spcAft>
                <a:spcPts val="0"/>
              </a:spcAft>
              <a:buClr>
                <a:schemeClr val="dk1"/>
              </a:buClr>
              <a:buSzPts val="1100"/>
              <a:buNone/>
            </a:pPr>
            <a:r>
              <a:rPr lang="en-US" sz="2400">
                <a:latin typeface="Times New Roman"/>
                <a:ea typeface="Times New Roman"/>
                <a:cs typeface="Times New Roman"/>
                <a:sym typeface="Times New Roman"/>
              </a:rPr>
              <a:t>“Tell me only about the booking module.”</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None/>
            </a:pPr>
            <a:r>
              <a:rPr lang="en-US" sz="2400">
                <a:latin typeface="Times New Roman"/>
                <a:ea typeface="Times New Roman"/>
                <a:cs typeface="Times New Roman"/>
                <a:sym typeface="Times New Roman"/>
              </a:rPr>
              <a:t>The system must understand that the second request is a </a:t>
            </a:r>
            <a:r>
              <a:rPr b="1" lang="en-US" sz="2400">
                <a:latin typeface="Times New Roman"/>
                <a:ea typeface="Times New Roman"/>
                <a:cs typeface="Times New Roman"/>
                <a:sym typeface="Times New Roman"/>
              </a:rPr>
              <a:t>refinement</a:t>
            </a:r>
            <a:r>
              <a:rPr lang="en-US" sz="2400">
                <a:latin typeface="Times New Roman"/>
                <a:ea typeface="Times New Roman"/>
                <a:cs typeface="Times New Roman"/>
                <a:sym typeface="Times New Roman"/>
              </a:rPr>
              <a:t>, not an unrelated question.</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None/>
            </a:pPr>
            <a:r>
              <a:t/>
            </a:r>
            <a:endParaRPr sz="2400">
              <a:latin typeface="Times New Roman"/>
              <a:ea typeface="Times New Roman"/>
              <a:cs typeface="Times New Roman"/>
              <a:sym typeface="Times New Roman"/>
            </a:endParaRPr>
          </a:p>
          <a:p>
            <a:pPr indent="-50800" lvl="0" marL="228600" rtl="0" algn="l">
              <a:lnSpc>
                <a:spcPct val="100000"/>
              </a:lnSpc>
              <a:spcBef>
                <a:spcPts val="1200"/>
              </a:spcBef>
              <a:spcAft>
                <a:spcPts val="0"/>
              </a:spcAft>
              <a:buClr>
                <a:schemeClr val="dk1"/>
              </a:buClr>
              <a:buSzPts val="2800"/>
              <a:buNone/>
            </a:pPr>
            <a:r>
              <a:t/>
            </a:r>
            <a:endParaRPr sz="2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hc3857839a27095_0_1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Theme</a:t>
            </a:r>
            <a:endParaRPr/>
          </a:p>
        </p:txBody>
      </p:sp>
      <p:sp>
        <p:nvSpPr>
          <p:cNvPr id="114" name="Google Shape;114;hc3857839a27095_0_12"/>
          <p:cNvSpPr txBox="1"/>
          <p:nvPr>
            <p:ph idx="1" type="body"/>
          </p:nvPr>
        </p:nvSpPr>
        <p:spPr>
          <a:xfrm>
            <a:off x="838200" y="1285950"/>
            <a:ext cx="10515600" cy="4890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400">
                <a:latin typeface="Arial"/>
                <a:ea typeface="Arial"/>
                <a:cs typeface="Arial"/>
                <a:sym typeface="Arial"/>
              </a:rPr>
              <a:t>4. Multi-intent queries</a:t>
            </a:r>
            <a:endParaRPr b="1" sz="2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400">
                <a:latin typeface="Arial"/>
                <a:ea typeface="Arial"/>
                <a:cs typeface="Arial"/>
                <a:sym typeface="Arial"/>
              </a:rPr>
              <a:t>A single question can contain multiple information needs.</a:t>
            </a:r>
            <a:endParaRPr sz="24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lang="en-US" sz="2400">
                <a:latin typeface="Arial"/>
                <a:ea typeface="Arial"/>
                <a:cs typeface="Arial"/>
                <a:sym typeface="Arial"/>
              </a:rPr>
              <a:t>“Who is Mayuri M Shine and what are the main modules?”</a:t>
            </a:r>
            <a:endParaRPr sz="2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400">
                <a:latin typeface="Arial"/>
                <a:ea typeface="Arial"/>
                <a:cs typeface="Arial"/>
                <a:sym typeface="Arial"/>
              </a:rPr>
              <a:t>These should be understood as separate intents.</a:t>
            </a:r>
            <a:endParaRPr sz="24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400">
                <a:latin typeface="Arial"/>
                <a:ea typeface="Arial"/>
                <a:cs typeface="Arial"/>
                <a:sym typeface="Arial"/>
              </a:rPr>
              <a:t>5. Irrelevant retrieved context</a:t>
            </a:r>
            <a:endParaRPr b="1" sz="2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400">
                <a:latin typeface="Arial"/>
                <a:ea typeface="Arial"/>
                <a:cs typeface="Arial"/>
                <a:sym typeface="Arial"/>
              </a:rPr>
              <a:t>Retrieving many chunks does not guarantee that all retrieved information is useful or supports the final answer.</a:t>
            </a:r>
            <a:endParaRPr sz="24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400">
                <a:latin typeface="Arial"/>
                <a:ea typeface="Arial"/>
                <a:cs typeface="Arial"/>
                <a:sym typeface="Arial"/>
              </a:rPr>
              <a:t>6. Delayed response experience</a:t>
            </a:r>
            <a:endParaRPr b="1" sz="2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400">
                <a:latin typeface="Arial"/>
                <a:ea typeface="Arial"/>
                <a:cs typeface="Arial"/>
                <a:sym typeface="Arial"/>
              </a:rPr>
              <a:t>Traditional request-response generation makes the user wait for the complete answer.</a:t>
            </a:r>
            <a:endParaRPr sz="2400">
              <a:latin typeface="Arial"/>
              <a:ea typeface="Arial"/>
              <a:cs typeface="Arial"/>
              <a:sym typeface="Arial"/>
            </a:endParaRPr>
          </a:p>
          <a:p>
            <a:pPr indent="-50800" lvl="0" marL="228600" rtl="0" algn="l">
              <a:lnSpc>
                <a:spcPct val="100000"/>
              </a:lnSpc>
              <a:spcBef>
                <a:spcPts val="1200"/>
              </a:spcBef>
              <a:spcAft>
                <a:spcPts val="0"/>
              </a:spcAft>
              <a:buClr>
                <a:schemeClr val="dk1"/>
              </a:buClr>
              <a:buSzPts val="2800"/>
              <a:buNone/>
            </a:pPr>
            <a:r>
              <a:t/>
            </a:r>
            <a:endParaRPr b="1" sz="2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Existing Solutions &amp; Gaps</a:t>
            </a:r>
            <a:endParaRPr/>
          </a:p>
        </p:txBody>
      </p:sp>
      <p:sp>
        <p:nvSpPr>
          <p:cNvPr id="120" name="Google Shape;120;p3"/>
          <p:cNvSpPr txBox="1"/>
          <p:nvPr>
            <p:ph idx="1" type="body"/>
          </p:nvPr>
        </p:nvSpPr>
        <p:spPr>
          <a:xfrm>
            <a:off x="838200" y="1838000"/>
            <a:ext cx="10515600" cy="435120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graphicFrame>
        <p:nvGraphicFramePr>
          <p:cNvPr id="121" name="Google Shape;121;p3"/>
          <p:cNvGraphicFramePr/>
          <p:nvPr/>
        </p:nvGraphicFramePr>
        <p:xfrm>
          <a:off x="952500" y="2048500"/>
          <a:ext cx="3000000" cy="3000000"/>
        </p:xfrm>
        <a:graphic>
          <a:graphicData uri="http://schemas.openxmlformats.org/drawingml/2006/table">
            <a:tbl>
              <a:tblPr>
                <a:noFill/>
                <a:tableStyleId>{686A7297-AFFE-4123-929A-EA93B868DDA5}</a:tableStyleId>
              </a:tblPr>
              <a:tblGrid>
                <a:gridCol w="5143500"/>
                <a:gridCol w="5143500"/>
              </a:tblGrid>
              <a:tr h="381000">
                <a:tc>
                  <a:txBody>
                    <a:bodyPr/>
                    <a:lstStyle/>
                    <a:p>
                      <a:pPr indent="0" lvl="0" marL="0" rtl="0" algn="ctr">
                        <a:lnSpc>
                          <a:spcPct val="115000"/>
                        </a:lnSpc>
                        <a:spcBef>
                          <a:spcPts val="0"/>
                        </a:spcBef>
                        <a:spcAft>
                          <a:spcPts val="0"/>
                        </a:spcAft>
                        <a:buNone/>
                      </a:pPr>
                      <a:r>
                        <a:rPr b="1" lang="en-US" sz="1900"/>
                        <a:t>Traditional RAG</a:t>
                      </a:r>
                      <a:endParaRPr b="1" sz="1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900"/>
                        <a:t>Our Streaming Live RAG </a:t>
                      </a:r>
                      <a:endParaRPr b="1" sz="19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Processes queries independently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Maintains conversation state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Retrieve → Generate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Understand → Retrieve → Stream → Refine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Follow-up may restart retrieval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Follow-up uses previous state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Late constraints are difficult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Supports constraint refinement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Single-query oriented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Multi-intent aware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Large retrieved context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Evidence filtering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Complete response generation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Incremental streaming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New answer each time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Versioned answer refinement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122" name="Google Shape;122;p3"/>
          <p:cNvGraphicFramePr/>
          <p:nvPr/>
        </p:nvGraphicFramePr>
        <p:xfrm>
          <a:off x="304800" y="304800"/>
          <a:ext cx="3000000" cy="3000000"/>
        </p:xfrm>
        <a:graphic>
          <a:graphicData uri="http://schemas.openxmlformats.org/drawingml/2006/table">
            <a:tbl>
              <a:tblPr>
                <a:noFill/>
                <a:tableStyleId>{E346F8DB-2967-4E04-9A6A-E7796BA0A4F5}</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23" name="Google Shape;123;p3"/>
          <p:cNvGraphicFramePr/>
          <p:nvPr/>
        </p:nvGraphicFramePr>
        <p:xfrm>
          <a:off x="457200" y="457200"/>
          <a:ext cx="3000000" cy="3000000"/>
        </p:xfrm>
        <a:graphic>
          <a:graphicData uri="http://schemas.openxmlformats.org/drawingml/2006/table">
            <a:tbl>
              <a:tblPr>
                <a:noFill/>
                <a:tableStyleId>{E346F8DB-2967-4E04-9A6A-E7796BA0A4F5}</a:tableStyleId>
              </a:tblPr>
              <a:tblGrid>
                <a:gridCol w="1381125"/>
              </a:tblGrid>
              <a:tr h="200025">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24" name="Google Shape;124;p3"/>
          <p:cNvSpPr txBox="1"/>
          <p:nvPr/>
        </p:nvSpPr>
        <p:spPr>
          <a:xfrm>
            <a:off x="1099750" y="1355325"/>
            <a:ext cx="5822100" cy="39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1"/>
                </a:solidFill>
                <a:latin typeface="Times New Roman"/>
                <a:ea typeface="Times New Roman"/>
                <a:cs typeface="Times New Roman"/>
                <a:sym typeface="Times New Roman"/>
              </a:rPr>
              <a:t>Why Traditional RAG Is Not Enough </a:t>
            </a:r>
            <a:endParaRPr b="1" sz="2400">
              <a:solidFill>
                <a:schemeClr val="dk1"/>
              </a:solidFill>
              <a:latin typeface="Times New Roman"/>
              <a:ea typeface="Times New Roman"/>
              <a:cs typeface="Times New Roman"/>
              <a:sym typeface="Times New Roman"/>
            </a:endParaRPr>
          </a:p>
        </p:txBody>
      </p:sp>
      <p:sp>
        <p:nvSpPr>
          <p:cNvPr id="125" name="Google Shape;125;p3"/>
          <p:cNvSpPr txBox="1"/>
          <p:nvPr/>
        </p:nvSpPr>
        <p:spPr>
          <a:xfrm>
            <a:off x="925950" y="5690500"/>
            <a:ext cx="10340100" cy="94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latin typeface="Times New Roman"/>
                <a:ea typeface="Times New Roman"/>
                <a:cs typeface="Times New Roman"/>
                <a:sym typeface="Times New Roman"/>
              </a:rPr>
              <a:t>Key idea</a:t>
            </a:r>
            <a:endParaRPr b="1" sz="2400">
              <a:solidFill>
                <a:schemeClr val="dk1"/>
              </a:solidFill>
              <a:latin typeface="Times New Roman"/>
              <a:ea typeface="Times New Roman"/>
              <a:cs typeface="Times New Roman"/>
              <a:sym typeface="Times New Roman"/>
            </a:endParaRPr>
          </a:p>
          <a:p>
            <a:pPr indent="0" lvl="0" marL="381000" marR="381000" rtl="0" algn="l">
              <a:lnSpc>
                <a:spcPct val="115000"/>
              </a:lnSpc>
              <a:spcBef>
                <a:spcPts val="120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Traditional RAG answers questions. Our system manages an evolving conversation.</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9" name="Shape 129"/>
        <p:cNvGrpSpPr/>
        <p:nvPr/>
      </p:nvGrpSpPr>
      <p:grpSpPr>
        <a:xfrm>
          <a:off x="0" y="0"/>
          <a:ext cx="0" cy="0"/>
          <a:chOff x="0" y="0"/>
          <a:chExt cx="0" cy="0"/>
        </a:xfrm>
      </p:grpSpPr>
      <p:sp>
        <p:nvSpPr>
          <p:cNvPr id="130" name="Google Shape;130;p4"/>
          <p:cNvSpPr txBox="1"/>
          <p:nvPr>
            <p:ph type="title"/>
          </p:nvPr>
        </p:nvSpPr>
        <p:spPr>
          <a:xfrm>
            <a:off x="909917" y="26651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Our Solutions &amp; Architecture Diagram</a:t>
            </a:r>
            <a:endParaRPr/>
          </a:p>
        </p:txBody>
      </p:sp>
      <p:sp>
        <p:nvSpPr>
          <p:cNvPr id="131" name="Google Shape;131;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32" name="Google Shape;132;p4" title="Untitled Diagram.drawio (4).png"/>
          <p:cNvPicPr preferRelativeResize="0"/>
          <p:nvPr/>
        </p:nvPicPr>
        <p:blipFill>
          <a:blip r:embed="rId3">
            <a:alphaModFix/>
          </a:blip>
          <a:stretch>
            <a:fillRect/>
          </a:stretch>
        </p:blipFill>
        <p:spPr>
          <a:xfrm>
            <a:off x="1115274" y="1616650"/>
            <a:ext cx="9573676" cy="4937025"/>
          </a:xfrm>
          <a:prstGeom prst="rect">
            <a:avLst/>
          </a:prstGeom>
          <a:noFill/>
          <a:ln>
            <a:noFill/>
          </a:ln>
        </p:spPr>
      </p:pic>
      <p:sp>
        <p:nvSpPr>
          <p:cNvPr id="133" name="Google Shape;133;p4"/>
          <p:cNvSpPr txBox="1"/>
          <p:nvPr/>
        </p:nvSpPr>
        <p:spPr>
          <a:xfrm>
            <a:off x="1025425" y="1046525"/>
            <a:ext cx="8188800" cy="96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800"/>
              </a:spcBef>
              <a:spcAft>
                <a:spcPts val="0"/>
              </a:spcAft>
              <a:buClr>
                <a:schemeClr val="dk1"/>
              </a:buClr>
              <a:buSzPts val="1100"/>
              <a:buFont typeface="Arial"/>
              <a:buNone/>
            </a:pPr>
            <a:r>
              <a:rPr lang="en-US" sz="2100">
                <a:solidFill>
                  <a:schemeClr val="dk1"/>
                </a:solidFill>
                <a:latin typeface="Times New Roman"/>
                <a:ea typeface="Times New Roman"/>
                <a:cs typeface="Times New Roman"/>
                <a:sym typeface="Times New Roman"/>
              </a:rPr>
              <a:t>Streaming Live RAG</a:t>
            </a:r>
            <a:endParaRPr sz="21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Our system introduces a state-preserving RAG workflow that continuously understands and refines the user's request.</a:t>
            </a:r>
            <a:endParaRPr sz="17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hc3857839a27095_0_148"/>
          <p:cNvSpPr txBox="1"/>
          <p:nvPr>
            <p:ph type="title"/>
          </p:nvPr>
        </p:nvSpPr>
        <p:spPr>
          <a:xfrm>
            <a:off x="838200" y="356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Demo &amp; Product Walkthrough</a:t>
            </a:r>
            <a:endParaRPr/>
          </a:p>
        </p:txBody>
      </p:sp>
      <p:sp>
        <p:nvSpPr>
          <p:cNvPr id="139" name="Google Shape;139;hc3857839a27095_0_148"/>
          <p:cNvSpPr txBox="1"/>
          <p:nvPr>
            <p:ph idx="1" type="body"/>
          </p:nvPr>
        </p:nvSpPr>
        <p:spPr>
          <a:xfrm>
            <a:off x="838200" y="1287975"/>
            <a:ext cx="10515600" cy="48891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1400"/>
              </a:spcBef>
              <a:spcAft>
                <a:spcPts val="0"/>
              </a:spcAft>
              <a:buClr>
                <a:schemeClr val="dk1"/>
              </a:buClr>
              <a:buSzPts val="935"/>
              <a:buNone/>
            </a:pPr>
            <a:r>
              <a:rPr b="1" lang="en-US" sz="2400">
                <a:latin typeface="Times New Roman"/>
                <a:ea typeface="Times New Roman"/>
                <a:cs typeface="Times New Roman"/>
                <a:sym typeface="Times New Roman"/>
              </a:rPr>
              <a:t>Live Product Walkthrough</a:t>
            </a:r>
            <a:endParaRPr b="1" sz="2400">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935"/>
              <a:buNone/>
            </a:pPr>
            <a:r>
              <a:rPr b="1" lang="en-US" sz="2400">
                <a:latin typeface="Times New Roman"/>
                <a:ea typeface="Times New Roman"/>
                <a:cs typeface="Times New Roman"/>
                <a:sym typeface="Times New Roman"/>
              </a:rPr>
              <a:t>1. WAIT</a:t>
            </a:r>
            <a:r>
              <a:rPr lang="en-US" sz="2400">
                <a:latin typeface="Times New Roman"/>
                <a:ea typeface="Times New Roman"/>
                <a:cs typeface="Times New Roman"/>
                <a:sym typeface="Times New Roman"/>
              </a:rPr>
              <a:t> — Conversational Input</a:t>
            </a:r>
            <a:endParaRPr sz="2400">
              <a:latin typeface="Times New Roman"/>
              <a:ea typeface="Times New Roman"/>
              <a:cs typeface="Times New Roman"/>
              <a:sym typeface="Times New Roman"/>
            </a:endParaRPr>
          </a:p>
          <a:p>
            <a:pPr indent="0" lvl="0" marL="381000" marR="381000" rtl="0" algn="l">
              <a:lnSpc>
                <a:spcPct val="95000"/>
              </a:lnSpc>
              <a:spcBef>
                <a:spcPts val="1200"/>
              </a:spcBef>
              <a:spcAft>
                <a:spcPts val="0"/>
              </a:spcAft>
              <a:buClr>
                <a:schemeClr val="dk1"/>
              </a:buClr>
              <a:buSzPts val="935"/>
              <a:buNone/>
            </a:pPr>
            <a:r>
              <a:rPr lang="en-US" sz="2400">
                <a:latin typeface="Times New Roman"/>
                <a:ea typeface="Times New Roman"/>
                <a:cs typeface="Times New Roman"/>
                <a:sym typeface="Times New Roman"/>
              </a:rPr>
              <a:t>User: “Hello”</a:t>
            </a:r>
            <a:endParaRPr sz="2400">
              <a:latin typeface="Times New Roman"/>
              <a:ea typeface="Times New Roman"/>
              <a:cs typeface="Times New Roman"/>
              <a:sym typeface="Times New Roman"/>
            </a:endParaRPr>
          </a:p>
          <a:p>
            <a:pPr indent="-381000" lvl="0" marL="457200" rtl="0" algn="l">
              <a:lnSpc>
                <a:spcPct val="95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Controller identifies a conversational message.</a:t>
            </a:r>
            <a:endParaRPr sz="2400">
              <a:latin typeface="Times New Roman"/>
              <a:ea typeface="Times New Roman"/>
              <a:cs typeface="Times New Roman"/>
              <a:sym typeface="Times New Roman"/>
            </a:endParaRPr>
          </a:p>
          <a:p>
            <a:pPr indent="-381000" lvl="0" marL="457200" rtl="0" algn="l">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No unnecessary document retrieval.</a:t>
            </a:r>
            <a:endParaRPr sz="2400">
              <a:latin typeface="Times New Roman"/>
              <a:ea typeface="Times New Roman"/>
              <a:cs typeface="Times New Roman"/>
              <a:sym typeface="Times New Roman"/>
            </a:endParaRPr>
          </a:p>
          <a:p>
            <a:pPr indent="-381000" lvl="0" marL="457200" rtl="0" algn="l">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System responds immediately.</a:t>
            </a:r>
            <a:endParaRPr sz="2400">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935"/>
              <a:buNone/>
            </a:pPr>
            <a:r>
              <a:rPr b="1" lang="en-US" sz="2400">
                <a:latin typeface="Times New Roman"/>
                <a:ea typeface="Times New Roman"/>
                <a:cs typeface="Times New Roman"/>
                <a:sym typeface="Times New Roman"/>
              </a:rPr>
              <a:t>2. RETRIEVE </a:t>
            </a:r>
            <a:r>
              <a:rPr lang="en-US" sz="2400">
                <a:latin typeface="Times New Roman"/>
                <a:ea typeface="Times New Roman"/>
                <a:cs typeface="Times New Roman"/>
                <a:sym typeface="Times New Roman"/>
              </a:rPr>
              <a:t>— Document Question</a:t>
            </a:r>
            <a:endParaRPr sz="2400">
              <a:latin typeface="Times New Roman"/>
              <a:ea typeface="Times New Roman"/>
              <a:cs typeface="Times New Roman"/>
              <a:sym typeface="Times New Roman"/>
            </a:endParaRPr>
          </a:p>
          <a:p>
            <a:pPr indent="0" lvl="0" marL="381000" marR="381000" rtl="0" algn="l">
              <a:lnSpc>
                <a:spcPct val="95000"/>
              </a:lnSpc>
              <a:spcBef>
                <a:spcPts val="1200"/>
              </a:spcBef>
              <a:spcAft>
                <a:spcPts val="0"/>
              </a:spcAft>
              <a:buClr>
                <a:schemeClr val="dk1"/>
              </a:buClr>
              <a:buSzPts val="935"/>
              <a:buNone/>
            </a:pPr>
            <a:r>
              <a:rPr lang="en-US" sz="2400">
                <a:latin typeface="Times New Roman"/>
                <a:ea typeface="Times New Roman"/>
                <a:cs typeface="Times New Roman"/>
                <a:sym typeface="Times New Roman"/>
              </a:rPr>
              <a:t>User: “Who is Mayuri M Shine?”</a:t>
            </a:r>
            <a:endParaRPr sz="2400">
              <a:latin typeface="Times New Roman"/>
              <a:ea typeface="Times New Roman"/>
              <a:cs typeface="Times New Roman"/>
              <a:sym typeface="Times New Roman"/>
            </a:endParaRPr>
          </a:p>
          <a:p>
            <a:pPr indent="-381000" lvl="0" marL="457200" rtl="0" algn="l">
              <a:lnSpc>
                <a:spcPct val="95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Intent identified as a retrieval request.</a:t>
            </a:r>
            <a:endParaRPr sz="2400">
              <a:latin typeface="Times New Roman"/>
              <a:ea typeface="Times New Roman"/>
              <a:cs typeface="Times New Roman"/>
              <a:sym typeface="Times New Roman"/>
            </a:endParaRPr>
          </a:p>
          <a:p>
            <a:pPr indent="-381000" lvl="0" marL="457200" rtl="0" algn="l">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Relevant SRS evidence is retrieved.</a:t>
            </a:r>
            <a:endParaRPr sz="2400">
              <a:latin typeface="Times New Roman"/>
              <a:ea typeface="Times New Roman"/>
              <a:cs typeface="Times New Roman"/>
              <a:sym typeface="Times New Roman"/>
            </a:endParaRPr>
          </a:p>
          <a:p>
            <a:pPr indent="-381000" lvl="0" marL="457200" rtl="0" algn="l">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Evidence is filtered.</a:t>
            </a:r>
            <a:endParaRPr sz="2400">
              <a:latin typeface="Times New Roman"/>
              <a:ea typeface="Times New Roman"/>
              <a:cs typeface="Times New Roman"/>
              <a:sym typeface="Times New Roman"/>
            </a:endParaRPr>
          </a:p>
          <a:p>
            <a:pPr indent="-381000" lvl="0" marL="457200" rtl="0" algn="l">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Grounded answer is generated and streamed.</a:t>
            </a:r>
            <a:endParaRPr sz="2400">
              <a:latin typeface="Times New Roman"/>
              <a:ea typeface="Times New Roman"/>
              <a:cs typeface="Times New Roman"/>
              <a:sym typeface="Times New Roman"/>
            </a:endParaRPr>
          </a:p>
          <a:p>
            <a:pPr indent="0" lvl="0" marL="0" rtl="0" algn="l">
              <a:lnSpc>
                <a:spcPct val="95000"/>
              </a:lnSpc>
              <a:spcBef>
                <a:spcPts val="1200"/>
              </a:spcBef>
              <a:spcAft>
                <a:spcPts val="1200"/>
              </a:spcAft>
              <a:buClr>
                <a:schemeClr val="dk1"/>
              </a:buClr>
              <a:buSzPts val="935"/>
              <a:buNone/>
            </a:pPr>
            <a:r>
              <a:t/>
            </a:r>
            <a:endParaRPr sz="24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5"/>
          <p:cNvSpPr txBox="1"/>
          <p:nvPr>
            <p:ph type="title"/>
          </p:nvPr>
        </p:nvSpPr>
        <p:spPr>
          <a:xfrm>
            <a:off x="838200" y="356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Demo &amp; Product Walkthrough</a:t>
            </a:r>
            <a:endParaRPr/>
          </a:p>
        </p:txBody>
      </p:sp>
      <p:sp>
        <p:nvSpPr>
          <p:cNvPr id="145" name="Google Shape;145;p5"/>
          <p:cNvSpPr txBox="1"/>
          <p:nvPr>
            <p:ph idx="1" type="body"/>
          </p:nvPr>
        </p:nvSpPr>
        <p:spPr>
          <a:xfrm>
            <a:off x="838200" y="1287975"/>
            <a:ext cx="10515600" cy="4889100"/>
          </a:xfrm>
          <a:prstGeom prst="rect">
            <a:avLst/>
          </a:prstGeom>
          <a:noFill/>
          <a:ln>
            <a:noFill/>
          </a:ln>
        </p:spPr>
        <p:txBody>
          <a:bodyPr anchorCtr="0" anchor="t" bIns="45700" lIns="91425" spcFirstLastPara="1" rIns="91425" wrap="square" tIns="45700">
            <a:noAutofit/>
          </a:bodyPr>
          <a:lstStyle/>
          <a:p>
            <a:pPr indent="0" lvl="0" marL="457200" rtl="0" algn="l">
              <a:lnSpc>
                <a:spcPct val="95000"/>
              </a:lnSpc>
              <a:spcBef>
                <a:spcPts val="1200"/>
              </a:spcBef>
              <a:spcAft>
                <a:spcPts val="0"/>
              </a:spcAft>
              <a:buNone/>
            </a:pPr>
            <a:r>
              <a:t/>
            </a:r>
            <a:endParaRPr sz="2400">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935"/>
              <a:buFont typeface="Arial"/>
              <a:buNone/>
            </a:pPr>
            <a:r>
              <a:rPr b="1" lang="en-US" sz="2400">
                <a:latin typeface="Times New Roman"/>
                <a:ea typeface="Times New Roman"/>
                <a:cs typeface="Times New Roman"/>
                <a:sym typeface="Times New Roman"/>
              </a:rPr>
              <a:t>3. MULTI-INTENT</a:t>
            </a:r>
            <a:endParaRPr b="1" sz="2400">
              <a:latin typeface="Times New Roman"/>
              <a:ea typeface="Times New Roman"/>
              <a:cs typeface="Times New Roman"/>
              <a:sym typeface="Times New Roman"/>
            </a:endParaRPr>
          </a:p>
          <a:p>
            <a:pPr indent="0" lvl="0" marL="381000" marR="381000" rtl="0" algn="l">
              <a:lnSpc>
                <a:spcPct val="95000"/>
              </a:lnSpc>
              <a:spcBef>
                <a:spcPts val="1200"/>
              </a:spcBef>
              <a:spcAft>
                <a:spcPts val="0"/>
              </a:spcAft>
              <a:buClr>
                <a:schemeClr val="dk1"/>
              </a:buClr>
              <a:buSzPts val="935"/>
              <a:buFont typeface="Arial"/>
              <a:buNone/>
            </a:pPr>
            <a:r>
              <a:rPr lang="en-US" sz="2400">
                <a:latin typeface="Times New Roman"/>
                <a:ea typeface="Times New Roman"/>
                <a:cs typeface="Times New Roman"/>
                <a:sym typeface="Times New Roman"/>
              </a:rPr>
              <a:t>User: “Who is Mayuri M Shine and what are the main modules?”</a:t>
            </a:r>
            <a:endParaRPr sz="2400">
              <a:latin typeface="Times New Roman"/>
              <a:ea typeface="Times New Roman"/>
              <a:cs typeface="Times New Roman"/>
              <a:sym typeface="Times New Roman"/>
            </a:endParaRPr>
          </a:p>
          <a:p>
            <a:pPr indent="-381000" lvl="0" marL="457200" rtl="0" algn="l">
              <a:lnSpc>
                <a:spcPct val="95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Query is decomposed into separate intents.</a:t>
            </a:r>
            <a:endParaRPr sz="2400">
              <a:latin typeface="Times New Roman"/>
              <a:ea typeface="Times New Roman"/>
              <a:cs typeface="Times New Roman"/>
              <a:sym typeface="Times New Roman"/>
            </a:endParaRPr>
          </a:p>
          <a:p>
            <a:pPr indent="-381000" lvl="0" marL="457200" rtl="0" algn="l">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Relevant evidence is retrieved for each intent.</a:t>
            </a:r>
            <a:endParaRPr sz="2400">
              <a:latin typeface="Times New Roman"/>
              <a:ea typeface="Times New Roman"/>
              <a:cs typeface="Times New Roman"/>
              <a:sym typeface="Times New Roman"/>
            </a:endParaRPr>
          </a:p>
          <a:p>
            <a:pPr indent="-381000" lvl="0" marL="457200" rtl="0" algn="l">
              <a:lnSpc>
                <a:spcPct val="9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Information is combined into one response.</a:t>
            </a:r>
            <a:endParaRPr sz="2400">
              <a:latin typeface="Times New Roman"/>
              <a:ea typeface="Times New Roman"/>
              <a:cs typeface="Times New Roman"/>
              <a:sym typeface="Times New Roman"/>
            </a:endParaRPr>
          </a:p>
          <a:p>
            <a:pPr indent="-50800" lvl="0" marL="228600" rtl="0" algn="l">
              <a:lnSpc>
                <a:spcPct val="70000"/>
              </a:lnSpc>
              <a:spcBef>
                <a:spcPts val="1200"/>
              </a:spcBef>
              <a:spcAft>
                <a:spcPts val="0"/>
              </a:spcAft>
              <a:buClr>
                <a:schemeClr val="dk1"/>
              </a:buClr>
              <a:buSzPts val="2380"/>
              <a:buNone/>
            </a:pPr>
            <a:r>
              <a:t/>
            </a:r>
            <a:endParaRPr sz="24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h3ec38cbf6a3e40f2_0_155"/>
          <p:cNvSpPr txBox="1"/>
          <p:nvPr>
            <p:ph type="title"/>
          </p:nvPr>
        </p:nvSpPr>
        <p:spPr>
          <a:xfrm>
            <a:off x="838200" y="356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Demo &amp; Product Walkthrough</a:t>
            </a:r>
            <a:endParaRPr/>
          </a:p>
        </p:txBody>
      </p:sp>
      <p:sp>
        <p:nvSpPr>
          <p:cNvPr id="151" name="Google Shape;151;h3ec38cbf6a3e40f2_0_155"/>
          <p:cNvSpPr txBox="1"/>
          <p:nvPr>
            <p:ph idx="1" type="body"/>
          </p:nvPr>
        </p:nvSpPr>
        <p:spPr>
          <a:xfrm>
            <a:off x="838200" y="1571751"/>
            <a:ext cx="10515600" cy="4605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0"/>
              </a:spcBef>
              <a:spcAft>
                <a:spcPts val="0"/>
              </a:spcAft>
              <a:buClr>
                <a:schemeClr val="dk1"/>
              </a:buClr>
              <a:buSzPts val="1100"/>
              <a:buFont typeface="Arial"/>
              <a:buNone/>
            </a:pPr>
            <a:r>
              <a:rPr b="1" lang="en-US" sz="2400">
                <a:latin typeface="Times New Roman"/>
                <a:ea typeface="Times New Roman"/>
                <a:cs typeface="Times New Roman"/>
                <a:sym typeface="Times New Roman"/>
              </a:rPr>
              <a:t>State-Preserving Refinement</a:t>
            </a:r>
            <a:endParaRPr b="1"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Initial Question</a:t>
            </a:r>
            <a:endParaRPr b="1" sz="2400">
              <a:latin typeface="Times New Roman"/>
              <a:ea typeface="Times New Roman"/>
              <a:cs typeface="Times New Roman"/>
              <a:sym typeface="Times New Roman"/>
            </a:endParaRPr>
          </a:p>
          <a:p>
            <a:pPr indent="0" lvl="0" marL="381000" marR="381000" rtl="0" algn="l">
              <a:lnSpc>
                <a:spcPct val="100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“What are the main modules of the Hotel Management System?”</a:t>
            </a:r>
            <a:endParaRPr b="1"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Answer Version 1</a:t>
            </a:r>
            <a:endParaRPr b="1" sz="2400">
              <a:latin typeface="Times New Roman"/>
              <a:ea typeface="Times New Roman"/>
              <a:cs typeface="Times New Roman"/>
              <a:sym typeface="Times New Roman"/>
            </a:endParaRPr>
          </a:p>
          <a:p>
            <a:pPr indent="0" lvl="0" marL="381000" marR="38100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Customer Management</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Room Management</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Booking</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Billing</a:t>
            </a:r>
            <a:endParaRPr sz="2400">
              <a:latin typeface="Times New Roman"/>
              <a:ea typeface="Times New Roman"/>
              <a:cs typeface="Times New Roman"/>
              <a:sym typeface="Times New Roman"/>
            </a:endParaRPr>
          </a:p>
          <a:p>
            <a:pPr indent="0" lvl="0" marL="457200" rtl="0" algn="l">
              <a:lnSpc>
                <a:spcPct val="100000"/>
              </a:lnSpc>
              <a:spcBef>
                <a:spcPts val="1200"/>
              </a:spcBef>
              <a:spcAft>
                <a:spcPts val="0"/>
              </a:spcAft>
              <a:buNone/>
            </a:pP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50800" lvl="0" marL="228600" rtl="0" algn="l">
              <a:lnSpc>
                <a:spcPct val="100000"/>
              </a:lnSpc>
              <a:spcBef>
                <a:spcPts val="1200"/>
              </a:spcBef>
              <a:spcAft>
                <a:spcPts val="0"/>
              </a:spcAft>
              <a:buClr>
                <a:schemeClr val="dk1"/>
              </a:buClr>
              <a:buSzPts val="2380"/>
              <a:buNone/>
            </a:pPr>
            <a:r>
              <a:t/>
            </a:r>
            <a:endParaRPr b="1" sz="24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h3ec38cbf6a3e40f2_0_168"/>
          <p:cNvSpPr txBox="1"/>
          <p:nvPr>
            <p:ph type="title"/>
          </p:nvPr>
        </p:nvSpPr>
        <p:spPr>
          <a:xfrm>
            <a:off x="838200" y="356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Demo &amp; Product Walkthrough</a:t>
            </a:r>
            <a:endParaRPr/>
          </a:p>
        </p:txBody>
      </p:sp>
      <p:sp>
        <p:nvSpPr>
          <p:cNvPr id="157" name="Google Shape;157;h3ec38cbf6a3e40f2_0_168"/>
          <p:cNvSpPr txBox="1"/>
          <p:nvPr>
            <p:ph idx="1" type="body"/>
          </p:nvPr>
        </p:nvSpPr>
        <p:spPr>
          <a:xfrm>
            <a:off x="838200" y="1571751"/>
            <a:ext cx="10515600" cy="4605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User adds a late constraint</a:t>
            </a:r>
            <a:endParaRPr b="1" sz="2400">
              <a:latin typeface="Times New Roman"/>
              <a:ea typeface="Times New Roman"/>
              <a:cs typeface="Times New Roman"/>
              <a:sym typeface="Times New Roman"/>
            </a:endParaRPr>
          </a:p>
          <a:p>
            <a:pPr indent="0" lvl="0" marL="381000" marR="381000" rtl="0" algn="l">
              <a:lnSpc>
                <a:spcPct val="100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“Tell me only about the booking module.”</a:t>
            </a:r>
            <a:endParaRPr b="1"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State-Preserving Refinement</a:t>
            </a:r>
            <a:endParaRPr b="1" sz="2400">
              <a:latin typeface="Times New Roman"/>
              <a:ea typeface="Times New Roman"/>
              <a:cs typeface="Times New Roman"/>
              <a:sym typeface="Times New Roman"/>
            </a:endParaRPr>
          </a:p>
          <a:p>
            <a:pPr indent="-381000" lvl="0" marL="457200" rtl="0" algn="l">
              <a:lnSpc>
                <a:spcPct val="100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Previous conversation state is retained.</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New constraint is detected.</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Retrieval is focused on the booking module.</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Irrelevant context is filtered.</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lang="en-US" sz="2400">
                <a:latin typeface="Times New Roman"/>
                <a:ea typeface="Times New Roman"/>
                <a:cs typeface="Times New Roman"/>
                <a:sym typeface="Times New Roman"/>
              </a:rPr>
              <a:t>A refined </a:t>
            </a:r>
            <a:r>
              <a:rPr b="1" lang="en-US" sz="2400">
                <a:latin typeface="Times New Roman"/>
                <a:ea typeface="Times New Roman"/>
                <a:cs typeface="Times New Roman"/>
                <a:sym typeface="Times New Roman"/>
              </a:rPr>
              <a:t>Answer Version 2</a:t>
            </a:r>
            <a:r>
              <a:rPr lang="en-US" sz="2400">
                <a:latin typeface="Times New Roman"/>
                <a:ea typeface="Times New Roman"/>
                <a:cs typeface="Times New Roman"/>
                <a:sym typeface="Times New Roman"/>
              </a:rPr>
              <a:t> is streamed</a:t>
            </a:r>
            <a:endParaRPr b="1" sz="2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hc3857839a27095_0_92"/>
          <p:cNvSpPr txBox="1"/>
          <p:nvPr>
            <p:ph type="title"/>
          </p:nvPr>
        </p:nvSpPr>
        <p:spPr>
          <a:xfrm>
            <a:off x="838200" y="356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Demo &amp; Product Walkthrough</a:t>
            </a:r>
            <a:endParaRPr/>
          </a:p>
        </p:txBody>
      </p:sp>
      <p:sp>
        <p:nvSpPr>
          <p:cNvPr id="163" name="Google Shape;163;hc3857839a27095_0_92"/>
          <p:cNvSpPr txBox="1"/>
          <p:nvPr>
            <p:ph idx="1" type="body"/>
          </p:nvPr>
        </p:nvSpPr>
        <p:spPr>
          <a:xfrm>
            <a:off x="838200" y="1571751"/>
            <a:ext cx="10515600" cy="4605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0"/>
              </a:spcBef>
              <a:spcAft>
                <a:spcPts val="0"/>
              </a:spcAft>
              <a:buClr>
                <a:schemeClr val="dk1"/>
              </a:buClr>
              <a:buSzPts val="1100"/>
              <a:buFont typeface="Arial"/>
              <a:buNone/>
            </a:pPr>
            <a:r>
              <a:rPr b="1" lang="en-US" sz="2400">
                <a:latin typeface="Times New Roman"/>
                <a:ea typeface="Times New Roman"/>
                <a:cs typeface="Times New Roman"/>
                <a:sym typeface="Times New Roman"/>
              </a:rPr>
              <a:t>Key Innovation</a:t>
            </a:r>
            <a:endParaRPr b="1" sz="2400">
              <a:latin typeface="Times New Roman"/>
              <a:ea typeface="Times New Roman"/>
              <a:cs typeface="Times New Roman"/>
              <a:sym typeface="Times New Roman"/>
            </a:endParaRPr>
          </a:p>
          <a:p>
            <a:pPr indent="0" lvl="0" marL="381000" marR="38100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The system does not restart the conversation. It refines the existing answer.</a:t>
            </a:r>
            <a:endParaRPr sz="2400">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rPr b="1" lang="en-US" sz="2400">
                <a:latin typeface="Times New Roman"/>
                <a:ea typeface="Times New Roman"/>
                <a:cs typeface="Times New Roman"/>
                <a:sym typeface="Times New Roman"/>
              </a:rPr>
              <a:t>Visual flow</a:t>
            </a:r>
            <a:endParaRPr b="1" sz="2400">
              <a:latin typeface="Times New Roman"/>
              <a:ea typeface="Times New Roman"/>
              <a:cs typeface="Times New Roman"/>
              <a:sym typeface="Times New Roman"/>
            </a:endParaRPr>
          </a:p>
          <a:p>
            <a:pPr indent="-50800" lvl="0" marL="228600" rtl="0" algn="l">
              <a:lnSpc>
                <a:spcPct val="100000"/>
              </a:lnSpc>
              <a:spcBef>
                <a:spcPts val="400"/>
              </a:spcBef>
              <a:spcAft>
                <a:spcPts val="0"/>
              </a:spcAft>
              <a:buClr>
                <a:schemeClr val="dk1"/>
              </a:buClr>
              <a:buSzPts val="2380"/>
              <a:buNone/>
            </a:pPr>
            <a:r>
              <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USER QUERY</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CONTROLLER</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RETRIEVE</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ANSWER v1</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380"/>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380"/>
              <a:buNone/>
            </a:pPr>
            <a:r>
              <a:t/>
            </a:r>
            <a:endParaRPr sz="2400">
              <a:latin typeface="Times New Roman"/>
              <a:ea typeface="Times New Roman"/>
              <a:cs typeface="Times New Roman"/>
              <a:sym typeface="Times New Roman"/>
            </a:endParaRPr>
          </a:p>
        </p:txBody>
      </p:sp>
      <p:sp>
        <p:nvSpPr>
          <p:cNvPr id="164" name="Google Shape;164;hc3857839a27095_0_92"/>
          <p:cNvSpPr txBox="1"/>
          <p:nvPr/>
        </p:nvSpPr>
        <p:spPr>
          <a:xfrm>
            <a:off x="4177800" y="2960650"/>
            <a:ext cx="4388100" cy="3021900"/>
          </a:xfrm>
          <a:prstGeom prst="rect">
            <a:avLst/>
          </a:prstGeom>
          <a:noFill/>
          <a:ln>
            <a:noFill/>
          </a:ln>
        </p:spPr>
        <p:txBody>
          <a:bodyPr anchorCtr="0" anchor="t" bIns="91425" lIns="91425" spcFirstLastPara="1" rIns="91425" wrap="square" tIns="91425">
            <a:noAutofit/>
          </a:bodyPr>
          <a:lstStyle/>
          <a:p>
            <a:pPr indent="-50800" lvl="0" marL="228600" rtl="0" algn="l">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indent="-50800" lvl="0" marL="228600" rtl="0" algn="l">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NEW CONSTRAINT</a:t>
            </a:r>
            <a:endParaRPr sz="2400">
              <a:solidFill>
                <a:schemeClr val="dk1"/>
              </a:solidFill>
              <a:latin typeface="Times New Roman"/>
              <a:ea typeface="Times New Roman"/>
              <a:cs typeface="Times New Roman"/>
              <a:sym typeface="Times New Roman"/>
            </a:endParaRPr>
          </a:p>
          <a:p>
            <a:pPr indent="-50800" lvl="0" marL="228600" rtl="0" algn="l">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indent="-50800" lvl="0" marL="228600" rtl="0" algn="l">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STATE PRESERVED</a:t>
            </a:r>
            <a:endParaRPr sz="2400">
              <a:solidFill>
                <a:schemeClr val="dk1"/>
              </a:solidFill>
              <a:latin typeface="Times New Roman"/>
              <a:ea typeface="Times New Roman"/>
              <a:cs typeface="Times New Roman"/>
              <a:sym typeface="Times New Roman"/>
            </a:endParaRPr>
          </a:p>
          <a:p>
            <a:pPr indent="-50800" lvl="0" marL="228600" rtl="0" algn="l">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indent="-50800" lvl="0" marL="228600" rtl="0" algn="l">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TARGETED RETRIEVAL</a:t>
            </a:r>
            <a:endParaRPr sz="2400">
              <a:solidFill>
                <a:schemeClr val="dk1"/>
              </a:solidFill>
              <a:latin typeface="Times New Roman"/>
              <a:ea typeface="Times New Roman"/>
              <a:cs typeface="Times New Roman"/>
              <a:sym typeface="Times New Roman"/>
            </a:endParaRPr>
          </a:p>
          <a:p>
            <a:pPr indent="-50800" lvl="0" marL="228600" rtl="0" algn="l">
              <a:spcBef>
                <a:spcPts val="0"/>
              </a:spcBef>
              <a:spcAft>
                <a:spcPts val="0"/>
              </a:spcAft>
              <a:buClr>
                <a:schemeClr val="dk1"/>
              </a:buClr>
              <a:buSzPts val="2380"/>
              <a:buFont typeface="Arial"/>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ANSWER v2</a:t>
            </a:r>
            <a:endParaRPr sz="2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Tools and tech stack used</a:t>
            </a:r>
            <a:endParaRPr b="1">
              <a:solidFill>
                <a:srgbClr val="704EA6"/>
              </a:solidFill>
            </a:endParaRPr>
          </a:p>
        </p:txBody>
      </p:sp>
      <p:sp>
        <p:nvSpPr>
          <p:cNvPr id="170" name="Google Shape;170;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graphicFrame>
        <p:nvGraphicFramePr>
          <p:cNvPr id="171" name="Google Shape;171;p6"/>
          <p:cNvGraphicFramePr/>
          <p:nvPr/>
        </p:nvGraphicFramePr>
        <p:xfrm>
          <a:off x="952500" y="1624100"/>
          <a:ext cx="3000000" cy="3000000"/>
        </p:xfrm>
        <a:graphic>
          <a:graphicData uri="http://schemas.openxmlformats.org/drawingml/2006/table">
            <a:tbl>
              <a:tblPr>
                <a:noFill/>
                <a:tableStyleId>{686A7297-AFFE-4123-929A-EA93B868DDA5}</a:tableStyleId>
              </a:tblPr>
              <a:tblGrid>
                <a:gridCol w="3429000"/>
                <a:gridCol w="3429000"/>
                <a:gridCol w="3429000"/>
              </a:tblGrid>
              <a:tr h="381000">
                <a:tc>
                  <a:txBody>
                    <a:bodyPr/>
                    <a:lstStyle/>
                    <a:p>
                      <a:pPr indent="0" lvl="0" marL="0" rtl="0" algn="ctr">
                        <a:lnSpc>
                          <a:spcPct val="115000"/>
                        </a:lnSpc>
                        <a:spcBef>
                          <a:spcPts val="0"/>
                        </a:spcBef>
                        <a:spcAft>
                          <a:spcPts val="0"/>
                        </a:spcAft>
                        <a:buNone/>
                      </a:pPr>
                      <a:r>
                        <a:rPr b="1" lang="en-US"/>
                        <a:t>Category</a:t>
                      </a:r>
                      <a:endParaRPr b="1"/>
                    </a:p>
                  </a:txBody>
                  <a:tcPr marT="91425" marB="91425" marR="91425" marL="91425"/>
                </a:tc>
                <a:tc>
                  <a:txBody>
                    <a:bodyPr/>
                    <a:lstStyle/>
                    <a:p>
                      <a:pPr indent="0" lvl="0" marL="0" rtl="0" algn="ctr">
                        <a:spcBef>
                          <a:spcPts val="0"/>
                        </a:spcBef>
                        <a:spcAft>
                          <a:spcPts val="0"/>
                        </a:spcAft>
                        <a:buNone/>
                      </a:pPr>
                      <a:r>
                        <a:rPr b="1" lang="en-US" sz="1700"/>
                        <a:t>Technology </a:t>
                      </a:r>
                      <a:endParaRPr b="1" sz="1700"/>
                    </a:p>
                  </a:txBody>
                  <a:tcPr marT="91425" marB="91425" marR="91425" marL="91425"/>
                </a:tc>
                <a:tc>
                  <a:txBody>
                    <a:bodyPr/>
                    <a:lstStyle/>
                    <a:p>
                      <a:pPr indent="0" lvl="0" marL="0" rtl="0" algn="ctr">
                        <a:spcBef>
                          <a:spcPts val="0"/>
                        </a:spcBef>
                        <a:spcAft>
                          <a:spcPts val="0"/>
                        </a:spcAft>
                        <a:buNone/>
                      </a:pPr>
                      <a:r>
                        <a:rPr b="1" lang="en-US" sz="1700"/>
                        <a:t>Purpose </a:t>
                      </a:r>
                      <a:endParaRPr b="1" sz="1700"/>
                    </a:p>
                  </a:txBody>
                  <a:tcPr marT="91425" marB="91425" marR="91425" marL="91425"/>
                </a:tc>
              </a:tr>
              <a:tr h="381000">
                <a:tc>
                  <a:txBody>
                    <a:bodyPr/>
                    <a:lstStyle/>
                    <a:p>
                      <a:pPr indent="0" lvl="0" marL="0" rtl="0" algn="l">
                        <a:spcBef>
                          <a:spcPts val="0"/>
                        </a:spcBef>
                        <a:spcAft>
                          <a:spcPts val="0"/>
                        </a:spcAft>
                        <a:buNone/>
                      </a:pPr>
                      <a:r>
                        <a:rPr lang="en-US"/>
                        <a:t>Programming </a:t>
                      </a:r>
                      <a:endParaRPr/>
                    </a:p>
                  </a:txBody>
                  <a:tcPr marT="91425" marB="91425" marR="91425" marL="91425"/>
                </a:tc>
                <a:tc>
                  <a:txBody>
                    <a:bodyPr/>
                    <a:lstStyle/>
                    <a:p>
                      <a:pPr indent="0" lvl="0" marL="0" rtl="0" algn="l">
                        <a:spcBef>
                          <a:spcPts val="0"/>
                        </a:spcBef>
                        <a:spcAft>
                          <a:spcPts val="0"/>
                        </a:spcAft>
                        <a:buNone/>
                      </a:pPr>
                      <a:r>
                        <a:rPr lang="en-US"/>
                        <a:t>Python </a:t>
                      </a:r>
                      <a:endParaRPr/>
                    </a:p>
                  </a:txBody>
                  <a:tcPr marT="91425" marB="91425" marR="91425" marL="91425"/>
                </a:tc>
                <a:tc>
                  <a:txBody>
                    <a:bodyPr/>
                    <a:lstStyle/>
                    <a:p>
                      <a:pPr indent="0" lvl="0" marL="0" rtl="0" algn="l">
                        <a:spcBef>
                          <a:spcPts val="0"/>
                        </a:spcBef>
                        <a:spcAft>
                          <a:spcPts val="0"/>
                        </a:spcAft>
                        <a:buNone/>
                      </a:pPr>
                      <a:r>
                        <a:rPr lang="en-US"/>
                        <a:t>Core application and RAG pipeline </a:t>
                      </a:r>
                      <a:endParaRPr/>
                    </a:p>
                  </a:txBody>
                  <a:tcPr marT="91425" marB="91425" marR="91425" marL="91425"/>
                </a:tc>
              </a:tr>
              <a:tr h="381000">
                <a:tc>
                  <a:txBody>
                    <a:bodyPr/>
                    <a:lstStyle/>
                    <a:p>
                      <a:pPr indent="0" lvl="0" marL="0" rtl="0" algn="l">
                        <a:spcBef>
                          <a:spcPts val="0"/>
                        </a:spcBef>
                        <a:spcAft>
                          <a:spcPts val="0"/>
                        </a:spcAft>
                        <a:buNone/>
                      </a:pPr>
                      <a:r>
                        <a:rPr lang="en-US"/>
                        <a:t>Web Framework </a:t>
                      </a:r>
                      <a:endParaRPr/>
                    </a:p>
                  </a:txBody>
                  <a:tcPr marT="91425" marB="91425" marR="91425" marL="91425"/>
                </a:tc>
                <a:tc>
                  <a:txBody>
                    <a:bodyPr/>
                    <a:lstStyle/>
                    <a:p>
                      <a:pPr indent="0" lvl="0" marL="0" rtl="0" algn="l">
                        <a:spcBef>
                          <a:spcPts val="0"/>
                        </a:spcBef>
                        <a:spcAft>
                          <a:spcPts val="0"/>
                        </a:spcAft>
                        <a:buNone/>
                      </a:pPr>
                      <a:r>
                        <a:rPr lang="en-US"/>
                        <a:t>Flask </a:t>
                      </a:r>
                      <a:endParaRPr/>
                    </a:p>
                  </a:txBody>
                  <a:tcPr marT="91425" marB="91425" marR="91425" marL="91425"/>
                </a:tc>
                <a:tc>
                  <a:txBody>
                    <a:bodyPr/>
                    <a:lstStyle/>
                    <a:p>
                      <a:pPr indent="0" lvl="0" marL="0" rtl="0" algn="l">
                        <a:spcBef>
                          <a:spcPts val="0"/>
                        </a:spcBef>
                        <a:spcAft>
                          <a:spcPts val="0"/>
                        </a:spcAft>
                        <a:buNone/>
                      </a:pPr>
                      <a:r>
                        <a:rPr lang="en-US"/>
                        <a:t>Backend, API and application routing </a:t>
                      </a:r>
                      <a:endParaRPr/>
                    </a:p>
                  </a:txBody>
                  <a:tcPr marT="91425" marB="91425" marR="91425" marL="91425"/>
                </a:tc>
              </a:tr>
              <a:tr h="381000">
                <a:tc>
                  <a:txBody>
                    <a:bodyPr/>
                    <a:lstStyle/>
                    <a:p>
                      <a:pPr indent="0" lvl="0" marL="0" rtl="0" algn="l">
                        <a:spcBef>
                          <a:spcPts val="0"/>
                        </a:spcBef>
                        <a:spcAft>
                          <a:spcPts val="0"/>
                        </a:spcAft>
                        <a:buNone/>
                      </a:pPr>
                      <a:r>
                        <a:rPr lang="en-US"/>
                        <a:t>Frontend </a:t>
                      </a:r>
                      <a:endParaRPr/>
                    </a:p>
                  </a:txBody>
                  <a:tcPr marT="91425" marB="91425" marR="91425" marL="91425"/>
                </a:tc>
                <a:tc>
                  <a:txBody>
                    <a:bodyPr/>
                    <a:lstStyle/>
                    <a:p>
                      <a:pPr indent="0" lvl="0" marL="0" rtl="0" algn="l">
                        <a:spcBef>
                          <a:spcPts val="0"/>
                        </a:spcBef>
                        <a:spcAft>
                          <a:spcPts val="0"/>
                        </a:spcAft>
                        <a:buNone/>
                      </a:pPr>
                      <a:r>
                        <a:rPr lang="en-US"/>
                        <a:t>HTML, CSS, JavaScript </a:t>
                      </a:r>
                      <a:endParaRPr/>
                    </a:p>
                  </a:txBody>
                  <a:tcPr marT="91425" marB="91425" marR="91425" marL="91425"/>
                </a:tc>
                <a:tc>
                  <a:txBody>
                    <a:bodyPr/>
                    <a:lstStyle/>
                    <a:p>
                      <a:pPr indent="0" lvl="0" marL="0" rtl="0" algn="l">
                        <a:spcBef>
                          <a:spcPts val="0"/>
                        </a:spcBef>
                        <a:spcAft>
                          <a:spcPts val="0"/>
                        </a:spcAft>
                        <a:buNone/>
                      </a:pPr>
                      <a:r>
                        <a:rPr lang="en-US"/>
                        <a:t>Interactive chat interface </a:t>
                      </a:r>
                      <a:endParaRPr/>
                    </a:p>
                  </a:txBody>
                  <a:tcPr marT="91425" marB="91425" marR="91425" marL="91425"/>
                </a:tc>
              </a:tr>
              <a:tr h="381000">
                <a:tc>
                  <a:txBody>
                    <a:bodyPr/>
                    <a:lstStyle/>
                    <a:p>
                      <a:pPr indent="0" lvl="0" marL="0" rtl="0" algn="l">
                        <a:spcBef>
                          <a:spcPts val="0"/>
                        </a:spcBef>
                        <a:spcAft>
                          <a:spcPts val="0"/>
                        </a:spcAft>
                        <a:buNone/>
                      </a:pPr>
                      <a:r>
                        <a:rPr lang="en-US"/>
                        <a:t>Generative AI </a:t>
                      </a:r>
                      <a:endParaRPr/>
                    </a:p>
                  </a:txBody>
                  <a:tcPr marT="91425" marB="91425" marR="91425" marL="91425"/>
                </a:tc>
                <a:tc>
                  <a:txBody>
                    <a:bodyPr/>
                    <a:lstStyle/>
                    <a:p>
                      <a:pPr indent="0" lvl="0" marL="0" rtl="0" algn="l">
                        <a:spcBef>
                          <a:spcPts val="0"/>
                        </a:spcBef>
                        <a:spcAft>
                          <a:spcPts val="0"/>
                        </a:spcAft>
                        <a:buNone/>
                      </a:pPr>
                      <a:r>
                        <a:rPr lang="en-US"/>
                        <a:t>Google Gemini API </a:t>
                      </a:r>
                      <a:endParaRPr/>
                    </a:p>
                  </a:txBody>
                  <a:tcPr marT="91425" marB="91425" marR="91425" marL="91425"/>
                </a:tc>
                <a:tc>
                  <a:txBody>
                    <a:bodyPr/>
                    <a:lstStyle/>
                    <a:p>
                      <a:pPr indent="0" lvl="0" marL="0" rtl="0" algn="l">
                        <a:spcBef>
                          <a:spcPts val="0"/>
                        </a:spcBef>
                        <a:spcAft>
                          <a:spcPts val="0"/>
                        </a:spcAft>
                        <a:buNone/>
                      </a:pPr>
                      <a:r>
                        <a:rPr lang="en-US"/>
                        <a:t>Grounded answer generation </a:t>
                      </a:r>
                      <a:endParaRPr/>
                    </a:p>
                  </a:txBody>
                  <a:tcPr marT="91425" marB="91425" marR="91425" marL="91425"/>
                </a:tc>
              </a:tr>
              <a:tr h="381000">
                <a:tc>
                  <a:txBody>
                    <a:bodyPr/>
                    <a:lstStyle/>
                    <a:p>
                      <a:pPr indent="0" lvl="0" marL="0" rtl="0" algn="l">
                        <a:spcBef>
                          <a:spcPts val="0"/>
                        </a:spcBef>
                        <a:spcAft>
                          <a:spcPts val="0"/>
                        </a:spcAft>
                        <a:buNone/>
                      </a:pPr>
                      <a:r>
                        <a:rPr lang="en-US"/>
                        <a:t>Vector Retrieval </a:t>
                      </a:r>
                      <a:endParaRPr/>
                    </a:p>
                  </a:txBody>
                  <a:tcPr marT="91425" marB="91425" marR="91425" marL="91425"/>
                </a:tc>
                <a:tc>
                  <a:txBody>
                    <a:bodyPr/>
                    <a:lstStyle/>
                    <a:p>
                      <a:pPr indent="0" lvl="0" marL="0" rtl="0" algn="l">
                        <a:spcBef>
                          <a:spcPts val="0"/>
                        </a:spcBef>
                        <a:spcAft>
                          <a:spcPts val="0"/>
                        </a:spcAft>
                        <a:buNone/>
                      </a:pPr>
                      <a:r>
                        <a:rPr lang="en-US"/>
                        <a:t>FAISS </a:t>
                      </a:r>
                      <a:endParaRPr/>
                    </a:p>
                  </a:txBody>
                  <a:tcPr marT="91425" marB="91425" marR="91425" marL="91425"/>
                </a:tc>
                <a:tc>
                  <a:txBody>
                    <a:bodyPr/>
                    <a:lstStyle/>
                    <a:p>
                      <a:pPr indent="0" lvl="0" marL="0" rtl="0" algn="l">
                        <a:spcBef>
                          <a:spcPts val="0"/>
                        </a:spcBef>
                        <a:spcAft>
                          <a:spcPts val="0"/>
                        </a:spcAft>
                        <a:buNone/>
                      </a:pPr>
                      <a:r>
                        <a:rPr lang="en-US"/>
                        <a:t>Semantic similarity search </a:t>
                      </a:r>
                      <a:endParaRPr/>
                    </a:p>
                  </a:txBody>
                  <a:tcPr marT="91425" marB="91425" marR="91425" marL="91425"/>
                </a:tc>
              </a:tr>
              <a:tr h="381000">
                <a:tc>
                  <a:txBody>
                    <a:bodyPr/>
                    <a:lstStyle/>
                    <a:p>
                      <a:pPr indent="0" lvl="0" marL="0" rtl="0" algn="l">
                        <a:spcBef>
                          <a:spcPts val="0"/>
                        </a:spcBef>
                        <a:spcAft>
                          <a:spcPts val="0"/>
                        </a:spcAft>
                        <a:buNone/>
                      </a:pPr>
                      <a:r>
                        <a:rPr lang="en-US"/>
                        <a:t>Keyword Retrieval </a:t>
                      </a:r>
                      <a:endParaRPr/>
                    </a:p>
                  </a:txBody>
                  <a:tcPr marT="91425" marB="91425" marR="91425" marL="91425"/>
                </a:tc>
                <a:tc>
                  <a:txBody>
                    <a:bodyPr/>
                    <a:lstStyle/>
                    <a:p>
                      <a:pPr indent="0" lvl="0" marL="0" rtl="0" algn="l">
                        <a:spcBef>
                          <a:spcPts val="0"/>
                        </a:spcBef>
                        <a:spcAft>
                          <a:spcPts val="0"/>
                        </a:spcAft>
                        <a:buNone/>
                      </a:pPr>
                      <a:r>
                        <a:rPr lang="en-US"/>
                        <a:t>BM25 </a:t>
                      </a:r>
                      <a:endParaRPr/>
                    </a:p>
                  </a:txBody>
                  <a:tcPr marT="91425" marB="91425" marR="91425" marL="91425"/>
                </a:tc>
                <a:tc>
                  <a:txBody>
                    <a:bodyPr/>
                    <a:lstStyle/>
                    <a:p>
                      <a:pPr indent="0" lvl="0" marL="0" rtl="0" algn="l">
                        <a:spcBef>
                          <a:spcPts val="0"/>
                        </a:spcBef>
                        <a:spcAft>
                          <a:spcPts val="0"/>
                        </a:spcAft>
                        <a:buNone/>
                      </a:pPr>
                      <a:r>
                        <a:rPr lang="en-US"/>
                        <a:t>Exact keyword-based retrieval </a:t>
                      </a:r>
                      <a:endParaRPr/>
                    </a:p>
                  </a:txBody>
                  <a:tcPr marT="91425" marB="91425" marR="91425" marL="91425"/>
                </a:tc>
              </a:tr>
              <a:tr h="381000">
                <a:tc>
                  <a:txBody>
                    <a:bodyPr/>
                    <a:lstStyle/>
                    <a:p>
                      <a:pPr indent="0" lvl="0" marL="0" rtl="0" algn="l">
                        <a:spcBef>
                          <a:spcPts val="0"/>
                        </a:spcBef>
                        <a:spcAft>
                          <a:spcPts val="0"/>
                        </a:spcAft>
                        <a:buNone/>
                      </a:pPr>
                      <a:r>
                        <a:rPr lang="en-US"/>
                        <a:t>Retrieval Fusion </a:t>
                      </a:r>
                      <a:endParaRPr/>
                    </a:p>
                  </a:txBody>
                  <a:tcPr marT="91425" marB="91425" marR="91425" marL="91425"/>
                </a:tc>
                <a:tc>
                  <a:txBody>
                    <a:bodyPr/>
                    <a:lstStyle/>
                    <a:p>
                      <a:pPr indent="0" lvl="0" marL="0" rtl="0" algn="l">
                        <a:spcBef>
                          <a:spcPts val="0"/>
                        </a:spcBef>
                        <a:spcAft>
                          <a:spcPts val="0"/>
                        </a:spcAft>
                        <a:buNone/>
                      </a:pPr>
                      <a:r>
                        <a:rPr lang="en-US"/>
                        <a:t>RRF </a:t>
                      </a:r>
                      <a:endParaRPr/>
                    </a:p>
                  </a:txBody>
                  <a:tcPr marT="91425" marB="91425" marR="91425" marL="91425"/>
                </a:tc>
                <a:tc>
                  <a:txBody>
                    <a:bodyPr/>
                    <a:lstStyle/>
                    <a:p>
                      <a:pPr indent="0" lvl="0" marL="0" rtl="0" algn="l">
                        <a:spcBef>
                          <a:spcPts val="0"/>
                        </a:spcBef>
                        <a:spcAft>
                          <a:spcPts val="0"/>
                        </a:spcAft>
                        <a:buNone/>
                      </a:pPr>
                      <a:r>
                        <a:rPr lang="en-US"/>
                        <a:t>Combines FAISS + BM25 results </a:t>
                      </a:r>
                      <a:endParaRPr/>
                    </a:p>
                  </a:txBody>
                  <a:tcPr marT="91425" marB="91425" marR="91425" marL="91425"/>
                </a:tc>
              </a:tr>
              <a:tr h="381000">
                <a:tc>
                  <a:txBody>
                    <a:bodyPr/>
                    <a:lstStyle/>
                    <a:p>
                      <a:pPr indent="0" lvl="0" marL="0" rtl="0" algn="l">
                        <a:spcBef>
                          <a:spcPts val="0"/>
                        </a:spcBef>
                        <a:spcAft>
                          <a:spcPts val="0"/>
                        </a:spcAft>
                        <a:buNone/>
                      </a:pPr>
                      <a:r>
                        <a:rPr lang="en-US"/>
                        <a:t>Reranking </a:t>
                      </a:r>
                      <a:endParaRPr/>
                    </a:p>
                  </a:txBody>
                  <a:tcPr marT="91425" marB="91425" marR="91425" marL="91425"/>
                </a:tc>
                <a:tc>
                  <a:txBody>
                    <a:bodyPr/>
                    <a:lstStyle/>
                    <a:p>
                      <a:pPr indent="0" lvl="0" marL="0" rtl="0" algn="l">
                        <a:spcBef>
                          <a:spcPts val="0"/>
                        </a:spcBef>
                        <a:spcAft>
                          <a:spcPts val="0"/>
                        </a:spcAft>
                        <a:buNone/>
                      </a:pPr>
                      <a:r>
                        <a:rPr lang="en-US"/>
                        <a:t>Reranker </a:t>
                      </a:r>
                      <a:endParaRPr/>
                    </a:p>
                  </a:txBody>
                  <a:tcPr marT="91425" marB="91425" marR="91425" marL="91425"/>
                </a:tc>
                <a:tc>
                  <a:txBody>
                    <a:bodyPr/>
                    <a:lstStyle/>
                    <a:p>
                      <a:pPr indent="0" lvl="0" marL="0" rtl="0" algn="l">
                        <a:spcBef>
                          <a:spcPts val="0"/>
                        </a:spcBef>
                        <a:spcAft>
                          <a:spcPts val="0"/>
                        </a:spcAft>
                        <a:buNone/>
                      </a:pPr>
                      <a:r>
                        <a:rPr lang="en-US"/>
                        <a:t>Improves relevance of retrieved chunks </a:t>
                      </a:r>
                      <a:endParaRPr/>
                    </a:p>
                  </a:txBody>
                  <a:tcPr marT="91425" marB="91425" marR="91425" marL="91425"/>
                </a:tc>
              </a:tr>
              <a:tr h="381000">
                <a:tc>
                  <a:txBody>
                    <a:bodyPr/>
                    <a:lstStyle/>
                    <a:p>
                      <a:pPr indent="0" lvl="0" marL="0" rtl="0" algn="l">
                        <a:spcBef>
                          <a:spcPts val="0"/>
                        </a:spcBef>
                        <a:spcAft>
                          <a:spcPts val="0"/>
                        </a:spcAft>
                        <a:buNone/>
                      </a:pPr>
                      <a:r>
                        <a:rPr lang="en-US"/>
                        <a:t>Evidence </a:t>
                      </a:r>
                      <a:endParaRPr/>
                    </a:p>
                  </a:txBody>
                  <a:tcPr marT="91425" marB="91425" marR="91425" marL="91425"/>
                </a:tc>
                <a:tc>
                  <a:txBody>
                    <a:bodyPr/>
                    <a:lstStyle/>
                    <a:p>
                      <a:pPr indent="0" lvl="0" marL="0" rtl="0" algn="l">
                        <a:spcBef>
                          <a:spcPts val="0"/>
                        </a:spcBef>
                        <a:spcAft>
                          <a:spcPts val="0"/>
                        </a:spcAft>
                        <a:buNone/>
                      </a:pPr>
                      <a:r>
                        <a:rPr lang="en-US"/>
                        <a:t>Evidence Filtering </a:t>
                      </a:r>
                      <a:endParaRPr/>
                    </a:p>
                  </a:txBody>
                  <a:tcPr marT="91425" marB="91425" marR="91425" marL="91425"/>
                </a:tc>
                <a:tc>
                  <a:txBody>
                    <a:bodyPr/>
                    <a:lstStyle/>
                    <a:p>
                      <a:pPr indent="0" lvl="0" marL="0" rtl="0" algn="l">
                        <a:spcBef>
                          <a:spcPts val="0"/>
                        </a:spcBef>
                        <a:spcAft>
                          <a:spcPts val="0"/>
                        </a:spcAft>
                        <a:buNone/>
                      </a:pPr>
                      <a:r>
                        <a:rPr lang="en-US"/>
                        <a:t>Removes less relevant context </a:t>
                      </a:r>
                      <a:endParaRPr/>
                    </a:p>
                  </a:txBody>
                  <a:tcPr marT="91425" marB="91425" marR="91425" marL="91425"/>
                </a:tc>
              </a:tr>
              <a:tr h="381000">
                <a:tc>
                  <a:txBody>
                    <a:bodyPr/>
                    <a:lstStyle/>
                    <a:p>
                      <a:pPr indent="0" lvl="0" marL="0" rtl="0" algn="l">
                        <a:spcBef>
                          <a:spcPts val="0"/>
                        </a:spcBef>
                        <a:spcAft>
                          <a:spcPts val="0"/>
                        </a:spcAft>
                        <a:buNone/>
                      </a:pPr>
                      <a:r>
                        <a:rPr lang="en-US"/>
                        <a:t>Streaming </a:t>
                      </a:r>
                      <a:endParaRPr/>
                    </a:p>
                  </a:txBody>
                  <a:tcPr marT="91425" marB="91425" marR="91425" marL="91425"/>
                </a:tc>
                <a:tc>
                  <a:txBody>
                    <a:bodyPr/>
                    <a:lstStyle/>
                    <a:p>
                      <a:pPr indent="0" lvl="0" marL="0" rtl="0" algn="l">
                        <a:spcBef>
                          <a:spcPts val="0"/>
                        </a:spcBef>
                        <a:spcAft>
                          <a:spcPts val="0"/>
                        </a:spcAft>
                        <a:buNone/>
                      </a:pPr>
                      <a:r>
                        <a:rPr lang="en-US"/>
                        <a:t>Server-Sent Events (SSE) </a:t>
                      </a:r>
                      <a:endParaRPr/>
                    </a:p>
                  </a:txBody>
                  <a:tcPr marT="91425" marB="91425" marR="91425" marL="91425"/>
                </a:tc>
                <a:tc>
                  <a:txBody>
                    <a:bodyPr/>
                    <a:lstStyle/>
                    <a:p>
                      <a:pPr indent="0" lvl="0" marL="0" rtl="0" algn="l">
                        <a:spcBef>
                          <a:spcPts val="0"/>
                        </a:spcBef>
                        <a:spcAft>
                          <a:spcPts val="0"/>
                        </a:spcAft>
                        <a:buNone/>
                      </a:pPr>
                      <a:r>
                        <a:rPr lang="en-US"/>
                        <a:t>Live incremental response streaming </a:t>
                      </a:r>
                      <a:endParaRPr/>
                    </a:p>
                  </a:txBody>
                  <a:tcPr marT="91425" marB="91425" marR="91425" marL="91425"/>
                </a:tc>
              </a:tr>
              <a:tr h="381000">
                <a:tc>
                  <a:txBody>
                    <a:bodyPr/>
                    <a:lstStyle/>
                    <a:p>
                      <a:pPr indent="0" lvl="0" marL="0" rtl="0" algn="l">
                        <a:spcBef>
                          <a:spcPts val="0"/>
                        </a:spcBef>
                        <a:spcAft>
                          <a:spcPts val="0"/>
                        </a:spcAft>
                        <a:buNone/>
                      </a:pPr>
                      <a:r>
                        <a:rPr lang="en-US"/>
                        <a:t>Testing </a:t>
                      </a:r>
                      <a:endParaRPr/>
                    </a:p>
                  </a:txBody>
                  <a:tcPr marT="91425" marB="91425" marR="91425" marL="91425"/>
                </a:tc>
                <a:tc>
                  <a:txBody>
                    <a:bodyPr/>
                    <a:lstStyle/>
                    <a:p>
                      <a:pPr indent="0" lvl="0" marL="0" rtl="0" algn="l">
                        <a:spcBef>
                          <a:spcPts val="0"/>
                        </a:spcBef>
                        <a:spcAft>
                          <a:spcPts val="0"/>
                        </a:spcAft>
                        <a:buNone/>
                      </a:pPr>
                      <a:r>
                        <a:rPr lang="en-US"/>
                        <a:t>Pytest </a:t>
                      </a:r>
                      <a:endParaRPr/>
                    </a:p>
                  </a:txBody>
                  <a:tcPr marT="91425" marB="91425" marR="91425" marL="91425"/>
                </a:tc>
                <a:tc>
                  <a:txBody>
                    <a:bodyPr/>
                    <a:lstStyle/>
                    <a:p>
                      <a:pPr indent="0" lvl="0" marL="0" rtl="0" algn="l">
                        <a:spcBef>
                          <a:spcPts val="0"/>
                        </a:spcBef>
                        <a:spcAft>
                          <a:spcPts val="0"/>
                        </a:spcAft>
                        <a:buNone/>
                      </a:pPr>
                      <a:r>
                        <a:rPr lang="en-US"/>
                        <a:t>Automated testing </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Impact &amp; Use case</a:t>
            </a:r>
            <a:endParaRPr b="1">
              <a:solidFill>
                <a:srgbClr val="704EA6"/>
              </a:solidFill>
            </a:endParaRPr>
          </a:p>
        </p:txBody>
      </p:sp>
      <p:sp>
        <p:nvSpPr>
          <p:cNvPr id="177" name="Google Shape;177;p7"/>
          <p:cNvSpPr txBox="1"/>
          <p:nvPr>
            <p:ph idx="1" type="body"/>
          </p:nvPr>
        </p:nvSpPr>
        <p:spPr>
          <a:xfrm>
            <a:off x="838200" y="1416675"/>
            <a:ext cx="10515600" cy="4760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lang="en-US" sz="2500">
                <a:latin typeface="Times New Roman"/>
                <a:ea typeface="Times New Roman"/>
                <a:cs typeface="Times New Roman"/>
                <a:sym typeface="Times New Roman"/>
              </a:rPr>
              <a:t>Our Streaming Live RAG system improves document-based conversational AI by:</a:t>
            </a:r>
            <a:endParaRPr sz="2500">
              <a:latin typeface="Times New Roman"/>
              <a:ea typeface="Times New Roman"/>
              <a:cs typeface="Times New Roman"/>
              <a:sym typeface="Times New Roman"/>
            </a:endParaRPr>
          </a:p>
          <a:p>
            <a:pPr indent="-387350" lvl="0" marL="457200" rtl="0" algn="l">
              <a:lnSpc>
                <a:spcPct val="115000"/>
              </a:lnSpc>
              <a:spcBef>
                <a:spcPts val="1200"/>
              </a:spcBef>
              <a:spcAft>
                <a:spcPts val="0"/>
              </a:spcAft>
              <a:buSzPts val="2500"/>
              <a:buChar char="●"/>
            </a:pPr>
            <a:r>
              <a:rPr lang="en-US" sz="2500">
                <a:latin typeface="Times New Roman"/>
                <a:ea typeface="Times New Roman"/>
                <a:cs typeface="Times New Roman"/>
                <a:sym typeface="Times New Roman"/>
              </a:rPr>
              <a:t>Reducing repeated processing through conversation-state preservation.</a:t>
            </a:r>
            <a:endParaRPr sz="2500">
              <a:latin typeface="Times New Roman"/>
              <a:ea typeface="Times New Roman"/>
              <a:cs typeface="Times New Roman"/>
              <a:sym typeface="Times New Roman"/>
            </a:endParaRPr>
          </a:p>
          <a:p>
            <a:pPr indent="-387350" lvl="0" marL="457200" rtl="0" algn="l">
              <a:lnSpc>
                <a:spcPct val="115000"/>
              </a:lnSpc>
              <a:spcBef>
                <a:spcPts val="0"/>
              </a:spcBef>
              <a:spcAft>
                <a:spcPts val="0"/>
              </a:spcAft>
              <a:buSzPts val="2500"/>
              <a:buChar char="●"/>
            </a:pPr>
            <a:r>
              <a:rPr lang="en-US" sz="2500">
                <a:latin typeface="Times New Roman"/>
                <a:ea typeface="Times New Roman"/>
                <a:cs typeface="Times New Roman"/>
                <a:sym typeface="Times New Roman"/>
              </a:rPr>
              <a:t>Handling evolving user requirements using state-preserving refinement.</a:t>
            </a:r>
            <a:endParaRPr sz="2500">
              <a:latin typeface="Times New Roman"/>
              <a:ea typeface="Times New Roman"/>
              <a:cs typeface="Times New Roman"/>
              <a:sym typeface="Times New Roman"/>
            </a:endParaRPr>
          </a:p>
          <a:p>
            <a:pPr indent="-387350" lvl="0" marL="457200" rtl="0" algn="l">
              <a:lnSpc>
                <a:spcPct val="115000"/>
              </a:lnSpc>
              <a:spcBef>
                <a:spcPts val="0"/>
              </a:spcBef>
              <a:spcAft>
                <a:spcPts val="0"/>
              </a:spcAft>
              <a:buSzPts val="2500"/>
              <a:buChar char="●"/>
            </a:pPr>
            <a:r>
              <a:rPr lang="en-US" sz="2500">
                <a:latin typeface="Times New Roman"/>
                <a:ea typeface="Times New Roman"/>
                <a:cs typeface="Times New Roman"/>
                <a:sym typeface="Times New Roman"/>
              </a:rPr>
              <a:t>Improving retrieval relevance through FAISS + BM25 + RRF.</a:t>
            </a:r>
            <a:endParaRPr sz="2500">
              <a:latin typeface="Times New Roman"/>
              <a:ea typeface="Times New Roman"/>
              <a:cs typeface="Times New Roman"/>
              <a:sym typeface="Times New Roman"/>
            </a:endParaRPr>
          </a:p>
          <a:p>
            <a:pPr indent="-387350" lvl="0" marL="457200" rtl="0" algn="l">
              <a:lnSpc>
                <a:spcPct val="115000"/>
              </a:lnSpc>
              <a:spcBef>
                <a:spcPts val="0"/>
              </a:spcBef>
              <a:spcAft>
                <a:spcPts val="0"/>
              </a:spcAft>
              <a:buSzPts val="2500"/>
              <a:buChar char="●"/>
            </a:pPr>
            <a:r>
              <a:rPr lang="en-US" sz="2500">
                <a:latin typeface="Times New Roman"/>
                <a:ea typeface="Times New Roman"/>
                <a:cs typeface="Times New Roman"/>
                <a:sym typeface="Times New Roman"/>
              </a:rPr>
              <a:t>Reducing irrelevant context using reranking and evidence filtering.</a:t>
            </a:r>
            <a:endParaRPr sz="2500">
              <a:latin typeface="Times New Roman"/>
              <a:ea typeface="Times New Roman"/>
              <a:cs typeface="Times New Roman"/>
              <a:sym typeface="Times New Roman"/>
            </a:endParaRPr>
          </a:p>
          <a:p>
            <a:pPr indent="-387350" lvl="0" marL="457200" rtl="0" algn="l">
              <a:lnSpc>
                <a:spcPct val="115000"/>
              </a:lnSpc>
              <a:spcBef>
                <a:spcPts val="0"/>
              </a:spcBef>
              <a:spcAft>
                <a:spcPts val="0"/>
              </a:spcAft>
              <a:buSzPts val="2500"/>
              <a:buChar char="●"/>
            </a:pPr>
            <a:r>
              <a:rPr lang="en-US" sz="2500">
                <a:latin typeface="Times New Roman"/>
                <a:ea typeface="Times New Roman"/>
                <a:cs typeface="Times New Roman"/>
                <a:sym typeface="Times New Roman"/>
              </a:rPr>
              <a:t>Supporting complex questions through multi-intent decomposition.</a:t>
            </a:r>
            <a:endParaRPr sz="2500">
              <a:latin typeface="Times New Roman"/>
              <a:ea typeface="Times New Roman"/>
              <a:cs typeface="Times New Roman"/>
              <a:sym typeface="Times New Roman"/>
            </a:endParaRPr>
          </a:p>
          <a:p>
            <a:pPr indent="-387350" lvl="0" marL="457200" rtl="0" algn="l">
              <a:lnSpc>
                <a:spcPct val="115000"/>
              </a:lnSpc>
              <a:spcBef>
                <a:spcPts val="0"/>
              </a:spcBef>
              <a:spcAft>
                <a:spcPts val="0"/>
              </a:spcAft>
              <a:buSzPts val="2500"/>
              <a:buChar char="●"/>
            </a:pPr>
            <a:r>
              <a:rPr lang="en-US" sz="2500">
                <a:latin typeface="Times New Roman"/>
                <a:ea typeface="Times New Roman"/>
                <a:cs typeface="Times New Roman"/>
                <a:sym typeface="Times New Roman"/>
              </a:rPr>
              <a:t>Improving user experience through live response streaming.</a:t>
            </a:r>
            <a:endParaRPr sz="2500">
              <a:latin typeface="Times New Roman"/>
              <a:ea typeface="Times New Roman"/>
              <a:cs typeface="Times New Roman"/>
              <a:sym typeface="Times New Roman"/>
            </a:endParaRPr>
          </a:p>
          <a:p>
            <a:pPr indent="-387350" lvl="0" marL="457200" rtl="0" algn="l">
              <a:lnSpc>
                <a:spcPct val="115000"/>
              </a:lnSpc>
              <a:spcBef>
                <a:spcPts val="0"/>
              </a:spcBef>
              <a:spcAft>
                <a:spcPts val="0"/>
              </a:spcAft>
              <a:buSzPts val="2500"/>
              <a:buChar char="●"/>
            </a:pPr>
            <a:r>
              <a:rPr lang="en-US" sz="2500">
                <a:latin typeface="Times New Roman"/>
                <a:ea typeface="Times New Roman"/>
                <a:cs typeface="Times New Roman"/>
                <a:sym typeface="Times New Roman"/>
              </a:rPr>
              <a:t>Maintaining answer evolution using answer versions and conversation state.</a:t>
            </a:r>
            <a:endParaRPr sz="2500">
              <a:latin typeface="Times New Roman"/>
              <a:ea typeface="Times New Roman"/>
              <a:cs typeface="Times New Roman"/>
              <a:sym typeface="Times New Roman"/>
            </a:endParaRPr>
          </a:p>
          <a:p>
            <a:pPr indent="-50800" lvl="0" marL="228600" rtl="0" algn="l">
              <a:lnSpc>
                <a:spcPct val="90000"/>
              </a:lnSpc>
              <a:spcBef>
                <a:spcPts val="1200"/>
              </a:spcBef>
              <a:spcAft>
                <a:spcPts val="0"/>
              </a:spcAft>
              <a:buClr>
                <a:schemeClr val="dk1"/>
              </a:buClr>
              <a:buSzPts val="2800"/>
              <a:buNone/>
            </a:pPr>
            <a:r>
              <a:t/>
            </a:r>
            <a:endParaRPr sz="2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h3ec38cbf6a3e40f2_0_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Impact &amp; Use case</a:t>
            </a:r>
            <a:endParaRPr b="1">
              <a:solidFill>
                <a:srgbClr val="704EA6"/>
              </a:solidFill>
            </a:endParaRPr>
          </a:p>
        </p:txBody>
      </p:sp>
      <p:sp>
        <p:nvSpPr>
          <p:cNvPr id="183" name="Google Shape;183;h3ec38cbf6a3e40f2_0_1"/>
          <p:cNvSpPr txBox="1"/>
          <p:nvPr>
            <p:ph idx="1" type="body"/>
          </p:nvPr>
        </p:nvSpPr>
        <p:spPr>
          <a:xfrm>
            <a:off x="838200" y="1325500"/>
            <a:ext cx="10515600" cy="4851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400">
                <a:latin typeface="Times New Roman"/>
                <a:ea typeface="Times New Roman"/>
                <a:cs typeface="Times New Roman"/>
                <a:sym typeface="Times New Roman"/>
              </a:rPr>
              <a:t>Use Cases</a:t>
            </a:r>
            <a:endParaRPr b="1"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a:t>
            </a:r>
            <a:r>
              <a:rPr b="1" lang="en-US" sz="2400">
                <a:latin typeface="Times New Roman"/>
                <a:ea typeface="Times New Roman"/>
                <a:cs typeface="Times New Roman"/>
                <a:sym typeface="Times New Roman"/>
              </a:rPr>
              <a:t> Enterprise Knowledge Management</a:t>
            </a:r>
            <a:endParaRPr b="1"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Employees can ask questions about internal policies, SRS documents, manuals, and organizational knowledge, then refine the answer without restarting the conversation.</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 </a:t>
            </a:r>
            <a:r>
              <a:rPr b="1" lang="en-US" sz="2400">
                <a:latin typeface="Times New Roman"/>
                <a:ea typeface="Times New Roman"/>
                <a:cs typeface="Times New Roman"/>
                <a:sym typeface="Times New Roman"/>
              </a:rPr>
              <a:t>Customer Support</a:t>
            </a:r>
            <a:endParaRPr b="1"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Customers can begin with a broad question and progressively add constraints.</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Example:</a:t>
            </a:r>
            <a:endParaRPr sz="2400">
              <a:latin typeface="Times New Roman"/>
              <a:ea typeface="Times New Roman"/>
              <a:cs typeface="Times New Roman"/>
              <a:sym typeface="Times New Roman"/>
            </a:endParaRPr>
          </a:p>
          <a:p>
            <a:pPr indent="0" lvl="0" marL="381000" marR="38100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“What services are available?”</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 “Tell me only about premium services.”</a:t>
            </a:r>
            <a:endParaRPr sz="2400">
              <a:latin typeface="Times New Roman"/>
              <a:ea typeface="Times New Roman"/>
              <a:cs typeface="Times New Roman"/>
              <a:sym typeface="Times New Roman"/>
            </a:endParaRPr>
          </a:p>
          <a:p>
            <a:pPr indent="-50800" lvl="0" marL="228600" rtl="0" algn="l">
              <a:lnSpc>
                <a:spcPct val="90000"/>
              </a:lnSpc>
              <a:spcBef>
                <a:spcPts val="1200"/>
              </a:spcBef>
              <a:spcAft>
                <a:spcPts val="0"/>
              </a:spcAft>
              <a:buClr>
                <a:schemeClr val="dk1"/>
              </a:buClr>
              <a:buSzPts val="2800"/>
              <a:buNone/>
            </a:pPr>
            <a:r>
              <a:t/>
            </a:r>
            <a:endParaRPr sz="24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h3ec38cbf6a3e40f2_0_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Impact &amp; Use case</a:t>
            </a:r>
            <a:endParaRPr b="1">
              <a:solidFill>
                <a:srgbClr val="704EA6"/>
              </a:solidFill>
            </a:endParaRPr>
          </a:p>
        </p:txBody>
      </p:sp>
      <p:sp>
        <p:nvSpPr>
          <p:cNvPr id="189" name="Google Shape;189;h3ec38cbf6a3e40f2_0_7"/>
          <p:cNvSpPr txBox="1"/>
          <p:nvPr>
            <p:ph idx="1" type="body"/>
          </p:nvPr>
        </p:nvSpPr>
        <p:spPr>
          <a:xfrm>
            <a:off x="838200" y="1242700"/>
            <a:ext cx="10515600" cy="493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 </a:t>
            </a:r>
            <a:r>
              <a:rPr b="1" lang="en-US" sz="2400">
                <a:latin typeface="Times New Roman"/>
                <a:ea typeface="Times New Roman"/>
                <a:cs typeface="Times New Roman"/>
                <a:sym typeface="Times New Roman"/>
              </a:rPr>
              <a:t>Education &amp; Learning</a:t>
            </a:r>
            <a:endParaRPr b="1"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Students can ask for an explanation and then refine it.</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Example:</a:t>
            </a:r>
            <a:endParaRPr b="1" sz="2400">
              <a:latin typeface="Times New Roman"/>
              <a:ea typeface="Times New Roman"/>
              <a:cs typeface="Times New Roman"/>
              <a:sym typeface="Times New Roman"/>
            </a:endParaRPr>
          </a:p>
          <a:p>
            <a:pPr indent="0" lvl="0" marL="381000" marR="38100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“Explain this topic.”</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 “Explain only the important points in simple terms.”</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 </a:t>
            </a:r>
            <a:r>
              <a:rPr b="1" lang="en-US" sz="2400">
                <a:latin typeface="Times New Roman"/>
                <a:ea typeface="Times New Roman"/>
                <a:cs typeface="Times New Roman"/>
                <a:sym typeface="Times New Roman"/>
              </a:rPr>
              <a:t>Technical Documentation</a:t>
            </a:r>
            <a:endParaRPr b="1"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Developers can ask about a system and then focus on a particular module, API, or component.</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Example:</a:t>
            </a:r>
            <a:endParaRPr b="1" sz="2400">
              <a:latin typeface="Times New Roman"/>
              <a:ea typeface="Times New Roman"/>
              <a:cs typeface="Times New Roman"/>
              <a:sym typeface="Times New Roman"/>
            </a:endParaRPr>
          </a:p>
          <a:p>
            <a:pPr indent="0" lvl="0" marL="381000" marR="38100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“What are the modules?”</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 “Explain only the authentication module.”</a:t>
            </a:r>
            <a:endParaRPr sz="2400">
              <a:latin typeface="Times New Roman"/>
              <a:ea typeface="Times New Roman"/>
              <a:cs typeface="Times New Roman"/>
              <a:sym typeface="Times New Roman"/>
            </a:endParaRPr>
          </a:p>
          <a:p>
            <a:pPr indent="-50800" lvl="0" marL="228600" rtl="0" algn="l">
              <a:lnSpc>
                <a:spcPct val="100000"/>
              </a:lnSpc>
              <a:spcBef>
                <a:spcPts val="1200"/>
              </a:spcBef>
              <a:spcAft>
                <a:spcPts val="0"/>
              </a:spcAft>
              <a:buClr>
                <a:schemeClr val="dk1"/>
              </a:buClr>
              <a:buSzPts val="2800"/>
              <a:buNone/>
            </a:pPr>
            <a:r>
              <a:t/>
            </a:r>
            <a:endParaRPr sz="24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h3ec38cbf6a3e40f2_0_1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Impact &amp; Use case</a:t>
            </a:r>
            <a:endParaRPr b="1">
              <a:solidFill>
                <a:srgbClr val="704EA6"/>
              </a:solidFill>
            </a:endParaRPr>
          </a:p>
        </p:txBody>
      </p:sp>
      <p:sp>
        <p:nvSpPr>
          <p:cNvPr id="195" name="Google Shape;195;h3ec38cbf6a3e40f2_0_12"/>
          <p:cNvSpPr txBox="1"/>
          <p:nvPr>
            <p:ph idx="1" type="body"/>
          </p:nvPr>
        </p:nvSpPr>
        <p:spPr>
          <a:xfrm>
            <a:off x="838200" y="1242700"/>
            <a:ext cx="10515600" cy="493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 Research &amp; Document Analysis</a:t>
            </a:r>
            <a:endParaRPr sz="24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Researchers can ask broad questions over large document collections and progressively narrow the information they need.</a:t>
            </a:r>
            <a:endParaRPr sz="2400">
              <a:latin typeface="Times New Roman"/>
              <a:ea typeface="Times New Roman"/>
              <a:cs typeface="Times New Roman"/>
              <a:sym typeface="Times New Roman"/>
            </a:endParaRPr>
          </a:p>
          <a:p>
            <a:pPr indent="0" lvl="0" marL="0" rtl="0" algn="l">
              <a:lnSpc>
                <a:spcPct val="100000"/>
              </a:lnSpc>
              <a:spcBef>
                <a:spcPts val="1400"/>
              </a:spcBef>
              <a:spcAft>
                <a:spcPts val="0"/>
              </a:spcAft>
              <a:buClr>
                <a:schemeClr val="dk1"/>
              </a:buClr>
              <a:buSzPts val="1100"/>
              <a:buFont typeface="Arial"/>
              <a:buNone/>
            </a:pPr>
            <a:r>
              <a:t/>
            </a:r>
            <a:endParaRPr sz="2400">
              <a:latin typeface="Times New Roman"/>
              <a:ea typeface="Times New Roman"/>
              <a:cs typeface="Times New Roman"/>
              <a:sym typeface="Times New Roman"/>
            </a:endParaRPr>
          </a:p>
          <a:p>
            <a:pPr indent="-50800" lvl="0" marL="228600" rtl="0" algn="l">
              <a:lnSpc>
                <a:spcPct val="100000"/>
              </a:lnSpc>
              <a:spcBef>
                <a:spcPts val="400"/>
              </a:spcBef>
              <a:spcAft>
                <a:spcPts val="0"/>
              </a:spcAft>
              <a:buClr>
                <a:schemeClr val="dk1"/>
              </a:buClr>
              <a:buSzPts val="2800"/>
              <a:buNone/>
            </a:pPr>
            <a:r>
              <a:rPr b="1" lang="en-US" sz="2400">
                <a:latin typeface="Times New Roman"/>
                <a:ea typeface="Times New Roman"/>
                <a:cs typeface="Times New Roman"/>
                <a:sym typeface="Times New Roman"/>
              </a:rPr>
              <a:t>Traditional RAG</a:t>
            </a:r>
            <a:endParaRPr b="1"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800"/>
              <a:buNone/>
            </a:pPr>
            <a:r>
              <a:t/>
            </a:r>
            <a:endParaRPr sz="2400">
              <a:solidFill>
                <a:schemeClr val="accent6"/>
              </a:solidFill>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800"/>
              <a:buNone/>
            </a:pPr>
            <a:r>
              <a:rPr lang="en-US" sz="2400">
                <a:solidFill>
                  <a:schemeClr val="accent6"/>
                </a:solidFill>
                <a:latin typeface="Times New Roman"/>
                <a:ea typeface="Times New Roman"/>
                <a:cs typeface="Times New Roman"/>
                <a:sym typeface="Times New Roman"/>
              </a:rPr>
              <a:t>Retrieve → Generate → Restart</a:t>
            </a:r>
            <a:endParaRPr sz="2400">
              <a:solidFill>
                <a:schemeClr val="accent6"/>
              </a:solidFill>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800"/>
              <a:buNone/>
            </a:pPr>
            <a:r>
              <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800"/>
              <a:buNone/>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800"/>
              <a:buNone/>
            </a:pPr>
            <a:r>
              <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800"/>
              <a:buNone/>
            </a:pPr>
            <a:r>
              <a:rPr b="1" lang="en-US" sz="2400">
                <a:latin typeface="Times New Roman"/>
                <a:ea typeface="Times New Roman"/>
                <a:cs typeface="Times New Roman"/>
                <a:sym typeface="Times New Roman"/>
              </a:rPr>
              <a:t>Streaming Live RAG</a:t>
            </a:r>
            <a:endParaRPr b="1" sz="24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None/>
            </a:pPr>
            <a:r>
              <a:t/>
            </a:r>
            <a:endParaRPr sz="2400">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US" sz="2400">
                <a:solidFill>
                  <a:schemeClr val="accent6"/>
                </a:solidFill>
                <a:latin typeface="Times New Roman"/>
                <a:ea typeface="Times New Roman"/>
                <a:cs typeface="Times New Roman"/>
                <a:sym typeface="Times New Roman"/>
              </a:rPr>
              <a:t>Understand → Retrieve → Stream → Remember → Refine</a:t>
            </a:r>
            <a:endParaRPr sz="2400">
              <a:solidFill>
                <a:schemeClr val="accent6"/>
              </a:solidFill>
              <a:latin typeface="Times New Roman"/>
              <a:ea typeface="Times New Roman"/>
              <a:cs typeface="Times New Roman"/>
              <a:sym typeface="Times New Roman"/>
            </a:endParaRPr>
          </a:p>
          <a:p>
            <a:pPr indent="0" lvl="0" marL="381000" marR="381000" rtl="0" algn="l">
              <a:lnSpc>
                <a:spcPct val="100000"/>
              </a:lnSpc>
              <a:spcBef>
                <a:spcPts val="1200"/>
              </a:spcBef>
              <a:spcAft>
                <a:spcPts val="0"/>
              </a:spcAft>
              <a:buClr>
                <a:schemeClr val="dk1"/>
              </a:buClr>
              <a:buSzPts val="1100"/>
              <a:buFont typeface="Arial"/>
              <a:buNone/>
            </a:pPr>
            <a:r>
              <a:t/>
            </a:r>
            <a:endParaRPr sz="2400">
              <a:latin typeface="Times New Roman"/>
              <a:ea typeface="Times New Roman"/>
              <a:cs typeface="Times New Roman"/>
              <a:sym typeface="Times New Roman"/>
            </a:endParaRPr>
          </a:p>
          <a:p>
            <a:pPr indent="-50800" lvl="0" marL="228600" rtl="0" algn="l">
              <a:lnSpc>
                <a:spcPct val="100000"/>
              </a:lnSpc>
              <a:spcBef>
                <a:spcPts val="1200"/>
              </a:spcBef>
              <a:spcAft>
                <a:spcPts val="0"/>
              </a:spcAft>
              <a:buClr>
                <a:schemeClr val="dk1"/>
              </a:buClr>
              <a:buSzPts val="2800"/>
              <a:buNone/>
            </a:pPr>
            <a:r>
              <a:t/>
            </a:r>
            <a:endParaRPr sz="2400">
              <a:latin typeface="Times New Roman"/>
              <a:ea typeface="Times New Roman"/>
              <a:cs typeface="Times New Roman"/>
              <a:sym typeface="Times New Roman"/>
            </a:endParaRPr>
          </a:p>
          <a:p>
            <a:pPr indent="-50800" lvl="0" marL="228600" rtl="0" algn="l">
              <a:lnSpc>
                <a:spcPct val="100000"/>
              </a:lnSpc>
              <a:spcBef>
                <a:spcPts val="0"/>
              </a:spcBef>
              <a:spcAft>
                <a:spcPts val="0"/>
              </a:spcAft>
              <a:buClr>
                <a:schemeClr val="dk1"/>
              </a:buClr>
              <a:buSzPts val="2800"/>
              <a:buNone/>
            </a:pPr>
            <a:r>
              <a:t/>
            </a:r>
            <a:endParaRPr sz="24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txBox="1"/>
          <p:nvPr>
            <p:ph type="title"/>
          </p:nvPr>
        </p:nvSpPr>
        <p:spPr>
          <a:xfrm>
            <a:off x="838200" y="-426950"/>
            <a:ext cx="10515600" cy="189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Innovation highlights, results and limitations</a:t>
            </a:r>
            <a:endParaRPr b="1" sz="4400">
              <a:solidFill>
                <a:srgbClr val="704EA6"/>
              </a:solidFill>
            </a:endParaRPr>
          </a:p>
        </p:txBody>
      </p:sp>
      <p:sp>
        <p:nvSpPr>
          <p:cNvPr id="201" name="Google Shape;201;p8"/>
          <p:cNvSpPr txBox="1"/>
          <p:nvPr>
            <p:ph idx="1" type="body"/>
          </p:nvPr>
        </p:nvSpPr>
        <p:spPr>
          <a:xfrm>
            <a:off x="838200" y="837600"/>
            <a:ext cx="11191200" cy="5182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0"/>
              </a:spcBef>
              <a:spcAft>
                <a:spcPts val="0"/>
              </a:spcAft>
              <a:buClr>
                <a:schemeClr val="dk1"/>
              </a:buClr>
              <a:buSzPts val="1100"/>
              <a:buFont typeface="Arial"/>
              <a:buNone/>
            </a:pPr>
            <a:r>
              <a:rPr lang="en-US" sz="2400">
                <a:latin typeface="Times New Roman"/>
                <a:ea typeface="Times New Roman"/>
                <a:cs typeface="Times New Roman"/>
                <a:sym typeface="Times New Roman"/>
              </a:rPr>
              <a:t>🚀 </a:t>
            </a:r>
            <a:r>
              <a:rPr b="1" lang="en-US" sz="2400">
                <a:latin typeface="Times New Roman"/>
                <a:ea typeface="Times New Roman"/>
                <a:cs typeface="Times New Roman"/>
                <a:sym typeface="Times New Roman"/>
              </a:rPr>
              <a:t>Innovation Highlights</a:t>
            </a:r>
            <a:endParaRPr b="1" sz="2400">
              <a:latin typeface="Times New Roman"/>
              <a:ea typeface="Times New Roman"/>
              <a:cs typeface="Times New Roman"/>
              <a:sym typeface="Times New Roman"/>
            </a:endParaRPr>
          </a:p>
          <a:p>
            <a:pPr indent="-381000" lvl="0" marL="457200" rtl="0" algn="l">
              <a:lnSpc>
                <a:spcPct val="100000"/>
              </a:lnSpc>
              <a:spcBef>
                <a:spcPts val="1200"/>
              </a:spcBef>
              <a:spcAft>
                <a:spcPts val="0"/>
              </a:spcAft>
              <a:buSzPts val="2400"/>
              <a:buChar char="●"/>
            </a:pPr>
            <a:r>
              <a:rPr lang="en-US" sz="2400">
                <a:latin typeface="Times New Roman"/>
                <a:ea typeface="Times New Roman"/>
                <a:cs typeface="Times New Roman"/>
                <a:sym typeface="Times New Roman"/>
              </a:rPr>
              <a:t>State-Preserving RAG – Maintains conversation state instead of restarting retrieval for every query.</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lang="en-US" sz="2400">
                <a:latin typeface="Times New Roman"/>
                <a:ea typeface="Times New Roman"/>
                <a:cs typeface="Times New Roman"/>
                <a:sym typeface="Times New Roman"/>
              </a:rPr>
              <a:t>Live Streaming Answers – Uses SSE to stream generated responses progressively.</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lang="en-US" sz="2400">
                <a:latin typeface="Times New Roman"/>
                <a:ea typeface="Times New Roman"/>
                <a:cs typeface="Times New Roman"/>
                <a:sym typeface="Times New Roman"/>
              </a:rPr>
              <a:t>Late-Constraint Refinement – New constraints refine the previous answer without losing earlier context.</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lang="en-US" sz="2400">
                <a:latin typeface="Times New Roman"/>
                <a:ea typeface="Times New Roman"/>
                <a:cs typeface="Times New Roman"/>
                <a:sym typeface="Times New Roman"/>
              </a:rPr>
              <a:t>Multi-Intent Decomposition – Splits complex questions into separate intents for targeted retrieval.</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lang="en-US" sz="2400">
                <a:latin typeface="Times New Roman"/>
                <a:ea typeface="Times New Roman"/>
                <a:cs typeface="Times New Roman"/>
                <a:sym typeface="Times New Roman"/>
              </a:rPr>
              <a:t>Hybrid Retrieval – Combines FAISS semantic search + BM25 keyword search + RRF fusion.</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lang="en-US" sz="2400">
                <a:latin typeface="Times New Roman"/>
                <a:ea typeface="Times New Roman"/>
                <a:cs typeface="Times New Roman"/>
                <a:sym typeface="Times New Roman"/>
              </a:rPr>
              <a:t>Evidence-Aware Generation – Filters and verifies retrieved evidence before generating the answer.</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lang="en-US" sz="2400">
                <a:latin typeface="Times New Roman"/>
                <a:ea typeface="Times New Roman"/>
                <a:cs typeface="Times New Roman"/>
                <a:sym typeface="Times New Roman"/>
              </a:rPr>
              <a:t>Answer Versioning – Tracks Answer v1, v2, etc., showing how responses evolve after refinement.</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lang="en-US" sz="2400">
                <a:latin typeface="Times New Roman"/>
                <a:ea typeface="Times New Roman"/>
                <a:cs typeface="Times New Roman"/>
                <a:sym typeface="Times New Roman"/>
              </a:rPr>
              <a:t>Dynamic Controller – Routes each user message into WAIT, PROCESS, RETRIEVE, or REFINE states.</a:t>
            </a:r>
            <a:endParaRPr sz="2400">
              <a:latin typeface="Times New Roman"/>
              <a:ea typeface="Times New Roman"/>
              <a:cs typeface="Times New Roman"/>
              <a:sym typeface="Times New Roman"/>
            </a:endParaRPr>
          </a:p>
          <a:p>
            <a:pPr indent="-50800" lvl="0" marL="228600" rtl="0" algn="l">
              <a:lnSpc>
                <a:spcPct val="100000"/>
              </a:lnSpc>
              <a:spcBef>
                <a:spcPts val="1200"/>
              </a:spcBef>
              <a:spcAft>
                <a:spcPts val="0"/>
              </a:spcAft>
              <a:buClr>
                <a:schemeClr val="dk1"/>
              </a:buClr>
              <a:buSzPts val="2800"/>
              <a:buNone/>
            </a:pPr>
            <a:r>
              <a:t/>
            </a:r>
            <a:endParaRPr sz="24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h3ec38cbf6a3e40f2_0_18"/>
          <p:cNvSpPr txBox="1"/>
          <p:nvPr>
            <p:ph type="title"/>
          </p:nvPr>
        </p:nvSpPr>
        <p:spPr>
          <a:xfrm>
            <a:off x="838200" y="-426950"/>
            <a:ext cx="10515600" cy="189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Innovation highlights, results and limitations</a:t>
            </a:r>
            <a:endParaRPr b="1" sz="4400">
              <a:solidFill>
                <a:srgbClr val="704EA6"/>
              </a:solidFill>
            </a:endParaRPr>
          </a:p>
        </p:txBody>
      </p:sp>
      <p:sp>
        <p:nvSpPr>
          <p:cNvPr id="207" name="Google Shape;207;h3ec38cbf6a3e40f2_0_18"/>
          <p:cNvSpPr txBox="1"/>
          <p:nvPr>
            <p:ph idx="1" type="body"/>
          </p:nvPr>
        </p:nvSpPr>
        <p:spPr>
          <a:xfrm>
            <a:off x="838200" y="837600"/>
            <a:ext cx="11191200" cy="518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lang="en-US" sz="2400">
                <a:latin typeface="Times New Roman"/>
                <a:ea typeface="Times New Roman"/>
                <a:cs typeface="Times New Roman"/>
                <a:sym typeface="Times New Roman"/>
              </a:rPr>
              <a:t>📊 </a:t>
            </a:r>
            <a:r>
              <a:rPr b="1" lang="en-US" sz="2400">
                <a:latin typeface="Times New Roman"/>
                <a:ea typeface="Times New Roman"/>
                <a:cs typeface="Times New Roman"/>
                <a:sym typeface="Times New Roman"/>
              </a:rPr>
              <a:t>Results / Evaluation</a:t>
            </a:r>
            <a:endParaRPr b="1"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The prototype is designed to evaluate:</a:t>
            </a:r>
            <a:endParaRPr sz="2400">
              <a:latin typeface="Times New Roman"/>
              <a:ea typeface="Times New Roman"/>
              <a:cs typeface="Times New Roman"/>
              <a:sym typeface="Times New Roman"/>
            </a:endParaRPr>
          </a:p>
          <a:p>
            <a:pPr indent="-381000" lvl="0" marL="457200" rtl="0" algn="l">
              <a:lnSpc>
                <a:spcPct val="115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Recall@K &amp; Precision@K – Retrieval quality</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MRR – Ranking quality</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Relevance Score – Retrieved evidence relevance</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Groundedness / Evidence Accuracy – Whether answers are supported by retrieved content</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TTFR – Time to first response/token</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Retrieval &amp; Generation Latency – Pipeline performance</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Constraint Detection Accuracy – Correct identification of late constraints</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Evidence Reuse / New Evidence – Measures whether refinement efficiently reuses previous context</a:t>
            </a:r>
            <a:endParaRPr sz="2400">
              <a:latin typeface="Times New Roman"/>
              <a:ea typeface="Times New Roman"/>
              <a:cs typeface="Times New Roman"/>
              <a:sym typeface="Times New Roman"/>
            </a:endParaRPr>
          </a:p>
          <a:p>
            <a:pPr indent="-50800" lvl="0" marL="228600" rtl="0" algn="l">
              <a:lnSpc>
                <a:spcPct val="100000"/>
              </a:lnSpc>
              <a:spcBef>
                <a:spcPts val="1200"/>
              </a:spcBef>
              <a:spcAft>
                <a:spcPts val="0"/>
              </a:spcAft>
              <a:buClr>
                <a:schemeClr val="dk1"/>
              </a:buClr>
              <a:buSzPts val="2800"/>
              <a:buNone/>
            </a:pPr>
            <a:r>
              <a:t/>
            </a:r>
            <a:endParaRPr sz="24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h3ec38cbf6a3e40f2_0_24"/>
          <p:cNvSpPr txBox="1"/>
          <p:nvPr>
            <p:ph type="title"/>
          </p:nvPr>
        </p:nvSpPr>
        <p:spPr>
          <a:xfrm>
            <a:off x="838200" y="-426950"/>
            <a:ext cx="10515600" cy="1896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Innovation highlights, results and limitations</a:t>
            </a:r>
            <a:endParaRPr b="1" sz="4400">
              <a:solidFill>
                <a:srgbClr val="704EA6"/>
              </a:solidFill>
            </a:endParaRPr>
          </a:p>
        </p:txBody>
      </p:sp>
      <p:sp>
        <p:nvSpPr>
          <p:cNvPr id="213" name="Google Shape;213;h3ec38cbf6a3e40f2_0_24"/>
          <p:cNvSpPr txBox="1"/>
          <p:nvPr>
            <p:ph idx="1" type="body"/>
          </p:nvPr>
        </p:nvSpPr>
        <p:spPr>
          <a:xfrm>
            <a:off x="838200" y="837600"/>
            <a:ext cx="11191200" cy="5182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Evaluation comparison:</a:t>
            </a:r>
            <a:br>
              <a:rPr b="1"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a:t>
            </a:r>
            <a:r>
              <a:rPr lang="en-US" sz="2400">
                <a:solidFill>
                  <a:srgbClr val="188038"/>
                </a:solidFill>
                <a:latin typeface="Times New Roman"/>
                <a:ea typeface="Times New Roman"/>
                <a:cs typeface="Times New Roman"/>
                <a:sym typeface="Times New Roman"/>
              </a:rPr>
              <a:t>Dense Retrieval → BM25 → Hybrid RRF → Hybrid + Reranking + Evidence Filtering</a:t>
            </a:r>
            <a:endParaRPr sz="2400">
              <a:solidFill>
                <a:srgbClr val="188038"/>
              </a:solidFill>
              <a:latin typeface="Times New Roman"/>
              <a:ea typeface="Times New Roman"/>
              <a:cs typeface="Times New Roman"/>
              <a:sym typeface="Times New Roman"/>
            </a:endParaRPr>
          </a:p>
          <a:p>
            <a:pPr indent="0" lvl="0" marL="381000" marR="38100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No fabricated benchmark values are claimed; quantitative results can be added after running the benchmark on the final corpus.</a:t>
            </a:r>
            <a:endParaRPr sz="2400">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2400">
                <a:latin typeface="Times New Roman"/>
                <a:ea typeface="Times New Roman"/>
                <a:cs typeface="Times New Roman"/>
                <a:sym typeface="Times New Roman"/>
              </a:rPr>
              <a:t>⚠️ Limitations</a:t>
            </a:r>
            <a:endParaRPr b="1" sz="2400">
              <a:latin typeface="Times New Roman"/>
              <a:ea typeface="Times New Roman"/>
              <a:cs typeface="Times New Roman"/>
              <a:sym typeface="Times New Roman"/>
            </a:endParaRPr>
          </a:p>
          <a:p>
            <a:pPr indent="-381000" lvl="0" marL="457200" rtl="0" algn="l">
              <a:lnSpc>
                <a:spcPct val="115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Gemini API availability and response latency can affect live streaming.</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Char char="●"/>
            </a:pPr>
            <a:r>
              <a:rPr lang="en-US" sz="2400">
                <a:latin typeface="Times New Roman"/>
                <a:ea typeface="Times New Roman"/>
                <a:cs typeface="Times New Roman"/>
                <a:sym typeface="Times New Roman"/>
              </a:rPr>
              <a:t>Current session state uses </a:t>
            </a:r>
            <a:r>
              <a:rPr b="1" lang="en-US" sz="2400">
                <a:latin typeface="Times New Roman"/>
                <a:ea typeface="Times New Roman"/>
                <a:cs typeface="Times New Roman"/>
                <a:sym typeface="Times New Roman"/>
              </a:rPr>
              <a:t>in-memory storage</a:t>
            </a:r>
            <a:r>
              <a:rPr lang="en-US" sz="2400">
                <a:latin typeface="Times New Roman"/>
                <a:ea typeface="Times New Roman"/>
                <a:cs typeface="Times New Roman"/>
                <a:sym typeface="Times New Roman"/>
              </a:rPr>
              <a:t>, not a distributed production store.</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Complex tables, layouts, and poorly formatted documents may reduce retrieval quality.</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Claim-level verification can be further strengthened.</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Large-scale multi-user deployment requires persistent/distributed state management.</a:t>
            </a:r>
            <a:endParaRPr sz="2400">
              <a:latin typeface="Times New Roman"/>
              <a:ea typeface="Times New Roman"/>
              <a:cs typeface="Times New Roman"/>
              <a:sym typeface="Times New Roman"/>
            </a:endParaRPr>
          </a:p>
          <a:p>
            <a:pPr indent="-381000" lvl="0" marL="457200" rtl="0" algn="l">
              <a:lnSpc>
                <a:spcPct val="115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More diverse datasets and larger benchmarks are required for comprehensive evaluation.</a:t>
            </a:r>
            <a:endParaRPr sz="2400">
              <a:latin typeface="Times New Roman"/>
              <a:ea typeface="Times New Roman"/>
              <a:cs typeface="Times New Roman"/>
              <a:sym typeface="Times New Roman"/>
            </a:endParaRPr>
          </a:p>
          <a:p>
            <a:pPr indent="-50800" lvl="0" marL="228600" rtl="0" algn="l">
              <a:lnSpc>
                <a:spcPct val="100000"/>
              </a:lnSpc>
              <a:spcBef>
                <a:spcPts val="1200"/>
              </a:spcBef>
              <a:spcAft>
                <a:spcPts val="0"/>
              </a:spcAft>
              <a:buClr>
                <a:schemeClr val="dk1"/>
              </a:buClr>
              <a:buSzPts val="2800"/>
              <a:buNone/>
            </a:pPr>
            <a:r>
              <a:t/>
            </a:r>
            <a:endParaRPr sz="24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What’s next</a:t>
            </a:r>
            <a:endParaRPr b="1" sz="4400">
              <a:solidFill>
                <a:srgbClr val="704EA6"/>
              </a:solidFill>
            </a:endParaRPr>
          </a:p>
        </p:txBody>
      </p:sp>
      <p:sp>
        <p:nvSpPr>
          <p:cNvPr id="219" name="Google Shape;219;p9"/>
          <p:cNvSpPr txBox="1"/>
          <p:nvPr>
            <p:ph idx="1" type="body"/>
          </p:nvPr>
        </p:nvSpPr>
        <p:spPr>
          <a:xfrm>
            <a:off x="838200" y="1315050"/>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0"/>
              </a:spcBef>
              <a:spcAft>
                <a:spcPts val="0"/>
              </a:spcAft>
              <a:buClr>
                <a:schemeClr val="dk1"/>
              </a:buClr>
              <a:buSzPts val="1100"/>
              <a:buFont typeface="Arial"/>
              <a:buNone/>
            </a:pPr>
            <a:r>
              <a:rPr b="1" lang="en-US" sz="2400">
                <a:latin typeface="Times New Roman"/>
                <a:ea typeface="Times New Roman"/>
                <a:cs typeface="Times New Roman"/>
                <a:sym typeface="Times New Roman"/>
              </a:rPr>
              <a:t>🔮 Future Enhancements</a:t>
            </a:r>
            <a:endParaRPr b="1" sz="2400">
              <a:latin typeface="Times New Roman"/>
              <a:ea typeface="Times New Roman"/>
              <a:cs typeface="Times New Roman"/>
              <a:sym typeface="Times New Roman"/>
            </a:endParaRPr>
          </a:p>
          <a:p>
            <a:pPr indent="-381000" lvl="0" marL="457200" rtl="0" algn="l">
              <a:lnSpc>
                <a:spcPct val="100000"/>
              </a:lnSpc>
              <a:spcBef>
                <a:spcPts val="1200"/>
              </a:spcBef>
              <a:spcAft>
                <a:spcPts val="0"/>
              </a:spcAft>
              <a:buSzPts val="2400"/>
              <a:buChar char="●"/>
            </a:pPr>
            <a:r>
              <a:rPr b="1" lang="en-US" sz="2400">
                <a:latin typeface="Times New Roman"/>
                <a:ea typeface="Times New Roman"/>
                <a:cs typeface="Times New Roman"/>
                <a:sym typeface="Times New Roman"/>
              </a:rPr>
              <a:t>Persistent Distributed State</a:t>
            </a:r>
            <a:br>
              <a:rPr b="1"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Integrate Redis/database-backed session memory for reliable multi-user conversations.</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b="1" lang="en-US" sz="2400">
                <a:latin typeface="Times New Roman"/>
                <a:ea typeface="Times New Roman"/>
                <a:cs typeface="Times New Roman"/>
                <a:sym typeface="Times New Roman"/>
              </a:rPr>
              <a:t>Advanced Document Processing</a:t>
            </a:r>
            <a:br>
              <a:rPr b="1"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Improve extraction from PDFs, tables, scanned documents, and complex layouts.</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b="1" lang="en-US" sz="2400">
                <a:latin typeface="Times New Roman"/>
                <a:ea typeface="Times New Roman"/>
                <a:cs typeface="Times New Roman"/>
                <a:sym typeface="Times New Roman"/>
              </a:rPr>
              <a:t>Adaptive Retrieval</a:t>
            </a:r>
            <a:br>
              <a:rPr b="1"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Dynamically adjust retrieval depth based on query complexity and conversation state.</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b="1" lang="en-US" sz="2400">
                <a:latin typeface="Times New Roman"/>
                <a:ea typeface="Times New Roman"/>
                <a:cs typeface="Times New Roman"/>
                <a:sym typeface="Times New Roman"/>
              </a:rPr>
              <a:t>Advanced Reranking</a:t>
            </a:r>
            <a:br>
              <a:rPr b="1"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Add stronger cross-encoder/LLM-based reranking to improve evidence selection.</a:t>
            </a:r>
            <a:endParaRPr sz="24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h3ec38cbf6a3e40f2_0_3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What’s next</a:t>
            </a:r>
            <a:endParaRPr b="1" sz="4400">
              <a:solidFill>
                <a:srgbClr val="704EA6"/>
              </a:solidFill>
            </a:endParaRPr>
          </a:p>
        </p:txBody>
      </p:sp>
      <p:sp>
        <p:nvSpPr>
          <p:cNvPr id="225" name="Google Shape;225;h3ec38cbf6a3e40f2_0_31"/>
          <p:cNvSpPr txBox="1"/>
          <p:nvPr>
            <p:ph idx="1" type="body"/>
          </p:nvPr>
        </p:nvSpPr>
        <p:spPr>
          <a:xfrm>
            <a:off x="838200" y="704550"/>
            <a:ext cx="10515600" cy="450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t/>
            </a:r>
            <a:endParaRPr sz="2400">
              <a:latin typeface="Times New Roman"/>
              <a:ea typeface="Times New Roman"/>
              <a:cs typeface="Times New Roman"/>
              <a:sym typeface="Times New Roman"/>
            </a:endParaRPr>
          </a:p>
          <a:p>
            <a:pPr indent="-381000" lvl="0" marL="457200" rtl="0" algn="l">
              <a:lnSpc>
                <a:spcPct val="100000"/>
              </a:lnSpc>
              <a:spcBef>
                <a:spcPts val="1200"/>
              </a:spcBef>
              <a:spcAft>
                <a:spcPts val="0"/>
              </a:spcAft>
              <a:buSzPts val="2400"/>
              <a:buChar char="●"/>
            </a:pPr>
            <a:r>
              <a:rPr b="1" lang="en-US" sz="2400">
                <a:latin typeface="Times New Roman"/>
                <a:ea typeface="Times New Roman"/>
                <a:cs typeface="Times New Roman"/>
                <a:sym typeface="Times New Roman"/>
              </a:rPr>
              <a:t>Claim-Level Verification</a:t>
            </a:r>
            <a:br>
              <a:rPr b="1"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Verify individual answer claims against retrieved evidence before presenting them.</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b="1" lang="en-US" sz="2400">
                <a:latin typeface="Times New Roman"/>
                <a:ea typeface="Times New Roman"/>
                <a:cs typeface="Times New Roman"/>
                <a:sym typeface="Times New Roman"/>
              </a:rPr>
              <a:t>Scalable Live Streaming</a:t>
            </a:r>
            <a:br>
              <a:rPr b="1"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Optimize SSE/WebSocket streaming for concurrent users and low-latency responses.</a:t>
            </a:r>
            <a:endParaRPr sz="2400">
              <a:latin typeface="Times New Roman"/>
              <a:ea typeface="Times New Roman"/>
              <a:cs typeface="Times New Roman"/>
              <a:sym typeface="Times New Roman"/>
            </a:endParaRPr>
          </a:p>
          <a:p>
            <a:pPr indent="-381000" lvl="0" marL="457200" rtl="0" algn="l">
              <a:lnSpc>
                <a:spcPct val="100000"/>
              </a:lnSpc>
              <a:spcBef>
                <a:spcPts val="0"/>
              </a:spcBef>
              <a:spcAft>
                <a:spcPts val="0"/>
              </a:spcAft>
              <a:buSzPts val="2400"/>
              <a:buChar char="●"/>
            </a:pPr>
            <a:r>
              <a:rPr b="1" lang="en-US" sz="2400">
                <a:latin typeface="Times New Roman"/>
                <a:ea typeface="Times New Roman"/>
                <a:cs typeface="Times New Roman"/>
                <a:sym typeface="Times New Roman"/>
              </a:rPr>
              <a:t>Continuous Evaluation</a:t>
            </a:r>
            <a:br>
              <a:rPr b="1"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Expand the benchmark dataset and continuously measure retrieval, grounding, refinement, and latency metrics.</a:t>
            </a:r>
            <a:endParaRPr sz="2400">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US" sz="2400">
                <a:latin typeface="Times New Roman"/>
                <a:ea typeface="Times New Roman"/>
                <a:cs typeface="Times New Roman"/>
                <a:sym typeface="Times New Roman"/>
              </a:rPr>
              <a:t>🎯 Long-Term Vision</a:t>
            </a:r>
            <a:endParaRPr b="1" sz="24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US" sz="2400">
                <a:latin typeface="Times New Roman"/>
                <a:ea typeface="Times New Roman"/>
                <a:cs typeface="Times New Roman"/>
                <a:sym typeface="Times New Roman"/>
              </a:rPr>
              <a:t>Understand → Retrieve → Stream → Remember → Refine</a:t>
            </a:r>
            <a:endParaRPr b="1" sz="24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US" sz="2400">
                <a:latin typeface="Times New Roman"/>
                <a:ea typeface="Times New Roman"/>
                <a:cs typeface="Times New Roman"/>
                <a:sym typeface="Times New Roman"/>
              </a:rPr>
              <a:t>Transform RAG from a </a:t>
            </a:r>
            <a:r>
              <a:rPr b="1" lang="en-US" sz="2400">
                <a:latin typeface="Times New Roman"/>
                <a:ea typeface="Times New Roman"/>
                <a:cs typeface="Times New Roman"/>
                <a:sym typeface="Times New Roman"/>
              </a:rPr>
              <a:t>one-shot question-answering system</a:t>
            </a:r>
            <a:r>
              <a:rPr lang="en-US" sz="2400">
                <a:latin typeface="Times New Roman"/>
                <a:ea typeface="Times New Roman"/>
                <a:cs typeface="Times New Roman"/>
                <a:sym typeface="Times New Roman"/>
              </a:rPr>
              <a:t> into a </a:t>
            </a:r>
            <a:r>
              <a:rPr b="1" lang="en-US" sz="2400">
                <a:latin typeface="Times New Roman"/>
                <a:ea typeface="Times New Roman"/>
                <a:cs typeface="Times New Roman"/>
                <a:sym typeface="Times New Roman"/>
              </a:rPr>
              <a:t>continuous, state-aware knowledge assistant</a:t>
            </a:r>
            <a:r>
              <a:rPr lang="en-US" sz="2400">
                <a:latin typeface="Times New Roman"/>
                <a:ea typeface="Times New Roman"/>
                <a:cs typeface="Times New Roman"/>
                <a:sym typeface="Times New Roman"/>
              </a:rPr>
              <a:t> that improves its answers as the conversation evolves.</a:t>
            </a:r>
            <a:endParaRPr sz="2400">
              <a:latin typeface="Times New Roman"/>
              <a:ea typeface="Times New Roman"/>
              <a:cs typeface="Times New Roman"/>
              <a:sym typeface="Times New Roman"/>
            </a:endParaRPr>
          </a:p>
          <a:p>
            <a:pPr indent="0" lvl="0" marL="457200" rtl="0" algn="l">
              <a:lnSpc>
                <a:spcPct val="100000"/>
              </a:lnSpc>
              <a:spcBef>
                <a:spcPts val="1200"/>
              </a:spcBef>
              <a:spcAft>
                <a:spcPts val="1200"/>
              </a:spcAft>
              <a:buNone/>
            </a:pPr>
            <a:r>
              <a:t/>
            </a:r>
            <a:endParaRPr b="1" sz="24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Brownie points slide( differentiation)</a:t>
            </a:r>
            <a:endParaRPr b="1" sz="4400">
              <a:solidFill>
                <a:srgbClr val="704EA6"/>
              </a:solidFill>
            </a:endParaRPr>
          </a:p>
        </p:txBody>
      </p:sp>
      <p:sp>
        <p:nvSpPr>
          <p:cNvPr id="231" name="Google Shape;23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graphicFrame>
        <p:nvGraphicFramePr>
          <p:cNvPr id="232" name="Google Shape;232;p10"/>
          <p:cNvGraphicFramePr/>
          <p:nvPr/>
        </p:nvGraphicFramePr>
        <p:xfrm>
          <a:off x="952500" y="2286000"/>
          <a:ext cx="3000000" cy="3000000"/>
        </p:xfrm>
        <a:graphic>
          <a:graphicData uri="http://schemas.openxmlformats.org/drawingml/2006/table">
            <a:tbl>
              <a:tblPr>
                <a:noFill/>
                <a:tableStyleId>{686A7297-AFFE-4123-929A-EA93B868DDA5}</a:tableStyleId>
              </a:tblPr>
              <a:tblGrid>
                <a:gridCol w="5143500"/>
                <a:gridCol w="5143500"/>
              </a:tblGrid>
              <a:tr h="381000">
                <a:tc>
                  <a:txBody>
                    <a:bodyPr/>
                    <a:lstStyle/>
                    <a:p>
                      <a:pPr indent="0" lvl="0" marL="0" rtl="0" algn="ctr">
                        <a:lnSpc>
                          <a:spcPct val="115000"/>
                        </a:lnSpc>
                        <a:spcBef>
                          <a:spcPts val="0"/>
                        </a:spcBef>
                        <a:spcAft>
                          <a:spcPts val="0"/>
                        </a:spcAft>
                        <a:buNone/>
                      </a:pPr>
                      <a:r>
                        <a:rPr b="1" lang="en-US" sz="1500">
                          <a:latin typeface="Times New Roman"/>
                          <a:ea typeface="Times New Roman"/>
                          <a:cs typeface="Times New Roman"/>
                          <a:sym typeface="Times New Roman"/>
                        </a:rPr>
                        <a:t>Traditional RAG</a:t>
                      </a:r>
                      <a:endParaRPr b="1" sz="15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US">
                          <a:latin typeface="Times New Roman"/>
                          <a:ea typeface="Times New Roman"/>
                          <a:cs typeface="Times New Roman"/>
                          <a:sym typeface="Times New Roman"/>
                        </a:rPr>
                        <a:t>Streaming Live RAG – Our Approach </a:t>
                      </a:r>
                      <a:endParaRPr b="1">
                        <a:latin typeface="Times New Roman"/>
                        <a:ea typeface="Times New Roman"/>
                        <a:cs typeface="Times New Roman"/>
                        <a:sym typeface="Times New Roman"/>
                      </a:endParaRPr>
                    </a:p>
                  </a:txBody>
                  <a:tcPr marT="91425" marB="91425" marR="91425" marL="91425"/>
                </a:tc>
              </a:tr>
              <a:tr h="381000">
                <a:tc>
                  <a:txBody>
                    <a:bodyPr/>
                    <a:lstStyle/>
                    <a:p>
                      <a:pPr indent="0" lvl="0" marL="0" rtl="0" algn="l">
                        <a:spcBef>
                          <a:spcPts val="0"/>
                        </a:spcBef>
                        <a:spcAft>
                          <a:spcPts val="0"/>
                        </a:spcAft>
                        <a:buNone/>
                      </a:pPr>
                      <a:r>
                        <a:rPr lang="en-US">
                          <a:solidFill>
                            <a:schemeClr val="dk1"/>
                          </a:solidFill>
                        </a:rPr>
                        <a:t>One-shot Retrieve → Generate </a:t>
                      </a:r>
                      <a:endParaRPr/>
                    </a:p>
                  </a:txBody>
                  <a:tcPr marT="91425" marB="91425" marR="91425" marL="91425"/>
                </a:tc>
                <a:tc>
                  <a:txBody>
                    <a:bodyPr/>
                    <a:lstStyle/>
                    <a:p>
                      <a:pPr indent="0" lvl="0" marL="0" rtl="0" algn="l">
                        <a:spcBef>
                          <a:spcPts val="0"/>
                        </a:spcBef>
                        <a:spcAft>
                          <a:spcPts val="0"/>
                        </a:spcAft>
                        <a:buNone/>
                      </a:pPr>
                      <a:r>
                        <a:rPr lang="en-US"/>
                        <a:t>Understand → Retrieve → Stream → Remember → Refine </a:t>
                      </a:r>
                      <a:endParaRPr/>
                    </a:p>
                  </a:txBody>
                  <a:tcPr marT="91425" marB="91425" marR="91425" marL="91425"/>
                </a:tc>
              </a:tr>
              <a:tr h="381000">
                <a:tc>
                  <a:txBody>
                    <a:bodyPr/>
                    <a:lstStyle/>
                    <a:p>
                      <a:pPr indent="0" lvl="0" marL="0" rtl="0" algn="l">
                        <a:spcBef>
                          <a:spcPts val="0"/>
                        </a:spcBef>
                        <a:spcAft>
                          <a:spcPts val="0"/>
                        </a:spcAft>
                        <a:buNone/>
                      </a:pPr>
                      <a:r>
                        <a:rPr lang="en-US"/>
                        <a:t>Conversation context may be lost </a:t>
                      </a:r>
                      <a:endParaRPr/>
                    </a:p>
                  </a:txBody>
                  <a:tcPr marT="91425" marB="91425" marR="91425" marL="91425"/>
                </a:tc>
                <a:tc>
                  <a:txBody>
                    <a:bodyPr/>
                    <a:lstStyle/>
                    <a:p>
                      <a:pPr indent="0" lvl="0" marL="0" rtl="0" algn="l">
                        <a:spcBef>
                          <a:spcPts val="0"/>
                        </a:spcBef>
                        <a:spcAft>
                          <a:spcPts val="0"/>
                        </a:spcAft>
                        <a:buNone/>
                      </a:pPr>
                      <a:r>
                        <a:rPr lang="en-US"/>
                        <a:t>State is preserved across turns </a:t>
                      </a:r>
                      <a:endParaRPr/>
                    </a:p>
                  </a:txBody>
                  <a:tcPr marT="91425" marB="91425" marR="91425" marL="91425"/>
                </a:tc>
              </a:tr>
              <a:tr h="381000">
                <a:tc>
                  <a:txBody>
                    <a:bodyPr/>
                    <a:lstStyle/>
                    <a:p>
                      <a:pPr indent="0" lvl="0" marL="0" rtl="0" algn="l">
                        <a:spcBef>
                          <a:spcPts val="0"/>
                        </a:spcBef>
                        <a:spcAft>
                          <a:spcPts val="0"/>
                        </a:spcAft>
                        <a:buNone/>
                      </a:pPr>
                      <a:r>
                        <a:rPr lang="en-US"/>
                        <a:t>New constraint can trigger a complete restart </a:t>
                      </a:r>
                      <a:endParaRPr/>
                    </a:p>
                  </a:txBody>
                  <a:tcPr marT="91425" marB="91425" marR="91425" marL="91425"/>
                </a:tc>
                <a:tc>
                  <a:txBody>
                    <a:bodyPr/>
                    <a:lstStyle/>
                    <a:p>
                      <a:pPr indent="0" lvl="0" marL="0" rtl="0" algn="l">
                        <a:spcBef>
                          <a:spcPts val="0"/>
                        </a:spcBef>
                        <a:spcAft>
                          <a:spcPts val="0"/>
                        </a:spcAft>
                        <a:buNone/>
                      </a:pPr>
                      <a:r>
                        <a:rPr lang="en-US"/>
                        <a:t>Late constraints refine the existing answer </a:t>
                      </a:r>
                      <a:endParaRPr/>
                    </a:p>
                  </a:txBody>
                  <a:tcPr marT="91425" marB="91425" marR="91425" marL="91425"/>
                </a:tc>
              </a:tr>
              <a:tr h="381000">
                <a:tc>
                  <a:txBody>
                    <a:bodyPr/>
                    <a:lstStyle/>
                    <a:p>
                      <a:pPr indent="0" lvl="0" marL="0" rtl="0" algn="l">
                        <a:spcBef>
                          <a:spcPts val="0"/>
                        </a:spcBef>
                        <a:spcAft>
                          <a:spcPts val="0"/>
                        </a:spcAft>
                        <a:buNone/>
                      </a:pPr>
                      <a:r>
                        <a:rPr lang="en-US"/>
                        <a:t>Single-intent processing </a:t>
                      </a:r>
                      <a:endParaRPr/>
                    </a:p>
                  </a:txBody>
                  <a:tcPr marT="91425" marB="91425" marR="91425" marL="91425"/>
                </a:tc>
                <a:tc>
                  <a:txBody>
                    <a:bodyPr/>
                    <a:lstStyle/>
                    <a:p>
                      <a:pPr indent="0" lvl="0" marL="0" rtl="0" algn="l">
                        <a:spcBef>
                          <a:spcPts val="0"/>
                        </a:spcBef>
                        <a:spcAft>
                          <a:spcPts val="0"/>
                        </a:spcAft>
                        <a:buNone/>
                      </a:pPr>
                      <a:r>
                        <a:rPr lang="en-US"/>
                        <a:t>Multi-intent decomposition </a:t>
                      </a:r>
                      <a:endParaRPr/>
                    </a:p>
                  </a:txBody>
                  <a:tcPr marT="91425" marB="91425" marR="91425" marL="91425"/>
                </a:tc>
              </a:tr>
              <a:tr h="381000">
                <a:tc>
                  <a:txBody>
                    <a:bodyPr/>
                    <a:lstStyle/>
                    <a:p>
                      <a:pPr indent="0" lvl="0" marL="0" rtl="0" algn="l">
                        <a:spcBef>
                          <a:spcPts val="0"/>
                        </a:spcBef>
                        <a:spcAft>
                          <a:spcPts val="0"/>
                        </a:spcAft>
                        <a:buNone/>
                      </a:pPr>
                      <a:r>
                        <a:rPr lang="en-US"/>
                        <a:t>Usually one retrieval strategy </a:t>
                      </a:r>
                      <a:endParaRPr/>
                    </a:p>
                  </a:txBody>
                  <a:tcPr marT="91425" marB="91425" marR="91425" marL="91425"/>
                </a:tc>
                <a:tc>
                  <a:txBody>
                    <a:bodyPr/>
                    <a:lstStyle/>
                    <a:p>
                      <a:pPr indent="0" lvl="0" marL="0" rtl="0" algn="l">
                        <a:spcBef>
                          <a:spcPts val="0"/>
                        </a:spcBef>
                        <a:spcAft>
                          <a:spcPts val="0"/>
                        </a:spcAft>
                        <a:buNone/>
                      </a:pPr>
                      <a:r>
                        <a:rPr lang="en-US"/>
                        <a:t>FAISS + BM25 + RRF hybrid retrieval </a:t>
                      </a:r>
                      <a:endParaRPr/>
                    </a:p>
                  </a:txBody>
                  <a:tcPr marT="91425" marB="91425" marR="91425" marL="91425"/>
                </a:tc>
              </a:tr>
              <a:tr h="381000">
                <a:tc>
                  <a:txBody>
                    <a:bodyPr/>
                    <a:lstStyle/>
                    <a:p>
                      <a:pPr indent="0" lvl="0" marL="0" rtl="0" algn="l">
                        <a:spcBef>
                          <a:spcPts val="0"/>
                        </a:spcBef>
                        <a:spcAft>
                          <a:spcPts val="0"/>
                        </a:spcAft>
                        <a:buNone/>
                      </a:pPr>
                      <a:r>
                        <a:rPr lang="en-US"/>
                        <a:t>Retrieved chunks directly passed to generation </a:t>
                      </a:r>
                      <a:endParaRPr/>
                    </a:p>
                  </a:txBody>
                  <a:tcPr marT="91425" marB="91425" marR="91425" marL="91425"/>
                </a:tc>
                <a:tc>
                  <a:txBody>
                    <a:bodyPr/>
                    <a:lstStyle/>
                    <a:p>
                      <a:pPr indent="0" lvl="0" marL="0" rtl="0" algn="l">
                        <a:spcBef>
                          <a:spcPts val="0"/>
                        </a:spcBef>
                        <a:spcAft>
                          <a:spcPts val="0"/>
                        </a:spcAft>
                        <a:buNone/>
                      </a:pPr>
                      <a:r>
                        <a:rPr lang="en-US"/>
                        <a:t>Reranking + evidence filtering before generation </a:t>
                      </a:r>
                      <a:endParaRPr/>
                    </a:p>
                  </a:txBody>
                  <a:tcPr marT="91425" marB="91425" marR="91425" marL="91425"/>
                </a:tc>
              </a:tr>
              <a:tr h="381000">
                <a:tc>
                  <a:txBody>
                    <a:bodyPr/>
                    <a:lstStyle/>
                    <a:p>
                      <a:pPr indent="0" lvl="0" marL="0" rtl="0" algn="l">
                        <a:spcBef>
                          <a:spcPts val="0"/>
                        </a:spcBef>
                        <a:spcAft>
                          <a:spcPts val="0"/>
                        </a:spcAft>
                        <a:buNone/>
                      </a:pPr>
                      <a:r>
                        <a:rPr lang="en-US"/>
                        <a:t>Final answer appears after generation </a:t>
                      </a:r>
                      <a:endParaRPr/>
                    </a:p>
                  </a:txBody>
                  <a:tcPr marT="91425" marB="91425" marR="91425" marL="91425"/>
                </a:tc>
                <a:tc>
                  <a:txBody>
                    <a:bodyPr/>
                    <a:lstStyle/>
                    <a:p>
                      <a:pPr indent="0" lvl="0" marL="0" rtl="0" algn="l">
                        <a:spcBef>
                          <a:spcPts val="0"/>
                        </a:spcBef>
                        <a:spcAft>
                          <a:spcPts val="0"/>
                        </a:spcAft>
                        <a:buNone/>
                      </a:pPr>
                      <a:r>
                        <a:rPr lang="en-US"/>
                        <a:t>Progressive live response using SSE</a:t>
                      </a:r>
                      <a:endParaRPr/>
                    </a:p>
                  </a:txBody>
                  <a:tcPr marT="91425" marB="91425" marR="91425" marL="91425"/>
                </a:tc>
              </a:tr>
              <a:tr h="381000">
                <a:tc>
                  <a:txBody>
                    <a:bodyPr/>
                    <a:lstStyle/>
                    <a:p>
                      <a:pPr indent="0" lvl="0" marL="0" rtl="0" algn="l">
                        <a:spcBef>
                          <a:spcPts val="0"/>
                        </a:spcBef>
                        <a:spcAft>
                          <a:spcPts val="0"/>
                        </a:spcAft>
                        <a:buNone/>
                      </a:pPr>
                      <a:r>
                        <a:rPr lang="en-US"/>
                        <a:t>No explicit answer evolution </a:t>
                      </a:r>
                      <a:endParaRPr/>
                    </a:p>
                  </a:txBody>
                  <a:tcPr marT="91425" marB="91425" marR="91425" marL="91425"/>
                </a:tc>
                <a:tc>
                  <a:txBody>
                    <a:bodyPr/>
                    <a:lstStyle/>
                    <a:p>
                      <a:pPr indent="0" lvl="0" marL="0" rtl="0" algn="l">
                        <a:spcBef>
                          <a:spcPts val="0"/>
                        </a:spcBef>
                        <a:spcAft>
                          <a:spcPts val="0"/>
                        </a:spcAft>
                        <a:buNone/>
                      </a:pPr>
                      <a:r>
                        <a:rPr lang="en-US"/>
                        <a:t>Answer versioning: v1 → v2 → v3 </a:t>
                      </a:r>
                      <a:endParaRPr/>
                    </a:p>
                  </a:txBody>
                  <a:tcPr marT="91425" marB="91425" marR="91425" marL="91425"/>
                </a:tc>
              </a:tr>
              <a:tr h="381000">
                <a:tc>
                  <a:txBody>
                    <a:bodyPr/>
                    <a:lstStyle/>
                    <a:p>
                      <a:pPr indent="0" lvl="0" marL="0" rtl="0" algn="l">
                        <a:spcBef>
                          <a:spcPts val="0"/>
                        </a:spcBef>
                        <a:spcAft>
                          <a:spcPts val="0"/>
                        </a:spcAft>
                        <a:buNone/>
                      </a:pPr>
                      <a:r>
                        <a:rPr lang="en-US"/>
                        <a:t>Limited visibility into evidence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Evidence-aware and grounded responses</a:t>
                      </a:r>
                      <a:endParaRPr>
                        <a:solidFill>
                          <a:schemeClr val="dk1"/>
                        </a:solidFill>
                      </a:endParaRPr>
                    </a:p>
                    <a:p>
                      <a:pPr indent="0" lvl="0" marL="0" rtl="0" algn="l">
                        <a:spcBef>
                          <a:spcPts val="0"/>
                        </a:spcBef>
                        <a:spcAft>
                          <a:spcPts val="0"/>
                        </a:spcAft>
                        <a:buNone/>
                      </a:pPr>
                      <a:r>
                        <a:t/>
                      </a:r>
                      <a:endParaRPr/>
                    </a:p>
                  </a:txBody>
                  <a:tcPr marT="91425" marB="91425" marR="91425" marL="91425"/>
                </a:tc>
              </a:tr>
            </a:tbl>
          </a:graphicData>
        </a:graphic>
      </p:graphicFrame>
      <p:graphicFrame>
        <p:nvGraphicFramePr>
          <p:cNvPr id="233" name="Google Shape;233;p10"/>
          <p:cNvGraphicFramePr/>
          <p:nvPr/>
        </p:nvGraphicFramePr>
        <p:xfrm>
          <a:off x="152400" y="152400"/>
          <a:ext cx="3000000" cy="3000000"/>
        </p:xfrm>
        <a:graphic>
          <a:graphicData uri="http://schemas.openxmlformats.org/drawingml/2006/table">
            <a:tbl>
              <a:tblPr>
                <a:noFill/>
                <a:tableStyleId>{E346F8DB-2967-4E04-9A6A-E7796BA0A4F5}</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234" name="Google Shape;234;p10"/>
          <p:cNvGraphicFramePr/>
          <p:nvPr/>
        </p:nvGraphicFramePr>
        <p:xfrm>
          <a:off x="304800" y="304800"/>
          <a:ext cx="3000000" cy="3000000"/>
        </p:xfrm>
        <a:graphic>
          <a:graphicData uri="http://schemas.openxmlformats.org/drawingml/2006/table">
            <a:tbl>
              <a:tblPr>
                <a:noFill/>
                <a:tableStyleId>{E346F8DB-2967-4E04-9A6A-E7796BA0A4F5}</a:tableStyleId>
              </a:tblPr>
              <a:tblGrid>
                <a:gridCol w="2333625"/>
              </a:tblGrid>
              <a:tr h="200025">
                <a:tc>
                  <a:txBody>
                    <a:bodyPr/>
                    <a:lstStyle/>
                    <a:p>
                      <a:pPr indent="0" lvl="0" marL="0" rtl="0" algn="l">
                        <a:spcBef>
                          <a:spcPts val="0"/>
                        </a:spcBef>
                        <a:spcAft>
                          <a:spcPts val="0"/>
                        </a:spcAft>
                        <a:buNone/>
                      </a:pPr>
                      <a:r>
                        <a:t/>
                      </a:r>
                      <a:endParaRPr b="1" sz="1100"/>
                    </a:p>
                  </a:txBody>
                  <a:tcPr marT="91425" marB="91425" marR="91425" marL="91425"/>
                </a:tc>
              </a:tr>
            </a:tbl>
          </a:graphicData>
        </a:graphic>
      </p:graphicFrame>
      <p:graphicFrame>
        <p:nvGraphicFramePr>
          <p:cNvPr id="235" name="Google Shape;235;p10"/>
          <p:cNvGraphicFramePr/>
          <p:nvPr/>
        </p:nvGraphicFramePr>
        <p:xfrm>
          <a:off x="152400" y="152400"/>
          <a:ext cx="3000000" cy="3000000"/>
        </p:xfrm>
        <a:graphic>
          <a:graphicData uri="http://schemas.openxmlformats.org/drawingml/2006/table">
            <a:tbl>
              <a:tblPr>
                <a:noFill/>
                <a:tableStyleId>{E346F8DB-2967-4E04-9A6A-E7796BA0A4F5}</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236" name="Google Shape;236;p10"/>
          <p:cNvGraphicFramePr/>
          <p:nvPr/>
        </p:nvGraphicFramePr>
        <p:xfrm>
          <a:off x="304800" y="304800"/>
          <a:ext cx="3000000" cy="3000000"/>
        </p:xfrm>
        <a:graphic>
          <a:graphicData uri="http://schemas.openxmlformats.org/drawingml/2006/table">
            <a:tbl>
              <a:tblPr>
                <a:noFill/>
                <a:tableStyleId>{E346F8DB-2967-4E04-9A6A-E7796BA0A4F5}</a:tableStyleId>
              </a:tblPr>
              <a:tblGrid>
                <a:gridCol w="2667000"/>
              </a:tblGrid>
              <a:tr h="200025">
                <a:tc>
                  <a:txBody>
                    <a:bodyPr/>
                    <a:lstStyle/>
                    <a:p>
                      <a:pPr indent="0" lvl="0" marL="0" rtl="0" algn="l">
                        <a:spcBef>
                          <a:spcPts val="0"/>
                        </a:spcBef>
                        <a:spcAft>
                          <a:spcPts val="0"/>
                        </a:spcAft>
                        <a:buNone/>
                      </a:pPr>
                      <a:r>
                        <a:t/>
                      </a:r>
                      <a:endParaRPr b="1" sz="1100"/>
                    </a:p>
                  </a:txBody>
                  <a:tcPr marT="91425" marB="91425" marR="91425" marL="91425"/>
                </a:tc>
              </a:tr>
            </a:tbl>
          </a:graphicData>
        </a:graphic>
      </p:graphicFrame>
      <p:sp>
        <p:nvSpPr>
          <p:cNvPr id="237" name="Google Shape;237;p10"/>
          <p:cNvSpPr txBox="1"/>
          <p:nvPr/>
        </p:nvSpPr>
        <p:spPr>
          <a:xfrm>
            <a:off x="838200" y="1483013"/>
            <a:ext cx="63672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How Our Solution Stands Out </a:t>
            </a:r>
            <a:endParaRPr sz="2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rPr>
              <a:t>Screenshot </a:t>
            </a:r>
            <a:endParaRPr/>
          </a:p>
        </p:txBody>
      </p:sp>
      <p:sp>
        <p:nvSpPr>
          <p:cNvPr id="243" name="Google Shape;243;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500"/>
              </a:spcBef>
              <a:spcAft>
                <a:spcPts val="0"/>
              </a:spcAft>
              <a:buClr>
                <a:schemeClr val="dk1"/>
              </a:buClr>
              <a:buSzPts val="2800"/>
              <a:buNone/>
            </a:pPr>
            <a:r>
              <a:t/>
            </a:r>
            <a:endParaRPr/>
          </a:p>
        </p:txBody>
      </p:sp>
      <p:pic>
        <p:nvPicPr>
          <p:cNvPr id="244" name="Google Shape;244;p11" title="sam1.PNG"/>
          <p:cNvPicPr preferRelativeResize="0"/>
          <p:nvPr/>
        </p:nvPicPr>
        <p:blipFill>
          <a:blip r:embed="rId3">
            <a:alphaModFix/>
          </a:blip>
          <a:stretch>
            <a:fillRect/>
          </a:stretch>
        </p:blipFill>
        <p:spPr>
          <a:xfrm>
            <a:off x="646800" y="1296676"/>
            <a:ext cx="10707002" cy="50713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h3ec38cbf6a3e40f2_0_11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rPr>
              <a:t>Screenshot </a:t>
            </a:r>
            <a:endParaRPr/>
          </a:p>
        </p:txBody>
      </p:sp>
      <p:sp>
        <p:nvSpPr>
          <p:cNvPr id="250" name="Google Shape;250;h3ec38cbf6a3e40f2_0_11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500"/>
              </a:spcBef>
              <a:spcAft>
                <a:spcPts val="0"/>
              </a:spcAft>
              <a:buClr>
                <a:schemeClr val="dk1"/>
              </a:buClr>
              <a:buSzPts val="2800"/>
              <a:buNone/>
            </a:pPr>
            <a:r>
              <a:t/>
            </a:r>
            <a:endParaRPr/>
          </a:p>
        </p:txBody>
      </p:sp>
      <p:pic>
        <p:nvPicPr>
          <p:cNvPr id="251" name="Google Shape;251;h3ec38cbf6a3e40f2_0_117" title="sam2.PNG"/>
          <p:cNvPicPr preferRelativeResize="0"/>
          <p:nvPr/>
        </p:nvPicPr>
        <p:blipFill rotWithShape="1">
          <a:blip r:embed="rId3">
            <a:alphaModFix/>
          </a:blip>
          <a:srcRect b="0" l="622" r="612" t="0"/>
          <a:stretch/>
        </p:blipFill>
        <p:spPr>
          <a:xfrm>
            <a:off x="646800" y="1296676"/>
            <a:ext cx="10707002" cy="50713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h3ec38cbf6a3e40f2_0_12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rPr>
              <a:t>Screenshot </a:t>
            </a:r>
            <a:endParaRPr/>
          </a:p>
        </p:txBody>
      </p:sp>
      <p:sp>
        <p:nvSpPr>
          <p:cNvPr id="257" name="Google Shape;257;h3ec38cbf6a3e40f2_0_12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500"/>
              </a:spcBef>
              <a:spcAft>
                <a:spcPts val="0"/>
              </a:spcAft>
              <a:buClr>
                <a:schemeClr val="dk1"/>
              </a:buClr>
              <a:buSzPts val="2800"/>
              <a:buNone/>
            </a:pPr>
            <a:r>
              <a:t/>
            </a:r>
            <a:endParaRPr/>
          </a:p>
        </p:txBody>
      </p:sp>
      <p:pic>
        <p:nvPicPr>
          <p:cNvPr id="258" name="Google Shape;258;h3ec38cbf6a3e40f2_0_123" title="sam3.PNG"/>
          <p:cNvPicPr preferRelativeResize="0"/>
          <p:nvPr/>
        </p:nvPicPr>
        <p:blipFill rotWithShape="1">
          <a:blip r:embed="rId3">
            <a:alphaModFix/>
          </a:blip>
          <a:srcRect b="0" l="308" r="308" t="0"/>
          <a:stretch/>
        </p:blipFill>
        <p:spPr>
          <a:xfrm>
            <a:off x="646800" y="1296676"/>
            <a:ext cx="10707002" cy="50713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h3ec38cbf6a3e40f2_0_12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rPr>
              <a:t>Screenshot </a:t>
            </a:r>
            <a:endParaRPr/>
          </a:p>
        </p:txBody>
      </p:sp>
      <p:sp>
        <p:nvSpPr>
          <p:cNvPr id="264" name="Google Shape;264;h3ec38cbf6a3e40f2_0_12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500"/>
              </a:spcBef>
              <a:spcAft>
                <a:spcPts val="0"/>
              </a:spcAft>
              <a:buClr>
                <a:schemeClr val="dk1"/>
              </a:buClr>
              <a:buSzPts val="2800"/>
              <a:buNone/>
            </a:pPr>
            <a:r>
              <a:t/>
            </a:r>
            <a:endParaRPr/>
          </a:p>
        </p:txBody>
      </p:sp>
      <p:pic>
        <p:nvPicPr>
          <p:cNvPr id="265" name="Google Shape;265;h3ec38cbf6a3e40f2_0_129" title="sam4.PNG"/>
          <p:cNvPicPr preferRelativeResize="0"/>
          <p:nvPr/>
        </p:nvPicPr>
        <p:blipFill rotWithShape="1">
          <a:blip r:embed="rId3">
            <a:alphaModFix/>
          </a:blip>
          <a:srcRect b="0" l="318" r="318" t="0"/>
          <a:stretch/>
        </p:blipFill>
        <p:spPr>
          <a:xfrm>
            <a:off x="646800" y="1296676"/>
            <a:ext cx="10707002" cy="50713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h3ec38cbf6a3e40f2_0_13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rPr>
              <a:t>Screenshot </a:t>
            </a:r>
            <a:endParaRPr/>
          </a:p>
        </p:txBody>
      </p:sp>
      <p:sp>
        <p:nvSpPr>
          <p:cNvPr id="271" name="Google Shape;271;h3ec38cbf6a3e40f2_0_13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500"/>
              </a:spcBef>
              <a:spcAft>
                <a:spcPts val="0"/>
              </a:spcAft>
              <a:buClr>
                <a:schemeClr val="dk1"/>
              </a:buClr>
              <a:buSzPts val="2800"/>
              <a:buNone/>
            </a:pPr>
            <a:r>
              <a:t/>
            </a:r>
            <a:endParaRPr/>
          </a:p>
        </p:txBody>
      </p:sp>
      <p:pic>
        <p:nvPicPr>
          <p:cNvPr id="272" name="Google Shape;272;h3ec38cbf6a3e40f2_0_135" title="sam5.PNG"/>
          <p:cNvPicPr preferRelativeResize="0"/>
          <p:nvPr/>
        </p:nvPicPr>
        <p:blipFill rotWithShape="1">
          <a:blip r:embed="rId3">
            <a:alphaModFix/>
          </a:blip>
          <a:srcRect b="0" l="308" r="308" t="0"/>
          <a:stretch/>
        </p:blipFill>
        <p:spPr>
          <a:xfrm>
            <a:off x="646800" y="1296676"/>
            <a:ext cx="10707002" cy="50713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h3ec38cbf6a3e40f2_0_14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rPr>
              <a:t>Screenshot </a:t>
            </a:r>
            <a:endParaRPr/>
          </a:p>
        </p:txBody>
      </p:sp>
      <p:sp>
        <p:nvSpPr>
          <p:cNvPr id="278" name="Google Shape;278;h3ec38cbf6a3e40f2_0_14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500"/>
              </a:spcBef>
              <a:spcAft>
                <a:spcPts val="0"/>
              </a:spcAft>
              <a:buClr>
                <a:schemeClr val="dk1"/>
              </a:buClr>
              <a:buSzPts val="2800"/>
              <a:buNone/>
            </a:pPr>
            <a:r>
              <a:t/>
            </a:r>
            <a:endParaRPr/>
          </a:p>
        </p:txBody>
      </p:sp>
      <p:pic>
        <p:nvPicPr>
          <p:cNvPr id="279" name="Google Shape;279;h3ec38cbf6a3e40f2_0_141" title="sam6.PNG"/>
          <p:cNvPicPr preferRelativeResize="0"/>
          <p:nvPr/>
        </p:nvPicPr>
        <p:blipFill rotWithShape="1">
          <a:blip r:embed="rId3">
            <a:alphaModFix/>
          </a:blip>
          <a:srcRect b="0" l="80" r="70" t="0"/>
          <a:stretch/>
        </p:blipFill>
        <p:spPr>
          <a:xfrm>
            <a:off x="646800" y="1296676"/>
            <a:ext cx="10707002" cy="507132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h3ec38cbf6a3e40f2_0_14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rPr>
              <a:t>Screenshot </a:t>
            </a:r>
            <a:endParaRPr/>
          </a:p>
        </p:txBody>
      </p:sp>
      <p:sp>
        <p:nvSpPr>
          <p:cNvPr id="285" name="Google Shape;285;h3ec38cbf6a3e40f2_0_14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500"/>
              </a:spcBef>
              <a:spcAft>
                <a:spcPts val="0"/>
              </a:spcAft>
              <a:buClr>
                <a:schemeClr val="dk1"/>
              </a:buClr>
              <a:buSzPts val="2800"/>
              <a:buNone/>
            </a:pPr>
            <a:r>
              <a:t/>
            </a:r>
            <a:endParaRPr/>
          </a:p>
        </p:txBody>
      </p:sp>
      <p:pic>
        <p:nvPicPr>
          <p:cNvPr id="286" name="Google Shape;286;h3ec38cbf6a3e40f2_0_147" title="sam7.PNG"/>
          <p:cNvPicPr preferRelativeResize="0"/>
          <p:nvPr/>
        </p:nvPicPr>
        <p:blipFill rotWithShape="1">
          <a:blip r:embed="rId3">
            <a:alphaModFix/>
          </a:blip>
          <a:srcRect b="0" l="308" r="308" t="0"/>
          <a:stretch/>
        </p:blipFill>
        <p:spPr>
          <a:xfrm>
            <a:off x="646800" y="1296676"/>
            <a:ext cx="10707002" cy="50713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h3ec38cbf6a3e40f2_0_7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Checklist- Updated on Public GitHub</a:t>
            </a:r>
            <a:endParaRPr/>
          </a:p>
        </p:txBody>
      </p:sp>
      <p:sp>
        <p:nvSpPr>
          <p:cNvPr id="292" name="Google Shape;292;h3ec38cbf6a3e40f2_0_7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177800" lvl="0" marL="177800" rtl="0" algn="l">
              <a:lnSpc>
                <a:spcPct val="90000"/>
              </a:lnSpc>
              <a:spcBef>
                <a:spcPts val="0"/>
              </a:spcBef>
              <a:spcAft>
                <a:spcPts val="0"/>
              </a:spcAft>
              <a:buClr>
                <a:srgbClr val="63637E"/>
              </a:buClr>
              <a:buSzPts val="2800"/>
              <a:buChar char="•"/>
            </a:pPr>
            <a:r>
              <a:rPr lang="en-US" sz="2800">
                <a:solidFill>
                  <a:srgbClr val="63637E"/>
                </a:solidFill>
                <a:latin typeface="Calibri"/>
                <a:ea typeface="Calibri"/>
                <a:cs typeface="Calibri"/>
                <a:sym typeface="Calibri"/>
              </a:rPr>
              <a:t>Working prototype code — public or shared GitHub repo (Y/N)- </a:t>
            </a:r>
            <a:r>
              <a:rPr b="1" lang="en-US" sz="2800"/>
              <a:t>Yes</a:t>
            </a:r>
            <a:endParaRPr b="1" sz="2800"/>
          </a:p>
          <a:p>
            <a:pPr indent="-177800" lvl="0" marL="177800" rtl="0" algn="l">
              <a:lnSpc>
                <a:spcPct val="90000"/>
              </a:lnSpc>
              <a:spcBef>
                <a:spcPts val="1500"/>
              </a:spcBef>
              <a:spcAft>
                <a:spcPts val="0"/>
              </a:spcAft>
              <a:buClr>
                <a:srgbClr val="63637E"/>
              </a:buClr>
              <a:buSzPts val="2800"/>
              <a:buChar char="•"/>
            </a:pPr>
            <a:r>
              <a:rPr lang="en-US" sz="2800">
                <a:solidFill>
                  <a:srgbClr val="63637E"/>
                </a:solidFill>
                <a:latin typeface="Calibri"/>
                <a:ea typeface="Calibri"/>
                <a:cs typeface="Calibri"/>
                <a:sym typeface="Calibri"/>
              </a:rPr>
              <a:t>README with reproducible setup instructions (Y/N) -</a:t>
            </a:r>
            <a:r>
              <a:rPr b="1" lang="en-US" sz="2800">
                <a:solidFill>
                  <a:srgbClr val="63637E"/>
                </a:solidFill>
              </a:rPr>
              <a:t> </a:t>
            </a:r>
            <a:r>
              <a:rPr b="1" lang="en-US" sz="2800"/>
              <a:t>Y</a:t>
            </a:r>
            <a:r>
              <a:rPr b="1" lang="en-US"/>
              <a:t>es</a:t>
            </a:r>
            <a:endParaRPr b="1" sz="2800"/>
          </a:p>
          <a:p>
            <a:pPr indent="-177800" lvl="0" marL="177800" rtl="0" algn="l">
              <a:lnSpc>
                <a:spcPct val="90000"/>
              </a:lnSpc>
              <a:spcBef>
                <a:spcPts val="1500"/>
              </a:spcBef>
              <a:spcAft>
                <a:spcPts val="0"/>
              </a:spcAft>
              <a:buClr>
                <a:srgbClr val="63637E"/>
              </a:buClr>
              <a:buSzPts val="2800"/>
              <a:buChar char="•"/>
            </a:pPr>
            <a:r>
              <a:rPr lang="en-US" sz="2800">
                <a:solidFill>
                  <a:srgbClr val="63637E"/>
                </a:solidFill>
                <a:latin typeface="Calibri"/>
                <a:ea typeface="Calibri"/>
                <a:cs typeface="Calibri"/>
                <a:sym typeface="Calibri"/>
              </a:rPr>
              <a:t>Demo video, max 5 minutes (YouTube or Drive link) - </a:t>
            </a:r>
            <a:r>
              <a:rPr b="1" lang="en-US" sz="2800"/>
              <a:t>Yes</a:t>
            </a:r>
            <a:endParaRPr b="1" sz="2800"/>
          </a:p>
          <a:p>
            <a:pPr indent="-177800" lvl="0" marL="177800" rtl="0" algn="l">
              <a:lnSpc>
                <a:spcPct val="90000"/>
              </a:lnSpc>
              <a:spcBef>
                <a:spcPts val="1500"/>
              </a:spcBef>
              <a:spcAft>
                <a:spcPts val="0"/>
              </a:spcAft>
              <a:buClr>
                <a:srgbClr val="63637E"/>
              </a:buClr>
              <a:buSzPts val="2800"/>
              <a:buChar char="•"/>
            </a:pPr>
            <a:r>
              <a:rPr lang="en-US" sz="2800">
                <a:solidFill>
                  <a:srgbClr val="63637E"/>
                </a:solidFill>
                <a:latin typeface="Calibri"/>
                <a:ea typeface="Calibri"/>
                <a:cs typeface="Calibri"/>
                <a:sym typeface="Calibri"/>
              </a:rPr>
              <a:t>Presentation file (PPT or PDF) (Y/N) - </a:t>
            </a:r>
            <a:r>
              <a:rPr b="1" lang="en-US" sz="2800"/>
              <a:t>Yes</a:t>
            </a:r>
            <a:endParaRPr b="1" sz="2800"/>
          </a:p>
          <a:p>
            <a:pPr indent="0" lvl="0" marL="0" rtl="0" algn="l">
              <a:lnSpc>
                <a:spcPct val="90000"/>
              </a:lnSpc>
              <a:spcBef>
                <a:spcPts val="1500"/>
              </a:spcBef>
              <a:spcAft>
                <a:spcPts val="0"/>
              </a:spcAft>
              <a:buClr>
                <a:schemeClr val="dk1"/>
              </a:buClr>
              <a:buSzPts val="2800"/>
              <a:buNone/>
            </a:pPr>
            <a:r>
              <a:rPr lang="en-US"/>
              <a:t>Github link - </a:t>
            </a:r>
            <a:r>
              <a:rPr lang="en-US" u="sng">
                <a:solidFill>
                  <a:schemeClr val="hlink"/>
                </a:solidFill>
                <a:hlinkClick r:id="rId3"/>
              </a:rPr>
              <a:t>https://github.com/Santhoshsubramani22/Samsung-Prism-Generative-AI-Hackathon-Santhosh-4</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2"/>
          <p:cNvSpPr txBox="1"/>
          <p:nvPr/>
        </p:nvSpPr>
        <p:spPr>
          <a:xfrm>
            <a:off x="1046181" y="3730214"/>
            <a:ext cx="67665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4600"/>
              <a:buFont typeface="Arial"/>
              <a:buNone/>
            </a:pPr>
            <a:r>
              <a:rPr b="1" i="0" lang="en-US" sz="4600" u="none" cap="none" strike="noStrike">
                <a:solidFill>
                  <a:srgbClr val="14142B"/>
                </a:solidFill>
                <a:latin typeface="Arial"/>
                <a:ea typeface="Arial"/>
                <a:cs typeface="Arial"/>
                <a:sym typeface="Arial"/>
              </a:rPr>
              <a:t>Thank you</a:t>
            </a:r>
            <a:endParaRPr b="0" i="0" sz="4600" u="none" cap="none" strike="noStrike">
              <a:solidFill>
                <a:schemeClr val="dk1"/>
              </a:solidFill>
              <a:latin typeface="Calibri"/>
              <a:ea typeface="Calibri"/>
              <a:cs typeface="Calibri"/>
              <a:sym typeface="Calibri"/>
            </a:endParaRPr>
          </a:p>
        </p:txBody>
      </p:sp>
      <p:sp>
        <p:nvSpPr>
          <p:cNvPr id="299" name="Google Shape;299;p12"/>
          <p:cNvSpPr txBox="1"/>
          <p:nvPr/>
        </p:nvSpPr>
        <p:spPr>
          <a:xfrm>
            <a:off x="777240" y="5897880"/>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637E"/>
              </a:buClr>
              <a:buSzPts val="1100"/>
              <a:buFont typeface="Calibri"/>
              <a:buNone/>
            </a:pPr>
            <a:r>
              <a:rPr b="0" i="0" lang="en-US" sz="1100" u="none" cap="none" strike="noStrike">
                <a:solidFill>
                  <a:srgbClr val="63637E"/>
                </a:solidFill>
                <a:latin typeface="Calibri"/>
                <a:ea typeface="Calibri"/>
                <a:cs typeface="Calibri"/>
                <a:sym typeface="Calibri"/>
              </a:rPr>
              <a:t>Organised by the Language AI Team and the PRISM Team, Samsung R&amp;D Institute India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2026-09-07T12:01:01Z</dcterms:created>
  <dc:creator>Binny Lakra/PRISM /SRI-Bangalore/Professional/Samsung Electronics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